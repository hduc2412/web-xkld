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00000" y="1850000"/>
            <a:ext cx="10792000" cy="500000"/>
          </a:xfrm>
          <a:prstGeom prst="rect">
            <a:avLst/>
          </a:prstGeom>
          <a:noFill/>
        </p:spPr>
        <p:txBody>
          <a:bodyPr wrap="square">
            <a:spAutoFit/>
          </a:bodyPr>
          <a:lstStyle/>
          <a:p>
            <a:pPr algn="ctr"/>
            <a:r>
              <a:rPr sz="2000" b="1" i="0">
                <a:solidFill>
                  <a:srgbClr val="444444"/>
                </a:solidFill>
                <a:latin typeface="Times New Roman"/>
              </a:rPr>
              <a:t>BÁO CÁO ĐỒ ÁN TỐT NGHIỆP</a:t>
            </a:r>
          </a:p>
        </p:txBody>
      </p:sp>
      <p:sp>
        <p:nvSpPr>
          <p:cNvPr id="3" name="TextBox 2"/>
          <p:cNvSpPr txBox="1"/>
          <p:nvPr/>
        </p:nvSpPr>
        <p:spPr>
          <a:xfrm>
            <a:off x="700000" y="2450000"/>
            <a:ext cx="10792000" cy="1300000"/>
          </a:xfrm>
          <a:prstGeom prst="rect">
            <a:avLst/>
          </a:prstGeom>
          <a:noFill/>
        </p:spPr>
        <p:txBody>
          <a:bodyPr wrap="square">
            <a:spAutoFit/>
          </a:bodyPr>
          <a:lstStyle/>
          <a:p>
            <a:pPr algn="ctr"/>
            <a:r>
              <a:rPr sz="3000" b="1" i="0">
                <a:solidFill>
                  <a:srgbClr val="0F4C81"/>
                </a:solidFill>
                <a:latin typeface="Times New Roman"/>
              </a:rPr>
              <a:t>XÂY DỰNG HỆ THỐNG AI HỖ TRỢ TƯ VẤN, ĐỊNH HƯỚNG HỒ SƠ</a:t>
            </a:r>
          </a:p>
          <a:p>
            <a:pPr algn="ctr">
              <a:spcBef>
                <a:spcPts val="400"/>
              </a:spcBef>
            </a:pPr>
            <a:r>
              <a:rPr sz="3000" b="1" i="0">
                <a:solidFill>
                  <a:srgbClr val="0F4C81"/>
                </a:solidFill>
                <a:latin typeface="Times New Roman"/>
              </a:rPr>
              <a:t>VÀ QUẢN TRỊ TUYỂN DỤNG ĐIỀU DƯỠNG NHẬT BẢN</a:t>
            </a:r>
          </a:p>
        </p:txBody>
      </p:sp>
      <p:sp>
        <p:nvSpPr>
          <p:cNvPr id="4" name="TextBox 3"/>
          <p:cNvSpPr txBox="1"/>
          <p:nvPr/>
        </p:nvSpPr>
        <p:spPr>
          <a:xfrm>
            <a:off x="700000" y="4150000"/>
            <a:ext cx="10792000" cy="1200000"/>
          </a:xfrm>
          <a:prstGeom prst="rect">
            <a:avLst/>
          </a:prstGeom>
          <a:noFill/>
        </p:spPr>
        <p:txBody>
          <a:bodyPr wrap="square">
            <a:spAutoFit/>
          </a:bodyPr>
          <a:lstStyle/>
          <a:p>
            <a:pPr algn="ctr"/>
            <a:r>
              <a:rPr sz="1500" b="0" i="0">
                <a:solidFill>
                  <a:srgbClr val="444444"/>
                </a:solidFill>
                <a:latin typeface="Times New Roman"/>
              </a:rPr>
              <a:t>Sinh viên thực hiện: Hoàng Minh Đức — 2200583 — Lớp K4658-CNTT</a:t>
            </a:r>
          </a:p>
          <a:p>
            <a:pPr algn="ctr">
              <a:spcBef>
                <a:spcPts val="700"/>
              </a:spcBef>
            </a:pPr>
            <a:r>
              <a:rPr sz="1500" b="0" i="0">
                <a:solidFill>
                  <a:srgbClr val="444444"/>
                </a:solidFill>
                <a:latin typeface="Times New Roman"/>
              </a:rPr>
              <a:t>Giảng viên hướng dẫn: TS. Nguyễn Hồng Quân</a:t>
            </a:r>
          </a:p>
          <a:p>
            <a:pPr algn="ctr">
              <a:spcBef>
                <a:spcPts val="700"/>
              </a:spcBef>
            </a:pPr>
            <a:r>
              <a:rPr sz="1400" b="0" i="1">
                <a:solidFill>
                  <a:srgbClr val="444444"/>
                </a:solidFill>
                <a:latin typeface="Times New Roman"/>
              </a:rPr>
              <a:t>Trường Đại học Công nghiệp Việt – Hung, Khoa Công nghệ Thông tin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00000" y="380000"/>
            <a:ext cx="10792000" cy="760000"/>
          </a:xfrm>
          <a:prstGeom prst="rect">
            <a:avLst/>
          </a:prstGeom>
          <a:noFill/>
        </p:spPr>
        <p:txBody>
          <a:bodyPr wrap="square">
            <a:spAutoFit/>
          </a:bodyPr>
          <a:lstStyle/>
          <a:p>
            <a:r>
              <a:rPr sz="2800" b="1">
                <a:solidFill>
                  <a:srgbClr val="0F4C81"/>
                </a:solidFill>
                <a:latin typeface="Times New Roman"/>
              </a:rPr>
              <a:t>Nội dung trình bày</a:t>
            </a:r>
          </a:p>
        </p:txBody>
      </p:sp>
      <p:sp>
        <p:nvSpPr>
          <p:cNvPr id="3" name="TextBox 2"/>
          <p:cNvSpPr txBox="1"/>
          <p:nvPr/>
        </p:nvSpPr>
        <p:spPr>
          <a:xfrm>
            <a:off x="700000" y="1450000"/>
            <a:ext cx="10792000" cy="4700000"/>
          </a:xfrm>
          <a:prstGeom prst="rect">
            <a:avLst/>
          </a:prstGeom>
          <a:noFill/>
        </p:spPr>
        <p:txBody>
          <a:bodyPr wrap="square">
            <a:spAutoFit/>
          </a:bodyPr>
          <a:lstStyle/>
          <a:p>
            <a:pPr algn="l">
              <a:spcBef>
                <a:spcPts val="300"/>
              </a:spcBef>
            </a:pPr>
            <a:r>
              <a:rPr sz="1900" b="1" i="0">
                <a:solidFill>
                  <a:srgbClr val="0F4C81"/>
                </a:solidFill>
                <a:latin typeface="Times New Roman"/>
              </a:rPr>
              <a:t>1. Bài toán thực tế</a:t>
            </a:r>
          </a:p>
          <a:p>
            <a:pPr algn="l">
              <a:spcBef>
                <a:spcPts val="300"/>
              </a:spcBef>
            </a:pPr>
            <a:r>
              <a:rPr sz="1400" b="0" i="0">
                <a:solidFill>
                  <a:srgbClr val="444444"/>
                </a:solidFill>
                <a:latin typeface="Times New Roman"/>
              </a:rPr>
              <a:t>Tình huống điển hình và bốn điểm nghẽn của quy trình thủ công.</a:t>
            </a:r>
          </a:p>
          <a:p>
            <a:pPr algn="l">
              <a:spcBef>
                <a:spcPts val="1500"/>
              </a:spcBef>
            </a:pPr>
            <a:r>
              <a:rPr sz="1900" b="1" i="0">
                <a:solidFill>
                  <a:srgbClr val="0F4C81"/>
                </a:solidFill>
                <a:latin typeface="Times New Roman"/>
              </a:rPr>
              <a:t>2. Tổng quan hệ thống</a:t>
            </a:r>
          </a:p>
          <a:p>
            <a:pPr algn="l">
              <a:spcBef>
                <a:spcPts val="300"/>
              </a:spcBef>
            </a:pPr>
            <a:r>
              <a:rPr sz="1400" b="0" i="0">
                <a:solidFill>
                  <a:srgbClr val="444444"/>
                </a:solidFill>
                <a:latin typeface="Times New Roman"/>
              </a:rPr>
              <a:t>Hệ thống làm gì, ai dùng, phạm vi đến đâu.</a:t>
            </a:r>
          </a:p>
          <a:p>
            <a:pPr algn="l">
              <a:spcBef>
                <a:spcPts val="1500"/>
              </a:spcBef>
            </a:pPr>
            <a:r>
              <a:rPr sz="1900" b="1" i="0">
                <a:solidFill>
                  <a:srgbClr val="0F4C81"/>
                </a:solidFill>
                <a:latin typeface="Times New Roman"/>
              </a:rPr>
              <a:t>3. Mô hình kiến trúc</a:t>
            </a:r>
          </a:p>
          <a:p>
            <a:pPr algn="l">
              <a:spcBef>
                <a:spcPts val="300"/>
              </a:spcBef>
            </a:pPr>
            <a:r>
              <a:rPr sz="1400" b="0" i="0">
                <a:solidFill>
                  <a:srgbClr val="444444"/>
                </a:solidFill>
                <a:latin typeface="Times New Roman"/>
              </a:rPr>
              <a:t>Bốn khối chức năng phân bố trên ba mặt phẳng tin cậy.</a:t>
            </a:r>
          </a:p>
          <a:p>
            <a:pPr algn="l">
              <a:spcBef>
                <a:spcPts val="1500"/>
              </a:spcBef>
            </a:pPr>
            <a:r>
              <a:rPr sz="1900" b="1" i="0">
                <a:solidFill>
                  <a:srgbClr val="0F4C81"/>
                </a:solidFill>
                <a:latin typeface="Times New Roman"/>
              </a:rPr>
              <a:t>4. Luồng hoạt động</a:t>
            </a:r>
          </a:p>
          <a:p>
            <a:pPr algn="l">
              <a:spcBef>
                <a:spcPts val="300"/>
              </a:spcBef>
            </a:pPr>
            <a:r>
              <a:rPr sz="1400" b="0" i="0">
                <a:solidFill>
                  <a:srgbClr val="444444"/>
                </a:solidFill>
                <a:latin typeface="Times New Roman"/>
              </a:rPr>
              <a:t>Đường đi của một ứng viên từ tin nhắn đến cuộc gọi.</a:t>
            </a:r>
          </a:p>
          <a:p>
            <a:pPr algn="l">
              <a:spcBef>
                <a:spcPts val="1500"/>
              </a:spcBef>
            </a:pPr>
            <a:r>
              <a:rPr sz="1900" b="1" i="0">
                <a:solidFill>
                  <a:srgbClr val="0F4C81"/>
                </a:solidFill>
                <a:latin typeface="Times New Roman"/>
              </a:rPr>
              <a:t>5. Nghiệp vụ trọng tâm</a:t>
            </a:r>
          </a:p>
          <a:p>
            <a:pPr algn="l">
              <a:spcBef>
                <a:spcPts val="300"/>
              </a:spcBef>
            </a:pPr>
            <a:r>
              <a:rPr sz="1400" b="0" i="0">
                <a:solidFill>
                  <a:srgbClr val="444444"/>
                </a:solidFill>
                <a:latin typeface="Times New Roman"/>
              </a:rPr>
              <a:t>Đơn tuyển dụng, đối chiếu điều kiện và phiếu bàn giao.</a:t>
            </a:r>
          </a:p>
          <a:p>
            <a:pPr algn="l">
              <a:spcBef>
                <a:spcPts val="1500"/>
              </a:spcBef>
            </a:pPr>
            <a:r>
              <a:rPr sz="1900" b="1" i="0">
                <a:solidFill>
                  <a:srgbClr val="0F4C81"/>
                </a:solidFill>
                <a:latin typeface="Times New Roman"/>
              </a:rPr>
              <a:t>6. Kết quả và hướng phát triển</a:t>
            </a:r>
          </a:p>
          <a:p>
            <a:pPr algn="l">
              <a:spcBef>
                <a:spcPts val="300"/>
              </a:spcBef>
            </a:pPr>
            <a:r>
              <a:rPr sz="1400" b="0" i="0">
                <a:solidFill>
                  <a:srgbClr val="444444"/>
                </a:solidFill>
                <a:latin typeface="Times New Roman"/>
              </a:rPr>
              <a:t>Phần đã làm được và phần còn lại.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00000" y="380000"/>
            <a:ext cx="10792000" cy="760000"/>
          </a:xfrm>
          <a:prstGeom prst="rect">
            <a:avLst/>
          </a:prstGeom>
          <a:noFill/>
        </p:spPr>
        <p:txBody>
          <a:bodyPr wrap="square">
            <a:spAutoFit/>
          </a:bodyPr>
          <a:lstStyle/>
          <a:p>
            <a:r>
              <a:rPr sz="2800" b="1">
                <a:solidFill>
                  <a:srgbClr val="0F4C81"/>
                </a:solidFill>
                <a:latin typeface="Times New Roman"/>
              </a:rPr>
              <a:t>1. Bài toán thực tế</a:t>
            </a:r>
          </a:p>
        </p:txBody>
      </p:sp>
      <p:sp>
        <p:nvSpPr>
          <p:cNvPr id="3" name="Rounded Rectangle 2"/>
          <p:cNvSpPr/>
          <p:nvPr/>
        </p:nvSpPr>
        <p:spPr>
          <a:xfrm>
            <a:off x="700000" y="1320000"/>
            <a:ext cx="5150000" cy="430000"/>
          </a:xfrm>
          <a:prstGeom prst="roundRect">
            <a:avLst/>
          </a:prstGeom>
          <a:solidFill>
            <a:srgbClr val="0F4C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Times New Roman"/>
              </a:rPr>
              <a:t>Tình huống: mười giờ rưỡi tối</a:t>
            </a:r>
          </a:p>
        </p:txBody>
      </p:sp>
      <p:sp>
        <p:nvSpPr>
          <p:cNvPr id="4" name="Rounded Rectangle 3"/>
          <p:cNvSpPr/>
          <p:nvPr/>
        </p:nvSpPr>
        <p:spPr>
          <a:xfrm>
            <a:off x="700000" y="1800000"/>
            <a:ext cx="5150000" cy="1750000"/>
          </a:xfrm>
          <a:prstGeom prst="roundRect">
            <a:avLst/>
          </a:prstGeom>
          <a:solidFill>
            <a:srgbClr val="F0F4F8"/>
          </a:solidFill>
          <a:ln w="12700">
            <a:solidFill>
              <a:srgbClr val="0F4C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00000" y="1900000"/>
            <a:ext cx="4750000" cy="1600000"/>
          </a:xfrm>
          <a:prstGeom prst="rect">
            <a:avLst/>
          </a:prstGeom>
          <a:noFill/>
        </p:spPr>
        <p:txBody>
          <a:bodyPr wrap="square">
            <a:spAutoFit/>
          </a:bodyPr>
          <a:lstStyle/>
          <a:p>
            <a:pPr algn="l"/>
            <a:r>
              <a:rPr sz="1400" b="1" i="0">
                <a:solidFill>
                  <a:srgbClr val="0F4C81"/>
                </a:solidFill>
                <a:latin typeface="Times New Roman"/>
              </a:rPr>
              <a:t>Ứng viên gửi CV vào khung chat và nhắn:</a:t>
            </a:r>
          </a:p>
          <a:p>
            <a:pPr algn="l">
              <a:spcBef>
                <a:spcPts val="800"/>
              </a:spcBef>
            </a:pPr>
            <a:r>
              <a:rPr sz="1500" b="0" i="1">
                <a:solidFill>
                  <a:srgbClr val="444444"/>
                </a:solidFill>
                <a:latin typeface="Times New Roman"/>
              </a:rPr>
              <a:t>“Em muốn làm ở viện dưỡng lão khu vực Tokyo vì có người quen ở đó. Tổng chi phí hết bao nhiêu và có đơn nào bay sớm không ạ?”</a:t>
            </a:r>
          </a:p>
        </p:txBody>
      </p:sp>
      <p:sp>
        <p:nvSpPr>
          <p:cNvPr id="6" name="Rounded Rectangle 5"/>
          <p:cNvSpPr/>
          <p:nvPr/>
        </p:nvSpPr>
        <p:spPr>
          <a:xfrm>
            <a:off x="700000" y="3700000"/>
            <a:ext cx="5150000" cy="1500000"/>
          </a:xfrm>
          <a:prstGeom prst="roundRect">
            <a:avLst/>
          </a:prstGeom>
          <a:solidFill>
            <a:srgbClr val="FDECEC"/>
          </a:solidFill>
          <a:ln w="12700">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0000" y="3800000"/>
            <a:ext cx="4750000" cy="1350000"/>
          </a:xfrm>
          <a:prstGeom prst="rect">
            <a:avLst/>
          </a:prstGeom>
          <a:noFill/>
        </p:spPr>
        <p:txBody>
          <a:bodyPr wrap="square">
            <a:spAutoFit/>
          </a:bodyPr>
          <a:lstStyle/>
          <a:p>
            <a:pPr algn="l"/>
            <a:r>
              <a:rPr sz="1400" b="1" i="0">
                <a:solidFill>
                  <a:srgbClr val="B32D2D"/>
                </a:solidFill>
                <a:latin typeface="Times New Roman"/>
              </a:rPr>
              <a:t>Thực tế xảy ra</a:t>
            </a:r>
          </a:p>
          <a:p>
            <a:pPr algn="l">
              <a:spcBef>
                <a:spcPts val="800"/>
              </a:spcBef>
            </a:pPr>
            <a:r>
              <a:rPr sz="1400" b="0" i="0">
                <a:solidFill>
                  <a:srgbClr val="444444"/>
                </a:solidFill>
                <a:latin typeface="Times New Roman"/>
              </a:rPr>
              <a:t>Đã hết giờ làm, tin nhắn nằm chờ đến sáng hôm sau. Nhân viên phải đọc lại từng trang CV, nhắn hỏi lại bằng cấp, rồi mở danh sách đơn hàng ra dò tìm bằng mắt.</a:t>
            </a:r>
          </a:p>
        </p:txBody>
      </p:sp>
      <p:sp>
        <p:nvSpPr>
          <p:cNvPr id="8" name="Rounded Rectangle 7"/>
          <p:cNvSpPr/>
          <p:nvPr/>
        </p:nvSpPr>
        <p:spPr>
          <a:xfrm>
            <a:off x="6340000" y="1320000"/>
            <a:ext cx="5150000" cy="430000"/>
          </a:xfrm>
          <a:prstGeom prst="roundRect">
            <a:avLst/>
          </a:prstGeom>
          <a:solidFill>
            <a:srgbClr val="0F4C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Times New Roman"/>
              </a:rPr>
              <a:t>Bản chất của bài toán</a:t>
            </a:r>
          </a:p>
        </p:txBody>
      </p:sp>
      <p:sp>
        <p:nvSpPr>
          <p:cNvPr id="9" name="Rounded Rectangle 8"/>
          <p:cNvSpPr/>
          <p:nvPr/>
        </p:nvSpPr>
        <p:spPr>
          <a:xfrm>
            <a:off x="6340000" y="1800000"/>
            <a:ext cx="5150000" cy="3400000"/>
          </a:xfrm>
          <a:prstGeom prst="roundRect">
            <a:avLst/>
          </a:prstGeom>
          <a:solidFill>
            <a:srgbClr val="FDF3E3"/>
          </a:solidFill>
          <a:ln w="12700">
            <a:solidFill>
              <a:srgbClr val="C0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40000" y="1900000"/>
            <a:ext cx="4750000" cy="3250000"/>
          </a:xfrm>
          <a:prstGeom prst="rect">
            <a:avLst/>
          </a:prstGeom>
          <a:noFill/>
        </p:spPr>
        <p:txBody>
          <a:bodyPr wrap="square">
            <a:spAutoFit/>
          </a:bodyPr>
          <a:lstStyle/>
          <a:p>
            <a:pPr algn="l"/>
            <a:r>
              <a:rPr sz="1600" b="1" i="0">
                <a:solidFill>
                  <a:srgbClr val="C06A00"/>
                </a:solidFill>
                <a:latin typeface="Times New Roman"/>
              </a:rPr>
              <a:t>Doanh nghiệp nhận vào thứ KHÔNG có cấu trúc</a:t>
            </a:r>
          </a:p>
          <a:p>
            <a:pPr algn="l">
              <a:spcBef>
                <a:spcPts val="1100"/>
              </a:spcBef>
            </a:pPr>
            <a:r>
              <a:rPr sz="1400" b="0" i="0">
                <a:solidFill>
                  <a:srgbClr val="444444"/>
                </a:solidFill>
                <a:latin typeface="Times New Roman"/>
              </a:rPr>
              <a:t>câu hỏi viết tự do, hồ sơ CV mỗi người một mẫu</a:t>
            </a:r>
          </a:p>
          <a:p>
            <a:pPr algn="l">
              <a:spcBef>
                <a:spcPts val="1100"/>
              </a:spcBef>
            </a:pPr>
            <a:r>
              <a:rPr sz="1600" b="1" i="0">
                <a:solidFill>
                  <a:srgbClr val="C06A00"/>
                </a:solidFill>
                <a:latin typeface="Times New Roman"/>
              </a:rPr>
              <a:t>Nhưng thứ doanh nghiệp cần lại RẤT có cấu trúc</a:t>
            </a:r>
          </a:p>
          <a:p>
            <a:pPr algn="l">
              <a:spcBef>
                <a:spcPts val="1100"/>
              </a:spcBef>
            </a:pPr>
            <a:r>
              <a:rPr sz="1400" b="0" i="0">
                <a:solidFill>
                  <a:srgbClr val="444444"/>
                </a:solidFill>
                <a:latin typeface="Times New Roman"/>
              </a:rPr>
              <a:t>ứng viên này đủ điều kiện đơn nào, ai gọi, gọi lúc mấy giờ</a:t>
            </a:r>
          </a:p>
          <a:p>
            <a:pPr algn="l">
              <a:spcBef>
                <a:spcPts val="1100"/>
              </a:spcBef>
            </a:pPr>
            <a:r>
              <a:rPr sz="1400" b="0" i="1">
                <a:solidFill>
                  <a:srgbClr val="444444"/>
                </a:solidFill>
                <a:latin typeface="Times New Roman"/>
              </a:rPr>
              <a:t>Việc chuyển đổi đó hiện hoàn toàn do con người làm, và dừng lại khi hết giờ hành chính.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00000" y="380000"/>
            <a:ext cx="10792000" cy="760000"/>
          </a:xfrm>
          <a:prstGeom prst="rect">
            <a:avLst/>
          </a:prstGeom>
          <a:noFill/>
        </p:spPr>
        <p:txBody>
          <a:bodyPr wrap="square">
            <a:spAutoFit/>
          </a:bodyPr>
          <a:lstStyle/>
          <a:p>
            <a:r>
              <a:rPr sz="2800" b="1">
                <a:solidFill>
                  <a:srgbClr val="0F4C81"/>
                </a:solidFill>
                <a:latin typeface="Times New Roman"/>
              </a:rPr>
              <a:t>Bốn điểm nghẽn của quy trình thủ công</a:t>
            </a:r>
          </a:p>
        </p:txBody>
      </p:sp>
      <p:sp>
        <p:nvSpPr>
          <p:cNvPr id="3" name="Rounded Rectangle 2"/>
          <p:cNvSpPr/>
          <p:nvPr/>
        </p:nvSpPr>
        <p:spPr>
          <a:xfrm>
            <a:off x="700000" y="1450000"/>
            <a:ext cx="5246000" cy="1950000"/>
          </a:xfrm>
          <a:prstGeom prst="roundRect">
            <a:avLst/>
          </a:prstGeom>
          <a:solidFill>
            <a:srgbClr val="F0F4F8"/>
          </a:solidFill>
          <a:ln w="12700">
            <a:solidFill>
              <a:srgbClr val="0F4C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1610000"/>
            <a:ext cx="4846000" cy="1700000"/>
          </a:xfrm>
          <a:prstGeom prst="rect">
            <a:avLst/>
          </a:prstGeom>
          <a:noFill/>
        </p:spPr>
        <p:txBody>
          <a:bodyPr wrap="square">
            <a:spAutoFit/>
          </a:bodyPr>
          <a:lstStyle/>
          <a:p>
            <a:pPr algn="l"/>
            <a:r>
              <a:rPr sz="1800" b="1" i="0">
                <a:solidFill>
                  <a:srgbClr val="0F4C81"/>
                </a:solidFill>
                <a:latin typeface="Times New Roman"/>
              </a:rPr>
              <a:t>① Câu hỏi lặp lại</a:t>
            </a:r>
          </a:p>
          <a:p>
            <a:pPr algn="l">
              <a:spcBef>
                <a:spcPts val="900"/>
              </a:spcBef>
            </a:pPr>
            <a:r>
              <a:rPr sz="1400" b="0" i="0">
                <a:solidFill>
                  <a:srgbClr val="444444"/>
                </a:solidFill>
                <a:latin typeface="Times New Roman"/>
              </a:rPr>
              <a:t>Phần lớn câu hỏi chỉ xoay quanh vài nhóm cố định: chi phí, điều kiện, quy trình, đơn hàng, lương. Nhân viên trả lời lại từ đầu mỗi ngày.</a:t>
            </a:r>
          </a:p>
        </p:txBody>
      </p:sp>
      <p:sp>
        <p:nvSpPr>
          <p:cNvPr id="5" name="Rounded Rectangle 4"/>
          <p:cNvSpPr/>
          <p:nvPr/>
        </p:nvSpPr>
        <p:spPr>
          <a:xfrm>
            <a:off x="6246000" y="1450000"/>
            <a:ext cx="5246000" cy="1950000"/>
          </a:xfrm>
          <a:prstGeom prst="roundRect">
            <a:avLst/>
          </a:prstGeom>
          <a:solidFill>
            <a:srgbClr val="F0F4F8"/>
          </a:solidFill>
          <a:ln w="12700">
            <a:solidFill>
              <a:srgbClr val="0F4C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46000" y="1610000"/>
            <a:ext cx="4846000" cy="1700000"/>
          </a:xfrm>
          <a:prstGeom prst="rect">
            <a:avLst/>
          </a:prstGeom>
          <a:noFill/>
        </p:spPr>
        <p:txBody>
          <a:bodyPr wrap="square">
            <a:spAutoFit/>
          </a:bodyPr>
          <a:lstStyle/>
          <a:p>
            <a:pPr algn="l"/>
            <a:r>
              <a:rPr sz="1800" b="1" i="0">
                <a:solidFill>
                  <a:srgbClr val="0F4C81"/>
                </a:solidFill>
                <a:latin typeface="Times New Roman"/>
              </a:rPr>
              <a:t>② Khoảng trống ngoài giờ</a:t>
            </a:r>
          </a:p>
          <a:p>
            <a:pPr algn="l">
              <a:spcBef>
                <a:spcPts val="900"/>
              </a:spcBef>
            </a:pPr>
            <a:r>
              <a:rPr sz="1400" b="0" i="0">
                <a:solidFill>
                  <a:srgbClr val="444444"/>
                </a:solidFill>
                <a:latin typeface="Times New Roman"/>
              </a:rPr>
              <a:t>Ứng viên rảnh hỏi vào buổi tối và cuối tuần — đúng lúc không có ai trực. Khách chuyển sang nơi trả lời nhanh hơn.</a:t>
            </a:r>
          </a:p>
        </p:txBody>
      </p:sp>
      <p:sp>
        <p:nvSpPr>
          <p:cNvPr id="7" name="Rounded Rectangle 6"/>
          <p:cNvSpPr/>
          <p:nvPr/>
        </p:nvSpPr>
        <p:spPr>
          <a:xfrm>
            <a:off x="700000" y="3650000"/>
            <a:ext cx="5246000" cy="1950000"/>
          </a:xfrm>
          <a:prstGeom prst="roundRect">
            <a:avLst/>
          </a:prstGeom>
          <a:solidFill>
            <a:srgbClr val="F0F4F8"/>
          </a:solidFill>
          <a:ln w="12700">
            <a:solidFill>
              <a:srgbClr val="0F4C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0000" y="3810000"/>
            <a:ext cx="4846000" cy="1700000"/>
          </a:xfrm>
          <a:prstGeom prst="rect">
            <a:avLst/>
          </a:prstGeom>
          <a:noFill/>
        </p:spPr>
        <p:txBody>
          <a:bodyPr wrap="square">
            <a:spAutoFit/>
          </a:bodyPr>
          <a:lstStyle/>
          <a:p>
            <a:pPr algn="l"/>
            <a:r>
              <a:rPr sz="1800" b="1" i="0">
                <a:solidFill>
                  <a:srgbClr val="0F4C81"/>
                </a:solidFill>
                <a:latin typeface="Times New Roman"/>
              </a:rPr>
              <a:t>③ Đọc hồ sơ thủ công</a:t>
            </a:r>
          </a:p>
          <a:p>
            <a:pPr algn="l">
              <a:spcBef>
                <a:spcPts val="900"/>
              </a:spcBef>
            </a:pPr>
            <a:r>
              <a:rPr sz="1400" b="0" i="0">
                <a:solidFill>
                  <a:srgbClr val="444444"/>
                </a:solidFill>
                <a:latin typeface="Times New Roman"/>
              </a:rPr>
              <a:t>Mỗi CV một cách trình bày, phải đọc và ghi lại bằng tay. Dễ ghi sót, thông tin không thống nhất giữa các nhân viên.</a:t>
            </a:r>
          </a:p>
        </p:txBody>
      </p:sp>
      <p:sp>
        <p:nvSpPr>
          <p:cNvPr id="9" name="Rounded Rectangle 8"/>
          <p:cNvSpPr/>
          <p:nvPr/>
        </p:nvSpPr>
        <p:spPr>
          <a:xfrm>
            <a:off x="6246000" y="3650000"/>
            <a:ext cx="5246000" cy="1950000"/>
          </a:xfrm>
          <a:prstGeom prst="roundRect">
            <a:avLst/>
          </a:prstGeom>
          <a:solidFill>
            <a:srgbClr val="F0F4F8"/>
          </a:solidFill>
          <a:ln w="12700">
            <a:solidFill>
              <a:srgbClr val="0F4C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000" y="3810000"/>
            <a:ext cx="4846000" cy="1700000"/>
          </a:xfrm>
          <a:prstGeom prst="rect">
            <a:avLst/>
          </a:prstGeom>
          <a:noFill/>
        </p:spPr>
        <p:txBody>
          <a:bodyPr wrap="square">
            <a:spAutoFit/>
          </a:bodyPr>
          <a:lstStyle/>
          <a:p>
            <a:pPr algn="l"/>
            <a:r>
              <a:rPr sz="1800" b="1" i="0">
                <a:solidFill>
                  <a:srgbClr val="0F4C81"/>
                </a:solidFill>
                <a:latin typeface="Times New Roman"/>
              </a:rPr>
              <a:t>④ Dò đơn hàng bằng mắt</a:t>
            </a:r>
          </a:p>
          <a:p>
            <a:pPr algn="l">
              <a:spcBef>
                <a:spcPts val="900"/>
              </a:spcBef>
            </a:pPr>
            <a:r>
              <a:rPr sz="1400" b="0" i="0">
                <a:solidFill>
                  <a:srgbClr val="444444"/>
                </a:solidFill>
                <a:latin typeface="Times New Roman"/>
              </a:rPr>
              <a:t>Danh sách đơn nằm trong tệp rời, đối chiếu điều kiện thủ công nên dễ bỏ sót đơn phù hợp hoặc giới thiệu nhầm đơn.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00000" y="380000"/>
            <a:ext cx="10792000" cy="760000"/>
          </a:xfrm>
          <a:prstGeom prst="rect">
            <a:avLst/>
          </a:prstGeom>
          <a:noFill/>
        </p:spPr>
        <p:txBody>
          <a:bodyPr wrap="square">
            <a:spAutoFit/>
          </a:bodyPr>
          <a:lstStyle/>
          <a:p>
            <a:r>
              <a:rPr sz="2800" b="1">
                <a:solidFill>
                  <a:srgbClr val="0F4C81"/>
                </a:solidFill>
                <a:latin typeface="Times New Roman"/>
              </a:rPr>
              <a:t>2. Tổng quan — hệ thống làm gì</a:t>
            </a:r>
          </a:p>
        </p:txBody>
      </p:sp>
      <p:sp>
        <p:nvSpPr>
          <p:cNvPr id="3" name="TextBox 2"/>
          <p:cNvSpPr txBox="1"/>
          <p:nvPr/>
        </p:nvSpPr>
        <p:spPr>
          <a:xfrm>
            <a:off x="700000" y="1130000"/>
            <a:ext cx="10792000" cy="400000"/>
          </a:xfrm>
          <a:prstGeom prst="rect">
            <a:avLst/>
          </a:prstGeom>
          <a:noFill/>
        </p:spPr>
        <p:txBody>
          <a:bodyPr wrap="square">
            <a:spAutoFit/>
          </a:bodyPr>
          <a:lstStyle/>
          <a:p>
            <a:pPr algn="ctr"/>
            <a:r>
              <a:rPr sz="1500" b="0" i="1">
                <a:solidFill>
                  <a:srgbClr val="0F4C81"/>
                </a:solidFill>
                <a:latin typeface="Times New Roman"/>
              </a:rPr>
              <a:t>Hệ thống đóng vai trợ lý sơ tuyển làm việc liên tục. Nó không thay nhân viên, nó dọn sẵn việc cho nhân viên.</a:t>
            </a:r>
          </a:p>
        </p:txBody>
      </p:sp>
      <p:sp>
        <p:nvSpPr>
          <p:cNvPr id="4" name="Rounded Rectangle 3"/>
          <p:cNvSpPr/>
          <p:nvPr/>
        </p:nvSpPr>
        <p:spPr>
          <a:xfrm>
            <a:off x="700000" y="1800000"/>
            <a:ext cx="3424000" cy="560000"/>
          </a:xfrm>
          <a:prstGeom prst="roundRect">
            <a:avLst/>
          </a:prstGeom>
          <a:solidFill>
            <a:srgbClr val="0F4C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Times New Roman"/>
              </a:rPr>
              <a:t>VỚI ỨNG VIÊN</a:t>
            </a:r>
          </a:p>
        </p:txBody>
      </p:sp>
      <p:sp>
        <p:nvSpPr>
          <p:cNvPr id="5" name="Rounded Rectangle 4"/>
          <p:cNvSpPr/>
          <p:nvPr/>
        </p:nvSpPr>
        <p:spPr>
          <a:xfrm>
            <a:off x="700000" y="2480000"/>
            <a:ext cx="3424000" cy="3150000"/>
          </a:xfrm>
          <a:prstGeom prst="roundRect">
            <a:avLst/>
          </a:prstGeom>
          <a:solidFill>
            <a:srgbClr val="F0F4F8"/>
          </a:solidFill>
          <a:ln w="12700">
            <a:solidFill>
              <a:srgbClr val="0F4C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0000" y="2620000"/>
            <a:ext cx="3064000" cy="2900000"/>
          </a:xfrm>
          <a:prstGeom prst="rect">
            <a:avLst/>
          </a:prstGeom>
          <a:noFill/>
        </p:spPr>
        <p:txBody>
          <a:bodyPr wrap="square">
            <a:spAutoFit/>
          </a:bodyPr>
          <a:lstStyle/>
          <a:p>
            <a:pPr algn="l"/>
            <a:r>
              <a:rPr sz="1400" b="0" i="0">
                <a:solidFill>
                  <a:srgbClr val="444444"/>
                </a:solidFill>
                <a:latin typeface="Times New Roman"/>
              </a:rPr>
              <a:t>• Được trả lời ngay, kể cả ngoài giờ</a:t>
            </a:r>
          </a:p>
          <a:p>
            <a:pPr algn="l">
              <a:spcBef>
                <a:spcPts val="1300"/>
              </a:spcBef>
            </a:pPr>
            <a:r>
              <a:rPr sz="1400" b="0" i="0">
                <a:solidFill>
                  <a:srgbClr val="444444"/>
                </a:solidFill>
                <a:latin typeface="Times New Roman"/>
              </a:rPr>
              <a:t>• Gửi CV, xem hồ sơ đã tóm tắt và xác nhận lại</a:t>
            </a:r>
          </a:p>
          <a:p>
            <a:pPr algn="l">
              <a:spcBef>
                <a:spcPts val="1300"/>
              </a:spcBef>
            </a:pPr>
            <a:r>
              <a:rPr sz="1400" b="0" i="0">
                <a:solidFill>
                  <a:srgbClr val="444444"/>
                </a:solidFill>
                <a:latin typeface="Times New Roman"/>
              </a:rPr>
              <a:t>• Biết mình hợp đơn nào và vì sao</a:t>
            </a:r>
          </a:p>
          <a:p>
            <a:pPr algn="l">
              <a:spcBef>
                <a:spcPts val="1300"/>
              </a:spcBef>
            </a:pPr>
            <a:r>
              <a:rPr sz="1400" b="0" i="0">
                <a:solidFill>
                  <a:srgbClr val="444444"/>
                </a:solidFill>
                <a:latin typeface="Times New Roman"/>
              </a:rPr>
              <a:t>• Chọn khung giờ để nhân viên gọi lại</a:t>
            </a:r>
          </a:p>
        </p:txBody>
      </p:sp>
      <p:sp>
        <p:nvSpPr>
          <p:cNvPr id="7" name="Rounded Rectangle 6"/>
          <p:cNvSpPr/>
          <p:nvPr/>
        </p:nvSpPr>
        <p:spPr>
          <a:xfrm>
            <a:off x="4384000" y="1800000"/>
            <a:ext cx="3424000" cy="560000"/>
          </a:xfrm>
          <a:prstGeom prst="roundRect">
            <a:avLst/>
          </a:prstGeom>
          <a:solidFill>
            <a:srgbClr val="1E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Times New Roman"/>
              </a:rPr>
              <a:t>VỚI NHÂN VIÊN</a:t>
            </a:r>
          </a:p>
        </p:txBody>
      </p:sp>
      <p:sp>
        <p:nvSpPr>
          <p:cNvPr id="8" name="Rounded Rectangle 7"/>
          <p:cNvSpPr/>
          <p:nvPr/>
        </p:nvSpPr>
        <p:spPr>
          <a:xfrm>
            <a:off x="4384000" y="2480000"/>
            <a:ext cx="3424000" cy="3150000"/>
          </a:xfrm>
          <a:prstGeom prst="roundRect">
            <a:avLst/>
          </a:prstGeom>
          <a:solidFill>
            <a:srgbClr val="ECF7F0"/>
          </a:solidFill>
          <a:ln w="12700">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64000" y="2620000"/>
            <a:ext cx="3064000" cy="2900000"/>
          </a:xfrm>
          <a:prstGeom prst="rect">
            <a:avLst/>
          </a:prstGeom>
          <a:noFill/>
        </p:spPr>
        <p:txBody>
          <a:bodyPr wrap="square">
            <a:spAutoFit/>
          </a:bodyPr>
          <a:lstStyle/>
          <a:p>
            <a:pPr algn="l"/>
            <a:r>
              <a:rPr sz="1400" b="0" i="0">
                <a:solidFill>
                  <a:srgbClr val="444444"/>
                </a:solidFill>
                <a:latin typeface="Times New Roman"/>
              </a:rPr>
              <a:t>• Không phải trả lời lại câu hỏi giống nhau mỗi ngày</a:t>
            </a:r>
          </a:p>
          <a:p>
            <a:pPr algn="l">
              <a:spcBef>
                <a:spcPts val="1300"/>
              </a:spcBef>
            </a:pPr>
            <a:r>
              <a:rPr sz="1400" b="0" i="0">
                <a:solidFill>
                  <a:srgbClr val="444444"/>
                </a:solidFill>
                <a:latin typeface="Times New Roman"/>
              </a:rPr>
              <a:t>• Nhận hồ sơ đã gọn gàng thay vì cuộc hội thoại dài</a:t>
            </a:r>
          </a:p>
          <a:p>
            <a:pPr algn="l">
              <a:spcBef>
                <a:spcPts val="1300"/>
              </a:spcBef>
            </a:pPr>
            <a:r>
              <a:rPr sz="1400" b="0" i="0">
                <a:solidFill>
                  <a:srgbClr val="444444"/>
                </a:solidFill>
                <a:latin typeface="Times New Roman"/>
              </a:rPr>
              <a:t>• Biết gọi cho ai trước, gọi lúc nào</a:t>
            </a:r>
          </a:p>
          <a:p>
            <a:pPr algn="l">
              <a:spcBef>
                <a:spcPts val="1300"/>
              </a:spcBef>
            </a:pPr>
            <a:r>
              <a:rPr sz="1400" b="0" i="0">
                <a:solidFill>
                  <a:srgbClr val="444444"/>
                </a:solidFill>
                <a:latin typeface="Times New Roman"/>
              </a:rPr>
              <a:t>• Mỗi hồ sơ có đúng một người phụ trách</a:t>
            </a:r>
          </a:p>
        </p:txBody>
      </p:sp>
      <p:sp>
        <p:nvSpPr>
          <p:cNvPr id="10" name="Rounded Rectangle 9"/>
          <p:cNvSpPr/>
          <p:nvPr/>
        </p:nvSpPr>
        <p:spPr>
          <a:xfrm>
            <a:off x="8068000" y="1800000"/>
            <a:ext cx="3424000" cy="560000"/>
          </a:xfrm>
          <a:prstGeom prst="roundRect">
            <a:avLst/>
          </a:prstGeom>
          <a:solidFill>
            <a:srgbClr val="C0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Times New Roman"/>
              </a:rPr>
              <a:t>VỚI QUẢN LÝ</a:t>
            </a:r>
          </a:p>
        </p:txBody>
      </p:sp>
      <p:sp>
        <p:nvSpPr>
          <p:cNvPr id="11" name="Rounded Rectangle 10"/>
          <p:cNvSpPr/>
          <p:nvPr/>
        </p:nvSpPr>
        <p:spPr>
          <a:xfrm>
            <a:off x="8068000" y="2480000"/>
            <a:ext cx="3424000" cy="3150000"/>
          </a:xfrm>
          <a:prstGeom prst="roundRect">
            <a:avLst/>
          </a:prstGeom>
          <a:solidFill>
            <a:srgbClr val="FDF3E3"/>
          </a:solidFill>
          <a:ln w="12700">
            <a:solidFill>
              <a:srgbClr val="C0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48000" y="2620000"/>
            <a:ext cx="3064000" cy="2900000"/>
          </a:xfrm>
          <a:prstGeom prst="rect">
            <a:avLst/>
          </a:prstGeom>
          <a:noFill/>
        </p:spPr>
        <p:txBody>
          <a:bodyPr wrap="square">
            <a:spAutoFit/>
          </a:bodyPr>
          <a:lstStyle/>
          <a:p>
            <a:pPr algn="l"/>
            <a:r>
              <a:rPr sz="1400" b="0" i="0">
                <a:solidFill>
                  <a:srgbClr val="444444"/>
                </a:solidFill>
                <a:latin typeface="Times New Roman"/>
              </a:rPr>
              <a:t>• Nắm được khách mới, ai đang chờ, ai đã gọi</a:t>
            </a:r>
          </a:p>
          <a:p>
            <a:pPr algn="l">
              <a:spcBef>
                <a:spcPts val="1300"/>
              </a:spcBef>
            </a:pPr>
            <a:r>
              <a:rPr sz="1400" b="0" i="0">
                <a:solidFill>
                  <a:srgbClr val="444444"/>
                </a:solidFill>
                <a:latin typeface="Times New Roman"/>
              </a:rPr>
              <a:t>• Cập nhật tài liệu và đơn tuyển dụng ở một chỗ</a:t>
            </a:r>
          </a:p>
          <a:p>
            <a:pPr algn="l">
              <a:spcBef>
                <a:spcPts val="1300"/>
              </a:spcBef>
            </a:pPr>
            <a:r>
              <a:rPr sz="1400" b="0" i="0">
                <a:solidFill>
                  <a:srgbClr val="444444"/>
                </a:solidFill>
                <a:latin typeface="Times New Roman"/>
              </a:rPr>
              <a:t>• Xem lại hệ thống đã gợi ý gì cho ai và vì sao</a:t>
            </a:r>
          </a:p>
          <a:p>
            <a:pPr algn="l">
              <a:spcBef>
                <a:spcPts val="1300"/>
              </a:spcBef>
            </a:pPr>
            <a:r>
              <a:rPr sz="1400" b="0" i="0">
                <a:solidFill>
                  <a:srgbClr val="444444"/>
                </a:solidFill>
                <a:latin typeface="Times New Roman"/>
              </a:rPr>
              <a:t>• Biết ai đã thao tác gì trên hệ thống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00000" y="380000"/>
            <a:ext cx="10792000" cy="760000"/>
          </a:xfrm>
          <a:prstGeom prst="rect">
            <a:avLst/>
          </a:prstGeom>
          <a:noFill/>
        </p:spPr>
        <p:txBody>
          <a:bodyPr wrap="square">
            <a:spAutoFit/>
          </a:bodyPr>
          <a:lstStyle/>
          <a:p>
            <a:r>
              <a:rPr sz="2800" b="1">
                <a:solidFill>
                  <a:srgbClr val="0F4C81"/>
                </a:solidFill>
                <a:latin typeface="Times New Roman"/>
              </a:rPr>
              <a:t>Phạm vi của đề tài</a:t>
            </a:r>
          </a:p>
        </p:txBody>
      </p:sp>
      <p:sp>
        <p:nvSpPr>
          <p:cNvPr id="3" name="Rounded Rectangle 2"/>
          <p:cNvSpPr/>
          <p:nvPr/>
        </p:nvSpPr>
        <p:spPr>
          <a:xfrm>
            <a:off x="700000" y="1320000"/>
            <a:ext cx="5150000" cy="460000"/>
          </a:xfrm>
          <a:prstGeom prst="roundRect">
            <a:avLst/>
          </a:prstGeom>
          <a:solidFill>
            <a:srgbClr val="1E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Times New Roman"/>
              </a:rPr>
              <a:t>BẮT BUỘC HOÀN THÀNH</a:t>
            </a:r>
          </a:p>
        </p:txBody>
      </p:sp>
      <p:sp>
        <p:nvSpPr>
          <p:cNvPr id="4" name="Rounded Rectangle 3"/>
          <p:cNvSpPr/>
          <p:nvPr/>
        </p:nvSpPr>
        <p:spPr>
          <a:xfrm>
            <a:off x="700000" y="1850000"/>
            <a:ext cx="5150000" cy="3900000"/>
          </a:xfrm>
          <a:prstGeom prst="roundRect">
            <a:avLst/>
          </a:prstGeom>
          <a:solidFill>
            <a:srgbClr val="ECF7F0"/>
          </a:solidFill>
          <a:ln w="12700">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00000" y="1980000"/>
            <a:ext cx="4750000" cy="3700000"/>
          </a:xfrm>
          <a:prstGeom prst="rect">
            <a:avLst/>
          </a:prstGeom>
          <a:noFill/>
        </p:spPr>
        <p:txBody>
          <a:bodyPr wrap="square">
            <a:spAutoFit/>
          </a:bodyPr>
          <a:lstStyle/>
          <a:p>
            <a:pPr algn="l"/>
            <a:r>
              <a:rPr sz="1400" b="0" i="0">
                <a:solidFill>
                  <a:srgbClr val="444444"/>
                </a:solidFill>
                <a:latin typeface="Times New Roman"/>
              </a:rPr>
              <a:t>✓ Kênh khách hàng: hỏi đáp, gửi CV, chọn đơn, đặt lịch</a:t>
            </a:r>
          </a:p>
          <a:p>
            <a:pPr algn="l">
              <a:spcBef>
                <a:spcPts val="1500"/>
              </a:spcBef>
            </a:pPr>
            <a:r>
              <a:rPr sz="1400" b="0" i="0">
                <a:solidFill>
                  <a:srgbClr val="444444"/>
                </a:solidFill>
                <a:latin typeface="Times New Roman"/>
              </a:rPr>
              <a:t>✓ Tư vấn tự động theo tài liệu chính thức của doanh nghiệp</a:t>
            </a:r>
          </a:p>
          <a:p>
            <a:pPr algn="l">
              <a:spcBef>
                <a:spcPts val="1500"/>
              </a:spcBef>
            </a:pPr>
            <a:r>
              <a:rPr sz="1400" b="0" i="0">
                <a:solidFill>
                  <a:srgbClr val="444444"/>
                </a:solidFill>
                <a:latin typeface="Times New Roman"/>
              </a:rPr>
              <a:t>✓ Đọc hồ sơ CV, lập hồ sơ có cấu trúc, cho xác nhận lại</a:t>
            </a:r>
          </a:p>
          <a:p>
            <a:pPr algn="l">
              <a:spcBef>
                <a:spcPts val="1500"/>
              </a:spcBef>
            </a:pPr>
            <a:r>
              <a:rPr sz="1400" b="0" i="0">
                <a:solidFill>
                  <a:srgbClr val="444444"/>
                </a:solidFill>
                <a:latin typeface="Times New Roman"/>
              </a:rPr>
              <a:t>✓ Danh mục đơn tuyển dụng và đối chiếu điều kiện</a:t>
            </a:r>
          </a:p>
          <a:p>
            <a:pPr algn="l">
              <a:spcBef>
                <a:spcPts val="1500"/>
              </a:spcBef>
            </a:pPr>
            <a:r>
              <a:rPr sz="1400" b="0" i="0">
                <a:solidFill>
                  <a:srgbClr val="444444"/>
                </a:solidFill>
                <a:latin typeface="Times New Roman"/>
              </a:rPr>
              <a:t>✓ Đăng ký sơ bộ, Phiếu tóm tắt và hàng đợi xử lý</a:t>
            </a:r>
          </a:p>
          <a:p>
            <a:pPr algn="l">
              <a:spcBef>
                <a:spcPts val="1500"/>
              </a:spcBef>
            </a:pPr>
            <a:r>
              <a:rPr sz="1400" b="0" i="0">
                <a:solidFill>
                  <a:srgbClr val="444444"/>
                </a:solidFill>
                <a:latin typeface="Times New Roman"/>
              </a:rPr>
              <a:t>✓ Phân hệ quản trị: khách, lịch hẹn, đơn, người dùng, nhật ký</a:t>
            </a:r>
          </a:p>
        </p:txBody>
      </p:sp>
      <p:sp>
        <p:nvSpPr>
          <p:cNvPr id="6" name="Rounded Rectangle 5"/>
          <p:cNvSpPr/>
          <p:nvPr/>
        </p:nvSpPr>
        <p:spPr>
          <a:xfrm>
            <a:off x="6340000" y="1320000"/>
            <a:ext cx="5150000" cy="460000"/>
          </a:xfrm>
          <a:prstGeom prst="round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Times New Roman"/>
              </a:rPr>
              <a:t>HƯỚNG PHÁT TRIỂN TIẾP</a:t>
            </a:r>
          </a:p>
        </p:txBody>
      </p:sp>
      <p:sp>
        <p:nvSpPr>
          <p:cNvPr id="7" name="Rounded Rectangle 6"/>
          <p:cNvSpPr/>
          <p:nvPr/>
        </p:nvSpPr>
        <p:spPr>
          <a:xfrm>
            <a:off x="6340000" y="1850000"/>
            <a:ext cx="5150000" cy="3900000"/>
          </a:xfrm>
          <a:prstGeom prst="roundRect">
            <a:avLst/>
          </a:prstGeom>
          <a:solidFill>
            <a:srgbClr val="F0F4F8"/>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40000" y="1980000"/>
            <a:ext cx="4750000" cy="3700000"/>
          </a:xfrm>
          <a:prstGeom prst="rect">
            <a:avLst/>
          </a:prstGeom>
          <a:noFill/>
        </p:spPr>
        <p:txBody>
          <a:bodyPr wrap="square">
            <a:spAutoFit/>
          </a:bodyPr>
          <a:lstStyle/>
          <a:p>
            <a:pPr algn="l"/>
            <a:r>
              <a:rPr sz="1400" b="0" i="0">
                <a:solidFill>
                  <a:srgbClr val="444444"/>
                </a:solidFill>
                <a:latin typeface="Times New Roman"/>
              </a:rPr>
              <a:t>• Nhân viên tiếp quản hội thoại trực tiếp</a:t>
            </a:r>
          </a:p>
          <a:p>
            <a:pPr algn="l">
              <a:spcBef>
                <a:spcPts val="1500"/>
              </a:spcBef>
            </a:pPr>
            <a:r>
              <a:rPr sz="1400" b="0" i="0">
                <a:solidFill>
                  <a:srgbClr val="444444"/>
                </a:solidFill>
                <a:latin typeface="Times New Roman"/>
              </a:rPr>
              <a:t>• Tích hợp mạng xã hội và ứng dụng nhắn tin</a:t>
            </a:r>
          </a:p>
          <a:p>
            <a:pPr algn="l">
              <a:spcBef>
                <a:spcPts val="1500"/>
              </a:spcBef>
            </a:pPr>
            <a:r>
              <a:rPr sz="1400" b="0" i="0">
                <a:solidFill>
                  <a:srgbClr val="444444"/>
                </a:solidFill>
                <a:latin typeface="Times New Roman"/>
              </a:rPr>
              <a:t>• Nhắc lịch hẹn tự động qua tin nhắn</a:t>
            </a:r>
          </a:p>
          <a:p>
            <a:pPr algn="l">
              <a:spcBef>
                <a:spcPts val="1500"/>
              </a:spcBef>
            </a:pPr>
            <a:r>
              <a:rPr sz="1400" b="0" i="0">
                <a:solidFill>
                  <a:srgbClr val="444444"/>
                </a:solidFill>
                <a:latin typeface="Times New Roman"/>
              </a:rPr>
              <a:t>• Chấm điểm độ phù hợp bằng học máy</a:t>
            </a:r>
          </a:p>
          <a:p>
            <a:pPr algn="l">
              <a:spcBef>
                <a:spcPts val="1500"/>
              </a:spcBef>
            </a:pPr>
            <a:r>
              <a:rPr sz="1400" b="0" i="0">
                <a:solidFill>
                  <a:srgbClr val="444444"/>
                </a:solidFill>
                <a:latin typeface="Times New Roman"/>
              </a:rPr>
              <a:t>• Ứng dụng di động riêng cho ứng viên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00000" y="380000"/>
            <a:ext cx="10792000" cy="760000"/>
          </a:xfrm>
          <a:prstGeom prst="rect">
            <a:avLst/>
          </a:prstGeom>
          <a:noFill/>
        </p:spPr>
        <p:txBody>
          <a:bodyPr wrap="square">
            <a:spAutoFit/>
          </a:bodyPr>
          <a:lstStyle/>
          <a:p>
            <a:r>
              <a:rPr sz="2800" b="1">
                <a:solidFill>
                  <a:srgbClr val="0F4C81"/>
                </a:solidFill>
                <a:latin typeface="Times New Roman"/>
              </a:rPr>
              <a:t>3. Mô hình kiến trúc — bốn khối trên ba mặt phẳng</a:t>
            </a:r>
          </a:p>
        </p:txBody>
      </p:sp>
      <p:pic>
        <p:nvPicPr>
          <p:cNvPr id="3" name="Picture 2" descr="fig_2_1_kien_truc_he_thong.png"/>
          <p:cNvPicPr>
            <a:picLocks noChangeAspect="1"/>
          </p:cNvPicPr>
          <p:nvPr/>
        </p:nvPicPr>
        <p:blipFill>
          <a:blip r:embed="rId2"/>
          <a:stretch>
            <a:fillRect/>
          </a:stretch>
        </p:blipFill>
        <p:spPr>
          <a:xfrm>
            <a:off x="2041263" y="1230000"/>
            <a:ext cx="8109474" cy="5350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00000" y="380000"/>
            <a:ext cx="10792000" cy="760000"/>
          </a:xfrm>
          <a:prstGeom prst="rect">
            <a:avLst/>
          </a:prstGeom>
          <a:noFill/>
        </p:spPr>
        <p:txBody>
          <a:bodyPr wrap="square">
            <a:spAutoFit/>
          </a:bodyPr>
          <a:lstStyle/>
          <a:p>
            <a:r>
              <a:rPr sz="2800" b="1">
                <a:solidFill>
                  <a:srgbClr val="0F4C81"/>
                </a:solidFill>
                <a:latin typeface="Times New Roman"/>
              </a:rPr>
              <a:t>Ba mặt phẳng tin cậy</a:t>
            </a:r>
          </a:p>
        </p:txBody>
      </p:sp>
      <p:sp>
        <p:nvSpPr>
          <p:cNvPr id="3" name="TextBox 2"/>
          <p:cNvSpPr txBox="1"/>
          <p:nvPr/>
        </p:nvSpPr>
        <p:spPr>
          <a:xfrm>
            <a:off x="700000" y="1130000"/>
            <a:ext cx="10792000" cy="400000"/>
          </a:xfrm>
          <a:prstGeom prst="rect">
            <a:avLst/>
          </a:prstGeom>
          <a:noFill/>
        </p:spPr>
        <p:txBody>
          <a:bodyPr wrap="square">
            <a:spAutoFit/>
          </a:bodyPr>
          <a:lstStyle/>
          <a:p>
            <a:pPr algn="ctr"/>
            <a:r>
              <a:rPr sz="1500" b="0" i="1">
                <a:solidFill>
                  <a:srgbClr val="0F4C81"/>
                </a:solidFill>
                <a:latin typeface="Times New Roman"/>
              </a:rPr>
              <a:t>Mức tin cậy của dữ liệu và của người truy cập khác nhau thì phải nằm ở những mặt phẳng khác nhau.</a:t>
            </a:r>
          </a:p>
        </p:txBody>
      </p:sp>
      <p:sp>
        <p:nvSpPr>
          <p:cNvPr id="4" name="Rounded Rectangle 3"/>
          <p:cNvSpPr/>
          <p:nvPr/>
        </p:nvSpPr>
        <p:spPr>
          <a:xfrm>
            <a:off x="700000" y="1800000"/>
            <a:ext cx="3100000" cy="1080000"/>
          </a:xfrm>
          <a:prstGeom prst="roundRect">
            <a:avLst/>
          </a:prstGeom>
          <a:solidFill>
            <a:srgbClr val="0F4C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Times New Roman"/>
              </a:rPr>
              <a:t>MẶT PHẲNG ỨNG VIÊN</a:t>
            </a:r>
          </a:p>
        </p:txBody>
      </p:sp>
      <p:sp>
        <p:nvSpPr>
          <p:cNvPr id="5" name="Rounded Rectangle 4"/>
          <p:cNvSpPr/>
          <p:nvPr/>
        </p:nvSpPr>
        <p:spPr>
          <a:xfrm>
            <a:off x="3950000" y="1800000"/>
            <a:ext cx="7540000" cy="1080000"/>
          </a:xfrm>
          <a:prstGeom prst="roundRect">
            <a:avLst/>
          </a:prstGeom>
          <a:solidFill>
            <a:srgbClr val="F0F4F8"/>
          </a:solidFill>
          <a:ln w="12700">
            <a:solidFill>
              <a:srgbClr val="0F4C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30000" y="1910000"/>
            <a:ext cx="7200000" cy="900000"/>
          </a:xfrm>
          <a:prstGeom prst="rect">
            <a:avLst/>
          </a:prstGeom>
          <a:noFill/>
        </p:spPr>
        <p:txBody>
          <a:bodyPr wrap="square">
            <a:spAutoFit/>
          </a:bodyPr>
          <a:lstStyle/>
          <a:p>
            <a:pPr algn="l"/>
            <a:r>
              <a:rPr sz="1300" b="1" i="0">
                <a:solidFill>
                  <a:srgbClr val="0F4C81"/>
                </a:solidFill>
                <a:latin typeface="Times New Roman"/>
              </a:rPr>
              <a:t>Công khai, không cần tài khoản</a:t>
            </a:r>
          </a:p>
          <a:p>
            <a:pPr algn="l">
              <a:spcBef>
                <a:spcPts val="500"/>
              </a:spcBef>
            </a:pPr>
            <a:r>
              <a:rPr sz="1400" b="0" i="0">
                <a:solidFill>
                  <a:srgbClr val="444444"/>
                </a:solidFill>
                <a:latin typeface="Times New Roman"/>
              </a:rPr>
              <a:t>Không bao giờ hiển thị dữ liệu nội bộ. Mọi thông tin gửi lên đều coi là chưa đáng tin cho tới khi kiểm tra.</a:t>
            </a:r>
          </a:p>
        </p:txBody>
      </p:sp>
      <p:sp>
        <p:nvSpPr>
          <p:cNvPr id="7" name="Rounded Rectangle 6"/>
          <p:cNvSpPr/>
          <p:nvPr/>
        </p:nvSpPr>
        <p:spPr>
          <a:xfrm>
            <a:off x="700000" y="3050000"/>
            <a:ext cx="3100000" cy="1080000"/>
          </a:xfrm>
          <a:prstGeom prst="roundRect">
            <a:avLst/>
          </a:prstGeom>
          <a:solidFill>
            <a:srgbClr val="1E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Times New Roman"/>
              </a:rPr>
              <a:t>MẶT PHẲNG XỬ LÝ</a:t>
            </a:r>
          </a:p>
        </p:txBody>
      </p:sp>
      <p:sp>
        <p:nvSpPr>
          <p:cNvPr id="8" name="Rounded Rectangle 7"/>
          <p:cNvSpPr/>
          <p:nvPr/>
        </p:nvSpPr>
        <p:spPr>
          <a:xfrm>
            <a:off x="3950000" y="3050000"/>
            <a:ext cx="7540000" cy="1080000"/>
          </a:xfrm>
          <a:prstGeom prst="roundRect">
            <a:avLst/>
          </a:prstGeom>
          <a:solidFill>
            <a:srgbClr val="ECF7F0"/>
          </a:solidFill>
          <a:ln w="12700">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30000" y="3160000"/>
            <a:ext cx="7200000" cy="900000"/>
          </a:xfrm>
          <a:prstGeom prst="rect">
            <a:avLst/>
          </a:prstGeom>
          <a:noFill/>
        </p:spPr>
        <p:txBody>
          <a:bodyPr wrap="square">
            <a:spAutoFit/>
          </a:bodyPr>
          <a:lstStyle/>
          <a:p>
            <a:pPr algn="l"/>
            <a:r>
              <a:rPr sz="1300" b="1" i="0">
                <a:solidFill>
                  <a:srgbClr val="1E7A3C"/>
                </a:solidFill>
                <a:latin typeface="Times New Roman"/>
              </a:rPr>
              <a:t>Chỉ hệ thống gọi tới</a:t>
            </a:r>
          </a:p>
          <a:p>
            <a:pPr algn="l">
              <a:spcBef>
                <a:spcPts val="500"/>
              </a:spcBef>
            </a:pPr>
            <a:r>
              <a:rPr sz="1400" b="0" i="0">
                <a:solidFill>
                  <a:srgbClr val="444444"/>
                </a:solidFill>
                <a:latin typeface="Times New Roman"/>
              </a:rPr>
              <a:t>Mọi câu trả lời phải qua bước kiểm chứng trước khi gửi cho người dùng.</a:t>
            </a:r>
          </a:p>
        </p:txBody>
      </p:sp>
      <p:sp>
        <p:nvSpPr>
          <p:cNvPr id="10" name="Rounded Rectangle 9"/>
          <p:cNvSpPr/>
          <p:nvPr/>
        </p:nvSpPr>
        <p:spPr>
          <a:xfrm>
            <a:off x="700000" y="4300000"/>
            <a:ext cx="3100000" cy="1080000"/>
          </a:xfrm>
          <a:prstGeom prst="roundRect">
            <a:avLst/>
          </a:prstGeom>
          <a:solidFill>
            <a:srgbClr val="C0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Times New Roman"/>
              </a:rPr>
              <a:t>MẶT PHẲNG QUẢN TRỊ</a:t>
            </a:r>
          </a:p>
        </p:txBody>
      </p:sp>
      <p:sp>
        <p:nvSpPr>
          <p:cNvPr id="11" name="Rounded Rectangle 10"/>
          <p:cNvSpPr/>
          <p:nvPr/>
        </p:nvSpPr>
        <p:spPr>
          <a:xfrm>
            <a:off x="3950000" y="4300000"/>
            <a:ext cx="7540000" cy="1080000"/>
          </a:xfrm>
          <a:prstGeom prst="roundRect">
            <a:avLst/>
          </a:prstGeom>
          <a:solidFill>
            <a:srgbClr val="FDF3E3"/>
          </a:solidFill>
          <a:ln w="12700">
            <a:solidFill>
              <a:srgbClr val="C0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30000" y="4410000"/>
            <a:ext cx="7200000" cy="900000"/>
          </a:xfrm>
          <a:prstGeom prst="rect">
            <a:avLst/>
          </a:prstGeom>
          <a:noFill/>
        </p:spPr>
        <p:txBody>
          <a:bodyPr wrap="square">
            <a:spAutoFit/>
          </a:bodyPr>
          <a:lstStyle/>
          <a:p>
            <a:pPr algn="l"/>
            <a:r>
              <a:rPr sz="1300" b="1" i="0">
                <a:solidFill>
                  <a:srgbClr val="C06A00"/>
                </a:solidFill>
                <a:latin typeface="Times New Roman"/>
              </a:rPr>
              <a:t>Nhân viên công ty, bắt buộc đăng nhập</a:t>
            </a:r>
          </a:p>
          <a:p>
            <a:pPr algn="l">
              <a:spcBef>
                <a:spcPts val="500"/>
              </a:spcBef>
            </a:pPr>
            <a:r>
              <a:rPr sz="1400" b="0" i="0">
                <a:solidFill>
                  <a:srgbClr val="444444"/>
                </a:solidFill>
                <a:latin typeface="Times New Roman"/>
              </a:rPr>
              <a:t>Phân quyền theo ba vai trò. Mọi thao tác thay đổi dữ liệu đều ghi nhật ký.</a:t>
            </a:r>
          </a:p>
        </p:txBody>
      </p:sp>
      <p:sp>
        <p:nvSpPr>
          <p:cNvPr id="13" name="Rounded Rectangle 12"/>
          <p:cNvSpPr/>
          <p:nvPr/>
        </p:nvSpPr>
        <p:spPr>
          <a:xfrm>
            <a:off x="700000" y="5600000"/>
            <a:ext cx="10792000" cy="800000"/>
          </a:xfrm>
          <a:prstGeom prst="roundRect">
            <a:avLst/>
          </a:prstGeom>
          <a:solidFill>
            <a:srgbClr val="F0F4F8"/>
          </a:solidFill>
          <a:ln w="12700">
            <a:solidFill>
              <a:srgbClr val="0F4C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0000" y="5700000"/>
            <a:ext cx="10400000" cy="650000"/>
          </a:xfrm>
          <a:prstGeom prst="rect">
            <a:avLst/>
          </a:prstGeom>
          <a:noFill/>
        </p:spPr>
        <p:txBody>
          <a:bodyPr wrap="square">
            <a:spAutoFit/>
          </a:bodyPr>
          <a:lstStyle/>
          <a:p>
            <a:pPr algn="ctr"/>
            <a:r>
              <a:rPr sz="1400" b="1" i="0">
                <a:solidFill>
                  <a:srgbClr val="0F4C81"/>
                </a:solidFill>
                <a:latin typeface="Times New Roman"/>
              </a:rPr>
              <a:t>Ranh giới quan trọng nhất: </a:t>
            </a:r>
            <a:r>
              <a:rPr sz="1400" b="0" i="0">
                <a:solidFill>
                  <a:srgbClr val="444444"/>
                </a:solidFill>
                <a:latin typeface="Times New Roman"/>
              </a:rPr>
              <a:t>mặt phẳng ứng viên không có đường đi trực tiếp tới mặt phẳng quản trị. Dữ liệu chỉ chuyển giao gián tiếp qua kho dữ liệu.</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00000" y="380000"/>
            <a:ext cx="10792000" cy="760000"/>
          </a:xfrm>
          <a:prstGeom prst="rect">
            <a:avLst/>
          </a:prstGeom>
          <a:noFill/>
        </p:spPr>
        <p:txBody>
          <a:bodyPr wrap="square">
            <a:spAutoFit/>
          </a:bodyPr>
          <a:lstStyle/>
          <a:p>
            <a:r>
              <a:rPr sz="2800" b="1">
                <a:solidFill>
                  <a:srgbClr val="0F4C81"/>
                </a:solidFill>
                <a:latin typeface="Times New Roman"/>
              </a:rPr>
              <a:t>4. Luồng hoạt động — đường đi của một ứng viên</a:t>
            </a:r>
          </a:p>
        </p:txBody>
      </p:sp>
      <p:sp>
        <p:nvSpPr>
          <p:cNvPr id="3" name="Rounded Rectangle 2"/>
          <p:cNvSpPr/>
          <p:nvPr/>
        </p:nvSpPr>
        <p:spPr>
          <a:xfrm>
            <a:off x="700000" y="1320000"/>
            <a:ext cx="3400000" cy="480000"/>
          </a:xfrm>
          <a:prstGeom prst="roundRect">
            <a:avLst/>
          </a:prstGeom>
          <a:solidFill>
            <a:srgbClr val="0F4C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Times New Roman"/>
              </a:rPr>
              <a:t>Ứng viên làm gì</a:t>
            </a:r>
          </a:p>
        </p:txBody>
      </p:sp>
      <p:sp>
        <p:nvSpPr>
          <p:cNvPr id="4" name="Rounded Rectangle 3"/>
          <p:cNvSpPr/>
          <p:nvPr/>
        </p:nvSpPr>
        <p:spPr>
          <a:xfrm>
            <a:off x="4300000" y="1320000"/>
            <a:ext cx="3400000" cy="480000"/>
          </a:xfrm>
          <a:prstGeom prst="roundRect">
            <a:avLst/>
          </a:prstGeom>
          <a:solidFill>
            <a:srgbClr val="1E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Times New Roman"/>
              </a:rPr>
              <a:t>Hệ thống làm gì</a:t>
            </a:r>
          </a:p>
        </p:txBody>
      </p:sp>
      <p:sp>
        <p:nvSpPr>
          <p:cNvPr id="5" name="Rounded Rectangle 4"/>
          <p:cNvSpPr/>
          <p:nvPr/>
        </p:nvSpPr>
        <p:spPr>
          <a:xfrm>
            <a:off x="7900000" y="1320000"/>
            <a:ext cx="3592000" cy="480000"/>
          </a:xfrm>
          <a:prstGeom prst="roundRect">
            <a:avLst/>
          </a:prstGeom>
          <a:solidFill>
            <a:srgbClr val="C0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Times New Roman"/>
              </a:rPr>
              <a:t>Kết quả sau mỗi bước</a:t>
            </a:r>
          </a:p>
        </p:txBody>
      </p:sp>
      <p:sp>
        <p:nvSpPr>
          <p:cNvPr id="6" name="Rounded Rectangle 5"/>
          <p:cNvSpPr/>
          <p:nvPr/>
        </p:nvSpPr>
        <p:spPr>
          <a:xfrm>
            <a:off x="700000" y="1880000"/>
            <a:ext cx="3400000" cy="590000"/>
          </a:xfrm>
          <a:prstGeom prst="roundRect">
            <a:avLst/>
          </a:prstGeom>
          <a:solidFill>
            <a:srgbClr val="F0F4F8"/>
          </a:solidFill>
          <a:ln w="12700">
            <a:solidFill>
              <a:srgbClr val="0F4C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000" y="1940000"/>
            <a:ext cx="3100000" cy="490000"/>
          </a:xfrm>
          <a:prstGeom prst="rect">
            <a:avLst/>
          </a:prstGeom>
          <a:noFill/>
        </p:spPr>
        <p:txBody>
          <a:bodyPr wrap="square" anchor="ctr">
            <a:spAutoFit/>
          </a:bodyPr>
          <a:lstStyle/>
          <a:p>
            <a:pPr algn="l"/>
            <a:r>
              <a:rPr sz="1250" b="0" i="0">
                <a:solidFill>
                  <a:srgbClr val="444444"/>
                </a:solidFill>
                <a:latin typeface="Times New Roman"/>
              </a:rPr>
              <a:t>Nhắn tin và gửi CV</a:t>
            </a:r>
          </a:p>
        </p:txBody>
      </p:sp>
      <p:sp>
        <p:nvSpPr>
          <p:cNvPr id="8" name="Rounded Rectangle 7"/>
          <p:cNvSpPr/>
          <p:nvPr/>
        </p:nvSpPr>
        <p:spPr>
          <a:xfrm>
            <a:off x="4300000" y="1880000"/>
            <a:ext cx="3400000" cy="590000"/>
          </a:xfrm>
          <a:prstGeom prst="roundRect">
            <a:avLst/>
          </a:prstGeom>
          <a:solidFill>
            <a:srgbClr val="ECF7F0"/>
          </a:solidFill>
          <a:ln w="12700">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50000" y="1940000"/>
            <a:ext cx="3100000" cy="490000"/>
          </a:xfrm>
          <a:prstGeom prst="rect">
            <a:avLst/>
          </a:prstGeom>
          <a:noFill/>
        </p:spPr>
        <p:txBody>
          <a:bodyPr wrap="square" anchor="ctr">
            <a:spAutoFit/>
          </a:bodyPr>
          <a:lstStyle/>
          <a:p>
            <a:pPr algn="l"/>
            <a:r>
              <a:rPr sz="1250" b="0" i="0">
                <a:solidFill>
                  <a:srgbClr val="444444"/>
                </a:solidFill>
                <a:latin typeface="Times New Roman"/>
              </a:rPr>
              <a:t>Đọc CV, lập hồ sơ</a:t>
            </a:r>
          </a:p>
        </p:txBody>
      </p:sp>
      <p:sp>
        <p:nvSpPr>
          <p:cNvPr id="10" name="Rounded Rectangle 9"/>
          <p:cNvSpPr/>
          <p:nvPr/>
        </p:nvSpPr>
        <p:spPr>
          <a:xfrm>
            <a:off x="7900000" y="1880000"/>
            <a:ext cx="3592000" cy="590000"/>
          </a:xfrm>
          <a:prstGeom prst="roundRect">
            <a:avLst/>
          </a:prstGeom>
          <a:solidFill>
            <a:srgbClr val="FDF3E3"/>
          </a:solidFill>
          <a:ln w="12700">
            <a:solidFill>
              <a:srgbClr val="C0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50000" y="1940000"/>
            <a:ext cx="3292000" cy="490000"/>
          </a:xfrm>
          <a:prstGeom prst="rect">
            <a:avLst/>
          </a:prstGeom>
          <a:noFill/>
        </p:spPr>
        <p:txBody>
          <a:bodyPr wrap="square" anchor="ctr">
            <a:spAutoFit/>
          </a:bodyPr>
          <a:lstStyle/>
          <a:p>
            <a:pPr algn="l"/>
            <a:r>
              <a:rPr sz="1250" b="0" i="0">
                <a:solidFill>
                  <a:srgbClr val="444444"/>
                </a:solidFill>
                <a:latin typeface="Times New Roman"/>
              </a:rPr>
              <a:t>▸ Có bản nháp hồ sơ ứng viên</a:t>
            </a:r>
          </a:p>
        </p:txBody>
      </p:sp>
      <p:sp>
        <p:nvSpPr>
          <p:cNvPr id="12" name="Rounded Rectangle 11"/>
          <p:cNvSpPr/>
          <p:nvPr/>
        </p:nvSpPr>
        <p:spPr>
          <a:xfrm>
            <a:off x="700000" y="2540000"/>
            <a:ext cx="3400000" cy="590000"/>
          </a:xfrm>
          <a:prstGeom prst="roundRect">
            <a:avLst/>
          </a:prstGeom>
          <a:solidFill>
            <a:srgbClr val="F0F4F8"/>
          </a:solidFill>
          <a:ln w="12700">
            <a:solidFill>
              <a:srgbClr val="0F4C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000" y="2600000"/>
            <a:ext cx="3100000" cy="490000"/>
          </a:xfrm>
          <a:prstGeom prst="rect">
            <a:avLst/>
          </a:prstGeom>
          <a:noFill/>
        </p:spPr>
        <p:txBody>
          <a:bodyPr wrap="square" anchor="ctr">
            <a:spAutoFit/>
          </a:bodyPr>
          <a:lstStyle/>
          <a:p>
            <a:pPr algn="l"/>
            <a:r>
              <a:rPr sz="1250" b="0" i="0">
                <a:solidFill>
                  <a:srgbClr val="444444"/>
                </a:solidFill>
                <a:latin typeface="Times New Roman"/>
              </a:rPr>
              <a:t>Xem lại, sửa chỗ chưa đúng</a:t>
            </a:r>
          </a:p>
        </p:txBody>
      </p:sp>
      <p:sp>
        <p:nvSpPr>
          <p:cNvPr id="14" name="Rounded Rectangle 13"/>
          <p:cNvSpPr/>
          <p:nvPr/>
        </p:nvSpPr>
        <p:spPr>
          <a:xfrm>
            <a:off x="4300000" y="2540000"/>
            <a:ext cx="3400000" cy="590000"/>
          </a:xfrm>
          <a:prstGeom prst="roundRect">
            <a:avLst/>
          </a:prstGeom>
          <a:solidFill>
            <a:srgbClr val="ECF7F0"/>
          </a:solidFill>
          <a:ln w="12700">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0000" y="2600000"/>
            <a:ext cx="3100000" cy="490000"/>
          </a:xfrm>
          <a:prstGeom prst="rect">
            <a:avLst/>
          </a:prstGeom>
          <a:noFill/>
        </p:spPr>
        <p:txBody>
          <a:bodyPr wrap="square" anchor="ctr">
            <a:spAutoFit/>
          </a:bodyPr>
          <a:lstStyle/>
          <a:p>
            <a:pPr algn="l"/>
            <a:r>
              <a:rPr sz="1250" b="0" i="0">
                <a:solidFill>
                  <a:srgbClr val="444444"/>
                </a:solidFill>
                <a:latin typeface="Times New Roman"/>
              </a:rPr>
              <a:t>Hỏi lại chỗ chưa chắc, không tự đoán</a:t>
            </a:r>
          </a:p>
        </p:txBody>
      </p:sp>
      <p:sp>
        <p:nvSpPr>
          <p:cNvPr id="16" name="Rounded Rectangle 15"/>
          <p:cNvSpPr/>
          <p:nvPr/>
        </p:nvSpPr>
        <p:spPr>
          <a:xfrm>
            <a:off x="7900000" y="2540000"/>
            <a:ext cx="3592000" cy="590000"/>
          </a:xfrm>
          <a:prstGeom prst="roundRect">
            <a:avLst/>
          </a:prstGeom>
          <a:solidFill>
            <a:srgbClr val="FDF3E3"/>
          </a:solidFill>
          <a:ln w="12700">
            <a:solidFill>
              <a:srgbClr val="C0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50000" y="2600000"/>
            <a:ext cx="3292000" cy="490000"/>
          </a:xfrm>
          <a:prstGeom prst="rect">
            <a:avLst/>
          </a:prstGeom>
          <a:noFill/>
        </p:spPr>
        <p:txBody>
          <a:bodyPr wrap="square" anchor="ctr">
            <a:spAutoFit/>
          </a:bodyPr>
          <a:lstStyle/>
          <a:p>
            <a:pPr algn="l"/>
            <a:r>
              <a:rPr sz="1250" b="0" i="0">
                <a:solidFill>
                  <a:srgbClr val="444444"/>
                </a:solidFill>
                <a:latin typeface="Times New Roman"/>
              </a:rPr>
              <a:t>▸ Hồ sơ do chính ứng viên xác nhận</a:t>
            </a:r>
          </a:p>
        </p:txBody>
      </p:sp>
      <p:sp>
        <p:nvSpPr>
          <p:cNvPr id="18" name="Rounded Rectangle 17"/>
          <p:cNvSpPr/>
          <p:nvPr/>
        </p:nvSpPr>
        <p:spPr>
          <a:xfrm>
            <a:off x="700000" y="3200000"/>
            <a:ext cx="3400000" cy="590000"/>
          </a:xfrm>
          <a:prstGeom prst="roundRect">
            <a:avLst/>
          </a:prstGeom>
          <a:solidFill>
            <a:srgbClr val="F0F4F8"/>
          </a:solidFill>
          <a:ln w="12700">
            <a:solidFill>
              <a:srgbClr val="0F4C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000" y="3260000"/>
            <a:ext cx="3100000" cy="490000"/>
          </a:xfrm>
          <a:prstGeom prst="rect">
            <a:avLst/>
          </a:prstGeom>
          <a:noFill/>
        </p:spPr>
        <p:txBody>
          <a:bodyPr wrap="square" anchor="ctr">
            <a:spAutoFit/>
          </a:bodyPr>
          <a:lstStyle/>
          <a:p>
            <a:pPr algn="l"/>
            <a:r>
              <a:rPr sz="1250" b="0" i="0">
                <a:solidFill>
                  <a:srgbClr val="444444"/>
                </a:solidFill>
                <a:latin typeface="Times New Roman"/>
              </a:rPr>
              <a:t>Hỏi chi phí, thủ tục</a:t>
            </a:r>
          </a:p>
        </p:txBody>
      </p:sp>
      <p:sp>
        <p:nvSpPr>
          <p:cNvPr id="20" name="Rounded Rectangle 19"/>
          <p:cNvSpPr/>
          <p:nvPr/>
        </p:nvSpPr>
        <p:spPr>
          <a:xfrm>
            <a:off x="4300000" y="3200000"/>
            <a:ext cx="3400000" cy="590000"/>
          </a:xfrm>
          <a:prstGeom prst="roundRect">
            <a:avLst/>
          </a:prstGeom>
          <a:solidFill>
            <a:srgbClr val="ECF7F0"/>
          </a:solidFill>
          <a:ln w="12700">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50000" y="3260000"/>
            <a:ext cx="3100000" cy="490000"/>
          </a:xfrm>
          <a:prstGeom prst="rect">
            <a:avLst/>
          </a:prstGeom>
          <a:noFill/>
        </p:spPr>
        <p:txBody>
          <a:bodyPr wrap="square" anchor="ctr">
            <a:spAutoFit/>
          </a:bodyPr>
          <a:lstStyle/>
          <a:p>
            <a:pPr algn="l"/>
            <a:r>
              <a:rPr sz="1250" b="0" i="0">
                <a:solidFill>
                  <a:srgbClr val="444444"/>
                </a:solidFill>
                <a:latin typeface="Times New Roman"/>
              </a:rPr>
              <a:t>Tra đúng tài liệu chính thức</a:t>
            </a:r>
          </a:p>
        </p:txBody>
      </p:sp>
      <p:sp>
        <p:nvSpPr>
          <p:cNvPr id="22" name="Rounded Rectangle 21"/>
          <p:cNvSpPr/>
          <p:nvPr/>
        </p:nvSpPr>
        <p:spPr>
          <a:xfrm>
            <a:off x="7900000" y="3200000"/>
            <a:ext cx="3592000" cy="590000"/>
          </a:xfrm>
          <a:prstGeom prst="roundRect">
            <a:avLst/>
          </a:prstGeom>
          <a:solidFill>
            <a:srgbClr val="FDF3E3"/>
          </a:solidFill>
          <a:ln w="12700">
            <a:solidFill>
              <a:srgbClr val="C0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50000" y="3260000"/>
            <a:ext cx="3292000" cy="490000"/>
          </a:xfrm>
          <a:prstGeom prst="rect">
            <a:avLst/>
          </a:prstGeom>
          <a:noFill/>
        </p:spPr>
        <p:txBody>
          <a:bodyPr wrap="square" anchor="ctr">
            <a:spAutoFit/>
          </a:bodyPr>
          <a:lstStyle/>
          <a:p>
            <a:pPr algn="l"/>
            <a:r>
              <a:rPr sz="1250" b="0" i="0">
                <a:solidFill>
                  <a:srgbClr val="444444"/>
                </a:solidFill>
                <a:latin typeface="Times New Roman"/>
              </a:rPr>
              <a:t>▸ Được giải đáp, có dẫn nguồn</a:t>
            </a:r>
          </a:p>
        </p:txBody>
      </p:sp>
      <p:sp>
        <p:nvSpPr>
          <p:cNvPr id="24" name="Rounded Rectangle 23"/>
          <p:cNvSpPr/>
          <p:nvPr/>
        </p:nvSpPr>
        <p:spPr>
          <a:xfrm>
            <a:off x="700000" y="3860000"/>
            <a:ext cx="3400000" cy="590000"/>
          </a:xfrm>
          <a:prstGeom prst="roundRect">
            <a:avLst/>
          </a:prstGeom>
          <a:solidFill>
            <a:srgbClr val="F0F4F8"/>
          </a:solidFill>
          <a:ln w="12700">
            <a:solidFill>
              <a:srgbClr val="0F4C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0000" y="3920000"/>
            <a:ext cx="3100000" cy="490000"/>
          </a:xfrm>
          <a:prstGeom prst="rect">
            <a:avLst/>
          </a:prstGeom>
          <a:noFill/>
        </p:spPr>
        <p:txBody>
          <a:bodyPr wrap="square" anchor="ctr">
            <a:spAutoFit/>
          </a:bodyPr>
          <a:lstStyle/>
          <a:p>
            <a:pPr algn="l"/>
            <a:r>
              <a:rPr sz="1250" b="0" i="0">
                <a:solidFill>
                  <a:srgbClr val="444444"/>
                </a:solidFill>
                <a:latin typeface="Times New Roman"/>
              </a:rPr>
              <a:t>Xem các đơn được gợi ý</a:t>
            </a:r>
          </a:p>
        </p:txBody>
      </p:sp>
      <p:sp>
        <p:nvSpPr>
          <p:cNvPr id="26" name="Rounded Rectangle 25"/>
          <p:cNvSpPr/>
          <p:nvPr/>
        </p:nvSpPr>
        <p:spPr>
          <a:xfrm>
            <a:off x="4300000" y="3860000"/>
            <a:ext cx="3400000" cy="590000"/>
          </a:xfrm>
          <a:prstGeom prst="roundRect">
            <a:avLst/>
          </a:prstGeom>
          <a:solidFill>
            <a:srgbClr val="ECF7F0"/>
          </a:solidFill>
          <a:ln w="12700">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50000" y="3920000"/>
            <a:ext cx="3100000" cy="490000"/>
          </a:xfrm>
          <a:prstGeom prst="rect">
            <a:avLst/>
          </a:prstGeom>
          <a:noFill/>
        </p:spPr>
        <p:txBody>
          <a:bodyPr wrap="square" anchor="ctr">
            <a:spAutoFit/>
          </a:bodyPr>
          <a:lstStyle/>
          <a:p>
            <a:pPr algn="l"/>
            <a:r>
              <a:rPr sz="1250" b="0" i="0">
                <a:solidFill>
                  <a:srgbClr val="444444"/>
                </a:solidFill>
                <a:latin typeface="Times New Roman"/>
              </a:rPr>
              <a:t>Đối chiếu điều kiện, nêu rõ lý do</a:t>
            </a:r>
          </a:p>
        </p:txBody>
      </p:sp>
      <p:sp>
        <p:nvSpPr>
          <p:cNvPr id="28" name="Rounded Rectangle 27"/>
          <p:cNvSpPr/>
          <p:nvPr/>
        </p:nvSpPr>
        <p:spPr>
          <a:xfrm>
            <a:off x="7900000" y="3860000"/>
            <a:ext cx="3592000" cy="590000"/>
          </a:xfrm>
          <a:prstGeom prst="roundRect">
            <a:avLst/>
          </a:prstGeom>
          <a:solidFill>
            <a:srgbClr val="FDF3E3"/>
          </a:solidFill>
          <a:ln w="12700">
            <a:solidFill>
              <a:srgbClr val="C0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50000" y="3920000"/>
            <a:ext cx="3292000" cy="490000"/>
          </a:xfrm>
          <a:prstGeom prst="rect">
            <a:avLst/>
          </a:prstGeom>
          <a:noFill/>
        </p:spPr>
        <p:txBody>
          <a:bodyPr wrap="square" anchor="ctr">
            <a:spAutoFit/>
          </a:bodyPr>
          <a:lstStyle/>
          <a:p>
            <a:pPr algn="l"/>
            <a:r>
              <a:rPr sz="1250" b="0" i="0">
                <a:solidFill>
                  <a:srgbClr val="444444"/>
                </a:solidFill>
                <a:latin typeface="Times New Roman"/>
              </a:rPr>
              <a:t>▸ Biết mình hợp đơn nào và vì sao</a:t>
            </a:r>
          </a:p>
        </p:txBody>
      </p:sp>
      <p:sp>
        <p:nvSpPr>
          <p:cNvPr id="30" name="Rounded Rectangle 29"/>
          <p:cNvSpPr/>
          <p:nvPr/>
        </p:nvSpPr>
        <p:spPr>
          <a:xfrm>
            <a:off x="700000" y="4520000"/>
            <a:ext cx="3400000" cy="590000"/>
          </a:xfrm>
          <a:prstGeom prst="roundRect">
            <a:avLst/>
          </a:prstGeom>
          <a:solidFill>
            <a:srgbClr val="F0F4F8"/>
          </a:solidFill>
          <a:ln w="12700">
            <a:solidFill>
              <a:srgbClr val="0F4C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000" y="4580000"/>
            <a:ext cx="3100000" cy="490000"/>
          </a:xfrm>
          <a:prstGeom prst="rect">
            <a:avLst/>
          </a:prstGeom>
          <a:noFill/>
        </p:spPr>
        <p:txBody>
          <a:bodyPr wrap="square" anchor="ctr">
            <a:spAutoFit/>
          </a:bodyPr>
          <a:lstStyle/>
          <a:p>
            <a:pPr algn="l"/>
            <a:r>
              <a:rPr sz="1250" b="0" i="0">
                <a:solidFill>
                  <a:srgbClr val="444444"/>
                </a:solidFill>
                <a:latin typeface="Times New Roman"/>
              </a:rPr>
              <a:t>Chọn đơn và xác nhận</a:t>
            </a:r>
          </a:p>
        </p:txBody>
      </p:sp>
      <p:sp>
        <p:nvSpPr>
          <p:cNvPr id="32" name="Rounded Rectangle 31"/>
          <p:cNvSpPr/>
          <p:nvPr/>
        </p:nvSpPr>
        <p:spPr>
          <a:xfrm>
            <a:off x="4300000" y="4520000"/>
            <a:ext cx="3400000" cy="590000"/>
          </a:xfrm>
          <a:prstGeom prst="roundRect">
            <a:avLst/>
          </a:prstGeom>
          <a:solidFill>
            <a:srgbClr val="ECF7F0"/>
          </a:solidFill>
          <a:ln w="12700">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450000" y="4580000"/>
            <a:ext cx="3100000" cy="490000"/>
          </a:xfrm>
          <a:prstGeom prst="rect">
            <a:avLst/>
          </a:prstGeom>
          <a:noFill/>
        </p:spPr>
        <p:txBody>
          <a:bodyPr wrap="square" anchor="ctr">
            <a:spAutoFit/>
          </a:bodyPr>
          <a:lstStyle/>
          <a:p>
            <a:pPr algn="l"/>
            <a:r>
              <a:rPr sz="1250" b="0" i="0">
                <a:solidFill>
                  <a:srgbClr val="444444"/>
                </a:solidFill>
                <a:latin typeface="Times New Roman"/>
              </a:rPr>
              <a:t>Hỏi xác nhận rõ ràng rồi mới tạo hồ sơ</a:t>
            </a:r>
          </a:p>
        </p:txBody>
      </p:sp>
      <p:sp>
        <p:nvSpPr>
          <p:cNvPr id="34" name="Rounded Rectangle 33"/>
          <p:cNvSpPr/>
          <p:nvPr/>
        </p:nvSpPr>
        <p:spPr>
          <a:xfrm>
            <a:off x="7900000" y="4520000"/>
            <a:ext cx="3592000" cy="590000"/>
          </a:xfrm>
          <a:prstGeom prst="roundRect">
            <a:avLst/>
          </a:prstGeom>
          <a:solidFill>
            <a:srgbClr val="FDF3E3"/>
          </a:solidFill>
          <a:ln w="12700">
            <a:solidFill>
              <a:srgbClr val="C0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50000" y="4580000"/>
            <a:ext cx="3292000" cy="490000"/>
          </a:xfrm>
          <a:prstGeom prst="rect">
            <a:avLst/>
          </a:prstGeom>
          <a:noFill/>
        </p:spPr>
        <p:txBody>
          <a:bodyPr wrap="square" anchor="ctr">
            <a:spAutoFit/>
          </a:bodyPr>
          <a:lstStyle/>
          <a:p>
            <a:pPr algn="l"/>
            <a:r>
              <a:rPr sz="1250" b="0" i="0">
                <a:solidFill>
                  <a:srgbClr val="444444"/>
                </a:solidFill>
                <a:latin typeface="Times New Roman"/>
              </a:rPr>
              <a:t>▸ Đăng ký sơ bộ, không từ suy đoán</a:t>
            </a:r>
          </a:p>
        </p:txBody>
      </p:sp>
      <p:sp>
        <p:nvSpPr>
          <p:cNvPr id="36" name="Rounded Rectangle 35"/>
          <p:cNvSpPr/>
          <p:nvPr/>
        </p:nvSpPr>
        <p:spPr>
          <a:xfrm>
            <a:off x="700000" y="5180000"/>
            <a:ext cx="3400000" cy="590000"/>
          </a:xfrm>
          <a:prstGeom prst="roundRect">
            <a:avLst/>
          </a:prstGeom>
          <a:solidFill>
            <a:srgbClr val="F0F4F8"/>
          </a:solidFill>
          <a:ln w="12700">
            <a:solidFill>
              <a:srgbClr val="0F4C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0000" y="5240000"/>
            <a:ext cx="3100000" cy="490000"/>
          </a:xfrm>
          <a:prstGeom prst="rect">
            <a:avLst/>
          </a:prstGeom>
          <a:noFill/>
        </p:spPr>
        <p:txBody>
          <a:bodyPr wrap="square" anchor="ctr">
            <a:spAutoFit/>
          </a:bodyPr>
          <a:lstStyle/>
          <a:p>
            <a:pPr algn="l"/>
            <a:r>
              <a:rPr sz="1250" b="0" i="0">
                <a:solidFill>
                  <a:srgbClr val="444444"/>
                </a:solidFill>
                <a:latin typeface="Times New Roman"/>
              </a:rPr>
              <a:t>Chọn khung giờ gọi lại</a:t>
            </a:r>
          </a:p>
        </p:txBody>
      </p:sp>
      <p:sp>
        <p:nvSpPr>
          <p:cNvPr id="38" name="Rounded Rectangle 37"/>
          <p:cNvSpPr/>
          <p:nvPr/>
        </p:nvSpPr>
        <p:spPr>
          <a:xfrm>
            <a:off x="4300000" y="5180000"/>
            <a:ext cx="3400000" cy="590000"/>
          </a:xfrm>
          <a:prstGeom prst="roundRect">
            <a:avLst/>
          </a:prstGeom>
          <a:solidFill>
            <a:srgbClr val="ECF7F0"/>
          </a:solidFill>
          <a:ln w="12700">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450000" y="5240000"/>
            <a:ext cx="3100000" cy="490000"/>
          </a:xfrm>
          <a:prstGeom prst="rect">
            <a:avLst/>
          </a:prstGeom>
          <a:noFill/>
        </p:spPr>
        <p:txBody>
          <a:bodyPr wrap="square" anchor="ctr">
            <a:spAutoFit/>
          </a:bodyPr>
          <a:lstStyle/>
          <a:p>
            <a:pPr algn="l"/>
            <a:r>
              <a:rPr sz="1250" b="0" i="0">
                <a:solidFill>
                  <a:srgbClr val="444444"/>
                </a:solidFill>
                <a:latin typeface="Times New Roman"/>
              </a:rPr>
              <a:t>Sinh Phiếu tóm tắt, đẩy vào hàng đợi</a:t>
            </a:r>
          </a:p>
        </p:txBody>
      </p:sp>
      <p:sp>
        <p:nvSpPr>
          <p:cNvPr id="40" name="Rounded Rectangle 39"/>
          <p:cNvSpPr/>
          <p:nvPr/>
        </p:nvSpPr>
        <p:spPr>
          <a:xfrm>
            <a:off x="7900000" y="5180000"/>
            <a:ext cx="3592000" cy="590000"/>
          </a:xfrm>
          <a:prstGeom prst="roundRect">
            <a:avLst/>
          </a:prstGeom>
          <a:solidFill>
            <a:srgbClr val="FDF3E3"/>
          </a:solidFill>
          <a:ln w="12700">
            <a:solidFill>
              <a:srgbClr val="C0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50000" y="5240000"/>
            <a:ext cx="3292000" cy="490000"/>
          </a:xfrm>
          <a:prstGeom prst="rect">
            <a:avLst/>
          </a:prstGeom>
          <a:noFill/>
        </p:spPr>
        <p:txBody>
          <a:bodyPr wrap="square" anchor="ctr">
            <a:spAutoFit/>
          </a:bodyPr>
          <a:lstStyle/>
          <a:p>
            <a:pPr algn="l"/>
            <a:r>
              <a:rPr sz="1250" b="0" i="0">
                <a:solidFill>
                  <a:srgbClr val="444444"/>
                </a:solidFill>
                <a:latin typeface="Times New Roman"/>
              </a:rPr>
              <a:t>▸ Nhân viên có sẵn hồ sơ và lịch</a:t>
            </a:r>
          </a:p>
        </p:txBody>
      </p:sp>
      <p:sp>
        <p:nvSpPr>
          <p:cNvPr id="42" name="Rounded Rectangle 41"/>
          <p:cNvSpPr/>
          <p:nvPr/>
        </p:nvSpPr>
        <p:spPr>
          <a:xfrm>
            <a:off x="700000" y="5890000"/>
            <a:ext cx="10792000" cy="560000"/>
          </a:xfrm>
          <a:prstGeom prst="roundRect">
            <a:avLst/>
          </a:prstGeom>
          <a:solidFill>
            <a:srgbClr val="FDF3E3"/>
          </a:solidFill>
          <a:ln w="12700">
            <a:solidFill>
              <a:srgbClr val="C0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00000" y="5970000"/>
            <a:ext cx="10400000" cy="440000"/>
          </a:xfrm>
          <a:prstGeom prst="rect">
            <a:avLst/>
          </a:prstGeom>
          <a:noFill/>
        </p:spPr>
        <p:txBody>
          <a:bodyPr wrap="square">
            <a:spAutoFit/>
          </a:bodyPr>
          <a:lstStyle/>
          <a:p>
            <a:pPr algn="ctr"/>
            <a:r>
              <a:rPr sz="1350" b="1" i="0">
                <a:solidFill>
                  <a:srgbClr val="C06A00"/>
                </a:solidFill>
                <a:latin typeface="Times New Roman"/>
              </a:rPr>
              <a:t>Chốt chặn: </a:t>
            </a:r>
            <a:r>
              <a:rPr sz="1350" b="0" i="0">
                <a:solidFill>
                  <a:srgbClr val="444444"/>
                </a:solidFill>
                <a:latin typeface="Times New Roman"/>
              </a:rPr>
              <a:t>hệ thống giới thiệu nhiều đơn kèm lý do, nhưng chỉ ứng viên mới chọn đơn. Hệ thống không tạo đăng ký từ suy đoán của chính mình.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00000" y="380000"/>
            <a:ext cx="10792000" cy="760000"/>
          </a:xfrm>
          <a:prstGeom prst="rect">
            <a:avLst/>
          </a:prstGeom>
          <a:noFill/>
        </p:spPr>
        <p:txBody>
          <a:bodyPr wrap="square">
            <a:spAutoFit/>
          </a:bodyPr>
          <a:lstStyle/>
          <a:p>
            <a:r>
              <a:rPr sz="2800" b="1">
                <a:solidFill>
                  <a:srgbClr val="0F4C81"/>
                </a:solidFill>
                <a:latin typeface="Times New Roman"/>
              </a:rPr>
              <a:t>Bàn giao cho nhân viên — Phiếu tóm tắt tư vấn</a:t>
            </a:r>
          </a:p>
        </p:txBody>
      </p:sp>
      <p:sp>
        <p:nvSpPr>
          <p:cNvPr id="3" name="TextBox 2"/>
          <p:cNvSpPr txBox="1"/>
          <p:nvPr/>
        </p:nvSpPr>
        <p:spPr>
          <a:xfrm>
            <a:off x="700000" y="1130000"/>
            <a:ext cx="10792000" cy="400000"/>
          </a:xfrm>
          <a:prstGeom prst="rect">
            <a:avLst/>
          </a:prstGeom>
          <a:noFill/>
        </p:spPr>
        <p:txBody>
          <a:bodyPr wrap="square">
            <a:spAutoFit/>
          </a:bodyPr>
          <a:lstStyle/>
          <a:p>
            <a:pPr algn="ctr"/>
            <a:r>
              <a:rPr sz="1500" b="0" i="1">
                <a:solidFill>
                  <a:srgbClr val="0F4C81"/>
                </a:solidFill>
                <a:latin typeface="Times New Roman"/>
              </a:rPr>
              <a:t>Nén một cuộc trò chuyện dài thành thứ đọc được trong thời gian ngắn.</a:t>
            </a:r>
          </a:p>
        </p:txBody>
      </p:sp>
      <p:sp>
        <p:nvSpPr>
          <p:cNvPr id="4" name="Rounded Rectangle 3"/>
          <p:cNvSpPr/>
          <p:nvPr/>
        </p:nvSpPr>
        <p:spPr>
          <a:xfrm>
            <a:off x="1600000" y="1800000"/>
            <a:ext cx="4400000" cy="4200000"/>
          </a:xfrm>
          <a:prstGeom prst="roundRect">
            <a:avLst/>
          </a:prstGeom>
          <a:solidFill>
            <a:srgbClr val="FDF3E3"/>
          </a:solidFill>
          <a:ln w="12700">
            <a:solidFill>
              <a:srgbClr val="C0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00000" y="1950000"/>
            <a:ext cx="4050000" cy="3950000"/>
          </a:xfrm>
          <a:prstGeom prst="rect">
            <a:avLst/>
          </a:prstGeom>
          <a:noFill/>
        </p:spPr>
        <p:txBody>
          <a:bodyPr wrap="square">
            <a:spAutoFit/>
          </a:bodyPr>
          <a:lstStyle/>
          <a:p>
            <a:pPr algn="l"/>
            <a:r>
              <a:rPr sz="1350" b="1" i="0">
                <a:solidFill>
                  <a:srgbClr val="C06A00"/>
                </a:solidFill>
                <a:latin typeface="Times New Roman"/>
              </a:rPr>
              <a:t>Ứng viên  ·  </a:t>
            </a:r>
            <a:r>
              <a:rPr sz="1300" b="0" i="0">
                <a:solidFill>
                  <a:srgbClr val="444444"/>
                </a:solidFill>
                <a:latin typeface="Times New Roman"/>
              </a:rPr>
              <a:t>họ tên, tuổi, cách liên hệ</a:t>
            </a:r>
          </a:p>
          <a:p>
            <a:pPr algn="l">
              <a:spcBef>
                <a:spcPts val="1400"/>
              </a:spcBef>
            </a:pPr>
            <a:r>
              <a:rPr sz="1350" b="1" i="0">
                <a:solidFill>
                  <a:srgbClr val="C06A00"/>
                </a:solidFill>
                <a:latin typeface="Times New Roman"/>
              </a:rPr>
              <a:t>Bằng cấp  ·  </a:t>
            </a:r>
            <a:r>
              <a:rPr sz="1300" b="0" i="0">
                <a:solidFill>
                  <a:srgbClr val="444444"/>
                </a:solidFill>
                <a:latin typeface="Times New Roman"/>
              </a:rPr>
              <a:t>chuyên ngành đào tạo</a:t>
            </a:r>
          </a:p>
          <a:p>
            <a:pPr algn="l">
              <a:spcBef>
                <a:spcPts val="1400"/>
              </a:spcBef>
            </a:pPr>
            <a:r>
              <a:rPr sz="1350" b="1" i="0">
                <a:solidFill>
                  <a:srgbClr val="C06A00"/>
                </a:solidFill>
                <a:latin typeface="Times New Roman"/>
              </a:rPr>
              <a:t>Tiếng Nhật  ·  </a:t>
            </a:r>
            <a:r>
              <a:rPr sz="1300" b="0" i="0">
                <a:solidFill>
                  <a:srgbClr val="444444"/>
                </a:solidFill>
                <a:latin typeface="Times New Roman"/>
              </a:rPr>
              <a:t>trình độ chứng chỉ</a:t>
            </a:r>
          </a:p>
          <a:p>
            <a:pPr algn="l">
              <a:spcBef>
                <a:spcPts val="1400"/>
              </a:spcBef>
            </a:pPr>
            <a:r>
              <a:rPr sz="1350" b="1" i="0">
                <a:solidFill>
                  <a:srgbClr val="C06A00"/>
                </a:solidFill>
                <a:latin typeface="Times New Roman"/>
              </a:rPr>
              <a:t>Nguyện vọng  ·  </a:t>
            </a:r>
            <a:r>
              <a:rPr sz="1300" b="0" i="0">
                <a:solidFill>
                  <a:srgbClr val="444444"/>
                </a:solidFill>
                <a:latin typeface="Times New Roman"/>
              </a:rPr>
              <a:t>khu vực, loại hình cơ sở</a:t>
            </a:r>
          </a:p>
          <a:p>
            <a:pPr algn="l">
              <a:spcBef>
                <a:spcPts val="1400"/>
              </a:spcBef>
            </a:pPr>
            <a:r>
              <a:rPr sz="1350" b="1" i="0">
                <a:solidFill>
                  <a:srgbClr val="C06A00"/>
                </a:solidFill>
                <a:latin typeface="Times New Roman"/>
              </a:rPr>
              <a:t>Điểm mạnh  ·  </a:t>
            </a:r>
            <a:r>
              <a:rPr sz="1300" b="0" i="0">
                <a:solidFill>
                  <a:srgbClr val="444444"/>
                </a:solidFill>
                <a:latin typeface="Times New Roman"/>
              </a:rPr>
              <a:t>các tiêu chí đã đạt</a:t>
            </a:r>
          </a:p>
          <a:p>
            <a:pPr algn="l">
              <a:spcBef>
                <a:spcPts val="1400"/>
              </a:spcBef>
            </a:pPr>
            <a:r>
              <a:rPr sz="1350" b="1" i="0">
                <a:solidFill>
                  <a:srgbClr val="C06A00"/>
                </a:solidFill>
                <a:latin typeface="Times New Roman"/>
              </a:rPr>
              <a:t>Còn thiếu  ·  </a:t>
            </a:r>
            <a:r>
              <a:rPr sz="1300" b="0" i="0">
                <a:solidFill>
                  <a:srgbClr val="444444"/>
                </a:solidFill>
                <a:latin typeface="Times New Roman"/>
              </a:rPr>
              <a:t>các tiêu chí chưa đạt</a:t>
            </a:r>
          </a:p>
          <a:p>
            <a:pPr algn="l">
              <a:spcBef>
                <a:spcPts val="1400"/>
              </a:spcBef>
            </a:pPr>
            <a:r>
              <a:rPr sz="1350" b="1" i="0">
                <a:solidFill>
                  <a:srgbClr val="C06A00"/>
                </a:solidFill>
                <a:latin typeface="Times New Roman"/>
              </a:rPr>
              <a:t>Đã giới thiệu  ·  </a:t>
            </a:r>
            <a:r>
              <a:rPr sz="1300" b="0" i="0">
                <a:solidFill>
                  <a:srgbClr val="444444"/>
                </a:solidFill>
                <a:latin typeface="Times New Roman"/>
              </a:rPr>
              <a:t>đơn kèm lý do từng đơn</a:t>
            </a:r>
          </a:p>
          <a:p>
            <a:pPr algn="l">
              <a:spcBef>
                <a:spcPts val="1400"/>
              </a:spcBef>
            </a:pPr>
            <a:r>
              <a:rPr sz="1350" b="1" i="0">
                <a:solidFill>
                  <a:srgbClr val="C06A00"/>
                </a:solidFill>
                <a:latin typeface="Times New Roman"/>
              </a:rPr>
              <a:t>Đơn đã chọn  ·  </a:t>
            </a:r>
            <a:r>
              <a:rPr sz="1300" b="0" i="0">
                <a:solidFill>
                  <a:srgbClr val="444444"/>
                </a:solidFill>
                <a:latin typeface="Times New Roman"/>
              </a:rPr>
              <a:t>đơn ứng viên đã xác nhận</a:t>
            </a:r>
          </a:p>
          <a:p>
            <a:pPr algn="l">
              <a:spcBef>
                <a:spcPts val="1400"/>
              </a:spcBef>
            </a:pPr>
            <a:r>
              <a:rPr sz="1350" b="1" i="0">
                <a:solidFill>
                  <a:srgbClr val="C06A00"/>
                </a:solidFill>
                <a:latin typeface="Times New Roman"/>
              </a:rPr>
              <a:t>Hẹn gọi lại  ·  </a:t>
            </a:r>
            <a:r>
              <a:rPr sz="1300" b="0" i="0">
                <a:solidFill>
                  <a:srgbClr val="444444"/>
                </a:solidFill>
                <a:latin typeface="Times New Roman"/>
              </a:rPr>
              <a:t>khung giờ đã chọn</a:t>
            </a:r>
          </a:p>
        </p:txBody>
      </p:sp>
      <p:sp>
        <p:nvSpPr>
          <p:cNvPr id="6" name="Rounded Rectangle 5"/>
          <p:cNvSpPr/>
          <p:nvPr/>
        </p:nvSpPr>
        <p:spPr>
          <a:xfrm>
            <a:off x="6300000" y="1800000"/>
            <a:ext cx="5190000" cy="4200000"/>
          </a:xfrm>
          <a:prstGeom prst="roundRect">
            <a:avLst/>
          </a:prstGeom>
          <a:solidFill>
            <a:srgbClr val="F0F4F8"/>
          </a:solidFill>
          <a:ln w="12700">
            <a:solidFill>
              <a:srgbClr val="0F4C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00000" y="1950000"/>
            <a:ext cx="4800000" cy="3950000"/>
          </a:xfrm>
          <a:prstGeom prst="rect">
            <a:avLst/>
          </a:prstGeom>
          <a:noFill/>
        </p:spPr>
        <p:txBody>
          <a:bodyPr wrap="square">
            <a:spAutoFit/>
          </a:bodyPr>
          <a:lstStyle/>
          <a:p>
            <a:pPr algn="l"/>
            <a:r>
              <a:rPr sz="1700" b="1" i="0">
                <a:solidFill>
                  <a:srgbClr val="0F4C81"/>
                </a:solidFill>
                <a:latin typeface="Times New Roman"/>
              </a:rPr>
              <a:t>Vì sao cần phiếu này</a:t>
            </a:r>
          </a:p>
          <a:p>
            <a:pPr algn="l">
              <a:spcBef>
                <a:spcPts val="1400"/>
              </a:spcBef>
            </a:pPr>
            <a:r>
              <a:rPr sz="1400" b="0" i="0">
                <a:solidFill>
                  <a:srgbClr val="444444"/>
                </a:solidFill>
                <a:latin typeface="Times New Roman"/>
              </a:rPr>
              <a:t>Nhân viên vào ca, mở hàng đợi, nhận một hồ sơ về mình là thấy ngay toàn bộ bối cảnh — không phải đọc lại cuộc hội thoại dài.</a:t>
            </a:r>
          </a:p>
          <a:p>
            <a:pPr algn="l">
              <a:spcBef>
                <a:spcPts val="1400"/>
              </a:spcBef>
            </a:pPr>
            <a:r>
              <a:rPr sz="1400" b="0" i="0">
                <a:solidFill>
                  <a:srgbClr val="444444"/>
                </a:solidFill>
                <a:latin typeface="Times New Roman"/>
              </a:rPr>
              <a:t>CV và hội thoại gốc vẫn đi kèm để đối chiếu khi cần, nhưng không bắt buộc phải đọc.</a:t>
            </a:r>
          </a:p>
          <a:p>
            <a:pPr algn="l">
              <a:spcBef>
                <a:spcPts val="1400"/>
              </a:spcBef>
            </a:pPr>
            <a:r>
              <a:rPr sz="1400" b="0" i="0">
                <a:solidFill>
                  <a:srgbClr val="444444"/>
                </a:solidFill>
                <a:latin typeface="Times New Roman"/>
              </a:rPr>
              <a:t>Mỗi hồ sơ có đúng một người phụ trách tại một thời điểm; mọi lần chuyển trạng thái đều lưu người thao tác, thời điểm và lý do.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00000" y="380000"/>
            <a:ext cx="10792000" cy="760000"/>
          </a:xfrm>
          <a:prstGeom prst="rect">
            <a:avLst/>
          </a:prstGeom>
          <a:noFill/>
        </p:spPr>
        <p:txBody>
          <a:bodyPr wrap="square">
            <a:spAutoFit/>
          </a:bodyPr>
          <a:lstStyle/>
          <a:p>
            <a:r>
              <a:rPr sz="2800" b="1">
                <a:solidFill>
                  <a:srgbClr val="0F4C81"/>
                </a:solidFill>
                <a:latin typeface="Times New Roman"/>
              </a:rPr>
              <a:t>5. Đơn tuyển dụng và cách giới thiệu việc làm</a:t>
            </a:r>
          </a:p>
        </p:txBody>
      </p:sp>
      <p:sp>
        <p:nvSpPr>
          <p:cNvPr id="3" name="Rounded Rectangle 2"/>
          <p:cNvSpPr/>
          <p:nvPr/>
        </p:nvSpPr>
        <p:spPr>
          <a:xfrm>
            <a:off x="700000" y="1320000"/>
            <a:ext cx="5150000" cy="460000"/>
          </a:xfrm>
          <a:prstGeom prst="roundRect">
            <a:avLst/>
          </a:prstGeom>
          <a:solidFill>
            <a:srgbClr val="0F4C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Times New Roman"/>
              </a:rPr>
              <a:t>Một đơn gồm những thông tin gì</a:t>
            </a:r>
          </a:p>
        </p:txBody>
      </p:sp>
      <p:sp>
        <p:nvSpPr>
          <p:cNvPr id="4" name="Rounded Rectangle 3"/>
          <p:cNvSpPr/>
          <p:nvPr/>
        </p:nvSpPr>
        <p:spPr>
          <a:xfrm>
            <a:off x="700000" y="1850000"/>
            <a:ext cx="5150000" cy="2050000"/>
          </a:xfrm>
          <a:prstGeom prst="roundRect">
            <a:avLst/>
          </a:prstGeom>
          <a:solidFill>
            <a:srgbClr val="F0F4F8"/>
          </a:solidFill>
          <a:ln w="12700">
            <a:solidFill>
              <a:srgbClr val="0F4C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00000" y="1960000"/>
            <a:ext cx="4750000" cy="1900000"/>
          </a:xfrm>
          <a:prstGeom prst="rect">
            <a:avLst/>
          </a:prstGeom>
          <a:noFill/>
        </p:spPr>
        <p:txBody>
          <a:bodyPr wrap="square">
            <a:spAutoFit/>
          </a:bodyPr>
          <a:lstStyle/>
          <a:p>
            <a:pPr algn="l"/>
            <a:r>
              <a:rPr sz="1350" b="1" i="0">
                <a:solidFill>
                  <a:srgbClr val="0F4C81"/>
                </a:solidFill>
                <a:latin typeface="Times New Roman"/>
              </a:rPr>
              <a:t>Nhận diện. </a:t>
            </a:r>
            <a:r>
              <a:rPr sz="1300" b="0" i="0">
                <a:solidFill>
                  <a:srgbClr val="444444"/>
                </a:solidFill>
                <a:latin typeface="Times New Roman"/>
              </a:rPr>
              <a:t>Mã đơn, cơ sở tiếp nhận, loại hình, diện chương trình, tỉnh và vùng.</a:t>
            </a:r>
          </a:p>
          <a:p>
            <a:pPr algn="l">
              <a:spcBef>
                <a:spcPts val="1100"/>
              </a:spcBef>
            </a:pPr>
            <a:r>
              <a:rPr sz="1350" b="1" i="0">
                <a:solidFill>
                  <a:srgbClr val="B32D2D"/>
                </a:solidFill>
                <a:latin typeface="Times New Roman"/>
              </a:rPr>
              <a:t>Điều kiện bắt buộc. </a:t>
            </a:r>
            <a:r>
              <a:rPr sz="1300" b="0" i="0">
                <a:solidFill>
                  <a:srgbClr val="444444"/>
                </a:solidFill>
                <a:latin typeface="Times New Roman"/>
              </a:rPr>
              <a:t>Tiếng Nhật, bằng cấp, kinh nghiệm, khoảng tuổi, hạn nộp.</a:t>
            </a:r>
          </a:p>
          <a:p>
            <a:pPr algn="l">
              <a:spcBef>
                <a:spcPts val="1100"/>
              </a:spcBef>
            </a:pPr>
            <a:r>
              <a:rPr sz="1350" b="1" i="0">
                <a:solidFill>
                  <a:srgbClr val="1E7A3C"/>
                </a:solidFill>
                <a:latin typeface="Times New Roman"/>
              </a:rPr>
              <a:t>Thông tin tham khảo. </a:t>
            </a:r>
            <a:r>
              <a:rPr sz="1300" b="0" i="0">
                <a:solidFill>
                  <a:srgbClr val="444444"/>
                </a:solidFill>
                <a:latin typeface="Times New Roman"/>
              </a:rPr>
              <a:t>Lương, phụ cấp, chi phí, dự kiến phỏng vấn và xuất cảnh.</a:t>
            </a:r>
          </a:p>
        </p:txBody>
      </p:sp>
      <p:sp>
        <p:nvSpPr>
          <p:cNvPr id="6" name="Rounded Rectangle 5"/>
          <p:cNvSpPr/>
          <p:nvPr/>
        </p:nvSpPr>
        <p:spPr>
          <a:xfrm>
            <a:off x="700000" y="4050000"/>
            <a:ext cx="5150000" cy="1700000"/>
          </a:xfrm>
          <a:prstGeom prst="roundRect">
            <a:avLst/>
          </a:prstGeom>
          <a:solidFill>
            <a:srgbClr val="FDF3E3"/>
          </a:solidFill>
          <a:ln w="12700">
            <a:solidFill>
              <a:srgbClr val="C0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0000" y="4160000"/>
            <a:ext cx="4750000" cy="1550000"/>
          </a:xfrm>
          <a:prstGeom prst="rect">
            <a:avLst/>
          </a:prstGeom>
          <a:noFill/>
        </p:spPr>
        <p:txBody>
          <a:bodyPr wrap="square">
            <a:spAutoFit/>
          </a:bodyPr>
          <a:lstStyle/>
          <a:p>
            <a:pPr algn="l"/>
            <a:r>
              <a:rPr sz="1400" b="1" i="0">
                <a:solidFill>
                  <a:srgbClr val="C06A00"/>
                </a:solidFill>
                <a:latin typeface="Times New Roman"/>
              </a:rPr>
              <a:t>Vì sao phải tách bạch ngay từ lúc nhập liệu?</a:t>
            </a:r>
          </a:p>
          <a:p>
            <a:pPr algn="l">
              <a:spcBef>
                <a:spcPts val="800"/>
              </a:spcBef>
            </a:pPr>
            <a:r>
              <a:rPr sz="1350" b="0" i="0">
                <a:solidFill>
                  <a:srgbClr val="444444"/>
                </a:solidFill>
                <a:latin typeface="Times New Roman"/>
              </a:rPr>
              <a:t>Vì mỗi điều kiện bắt buộc sinh ra đúng một dòng “đạt” hoặc “không đạt” khi đối chiếu. Nhờ vậy hệ thống giải thích được vì sao giới thiệu đơn này mà không giới thiệu đơn kia.</a:t>
            </a:r>
          </a:p>
        </p:txBody>
      </p:sp>
      <p:sp>
        <p:nvSpPr>
          <p:cNvPr id="8" name="Rounded Rectangle 7"/>
          <p:cNvSpPr/>
          <p:nvPr/>
        </p:nvSpPr>
        <p:spPr>
          <a:xfrm>
            <a:off x="6340000" y="1320000"/>
            <a:ext cx="5150000" cy="460000"/>
          </a:xfrm>
          <a:prstGeom prst="roundRect">
            <a:avLst/>
          </a:prstGeom>
          <a:solidFill>
            <a:srgbClr val="0F4C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Times New Roman"/>
              </a:rPr>
              <a:t>Ba bước giới thiệu</a:t>
            </a:r>
          </a:p>
        </p:txBody>
      </p:sp>
      <p:sp>
        <p:nvSpPr>
          <p:cNvPr id="9" name="Rounded Rectangle 8"/>
          <p:cNvSpPr/>
          <p:nvPr/>
        </p:nvSpPr>
        <p:spPr>
          <a:xfrm>
            <a:off x="6340000" y="1850000"/>
            <a:ext cx="5150000" cy="1150000"/>
          </a:xfrm>
          <a:prstGeom prst="roundRect">
            <a:avLst/>
          </a:prstGeom>
          <a:solidFill>
            <a:srgbClr val="FDECEC"/>
          </a:solidFill>
          <a:ln w="12700">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40000" y="1960000"/>
            <a:ext cx="4750000" cy="1000000"/>
          </a:xfrm>
          <a:prstGeom prst="rect">
            <a:avLst/>
          </a:prstGeom>
          <a:noFill/>
        </p:spPr>
        <p:txBody>
          <a:bodyPr wrap="square">
            <a:spAutoFit/>
          </a:bodyPr>
          <a:lstStyle/>
          <a:p>
            <a:pPr algn="l"/>
            <a:r>
              <a:rPr sz="1500" b="1" i="0">
                <a:solidFill>
                  <a:srgbClr val="B32D2D"/>
                </a:solidFill>
                <a:latin typeface="Times New Roman"/>
              </a:rPr>
              <a:t>Bước 1 — Loại trừ</a:t>
            </a:r>
          </a:p>
          <a:p>
            <a:pPr algn="l">
              <a:spcBef>
                <a:spcPts val="600"/>
              </a:spcBef>
            </a:pPr>
            <a:r>
              <a:rPr sz="1300" b="0" i="0">
                <a:solidFill>
                  <a:srgbClr val="444444"/>
                </a:solidFill>
                <a:latin typeface="Times New Roman"/>
              </a:rPr>
              <a:t>Bỏ đơn ứng viên chắc chắn không đủ điều kiện. Sai một điều kiện bắt buộc là loại.</a:t>
            </a:r>
          </a:p>
        </p:txBody>
      </p:sp>
      <p:sp>
        <p:nvSpPr>
          <p:cNvPr id="11" name="Rounded Rectangle 10"/>
          <p:cNvSpPr/>
          <p:nvPr/>
        </p:nvSpPr>
        <p:spPr>
          <a:xfrm>
            <a:off x="6340000" y="3150000"/>
            <a:ext cx="5150000" cy="1150000"/>
          </a:xfrm>
          <a:prstGeom prst="roundRect">
            <a:avLst/>
          </a:prstGeom>
          <a:solidFill>
            <a:srgbClr val="F0F4F8"/>
          </a:solidFill>
          <a:ln w="12700">
            <a:solidFill>
              <a:srgbClr val="0F4C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40000" y="3260000"/>
            <a:ext cx="4750000" cy="1000000"/>
          </a:xfrm>
          <a:prstGeom prst="rect">
            <a:avLst/>
          </a:prstGeom>
          <a:noFill/>
        </p:spPr>
        <p:txBody>
          <a:bodyPr wrap="square">
            <a:spAutoFit/>
          </a:bodyPr>
          <a:lstStyle/>
          <a:p>
            <a:pPr algn="l"/>
            <a:r>
              <a:rPr sz="1500" b="1" i="0">
                <a:solidFill>
                  <a:srgbClr val="0F4C81"/>
                </a:solidFill>
                <a:latin typeface="Times New Roman"/>
              </a:rPr>
              <a:t>Bước 2 — Sắp xếp</a:t>
            </a:r>
          </a:p>
          <a:p>
            <a:pPr algn="l">
              <a:spcBef>
                <a:spcPts val="600"/>
              </a:spcBef>
            </a:pPr>
            <a:r>
              <a:rPr sz="1300" b="0" i="0">
                <a:solidFill>
                  <a:srgbClr val="444444"/>
                </a:solidFill>
                <a:latin typeface="Times New Roman"/>
              </a:rPr>
              <a:t>Các đơn còn lại xếp theo mức độ khớp nguyện vọng: khu vực, loại hình, mức lương.</a:t>
            </a:r>
          </a:p>
        </p:txBody>
      </p:sp>
      <p:sp>
        <p:nvSpPr>
          <p:cNvPr id="13" name="Rounded Rectangle 12"/>
          <p:cNvSpPr/>
          <p:nvPr/>
        </p:nvSpPr>
        <p:spPr>
          <a:xfrm>
            <a:off x="6340000" y="4450000"/>
            <a:ext cx="5150000" cy="1150000"/>
          </a:xfrm>
          <a:prstGeom prst="roundRect">
            <a:avLst/>
          </a:prstGeom>
          <a:solidFill>
            <a:srgbClr val="ECF7F0"/>
          </a:solidFill>
          <a:ln w="12700">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40000" y="4560000"/>
            <a:ext cx="4750000" cy="1000000"/>
          </a:xfrm>
          <a:prstGeom prst="rect">
            <a:avLst/>
          </a:prstGeom>
          <a:noFill/>
        </p:spPr>
        <p:txBody>
          <a:bodyPr wrap="square">
            <a:spAutoFit/>
          </a:bodyPr>
          <a:lstStyle/>
          <a:p>
            <a:pPr algn="l"/>
            <a:r>
              <a:rPr sz="1500" b="1" i="0">
                <a:solidFill>
                  <a:srgbClr val="1E7A3C"/>
                </a:solidFill>
                <a:latin typeface="Times New Roman"/>
              </a:rPr>
              <a:t>Bước 3 — Giải thích</a:t>
            </a:r>
          </a:p>
          <a:p>
            <a:pPr algn="l">
              <a:spcBef>
                <a:spcPts val="600"/>
              </a:spcBef>
            </a:pPr>
            <a:r>
              <a:rPr sz="1300" b="0" i="0">
                <a:solidFill>
                  <a:srgbClr val="444444"/>
                </a:solidFill>
                <a:latin typeface="Times New Roman"/>
              </a:rPr>
              <a:t>Ghi rõ từng tiêu chí đạt hay chưa đạt và ứng viên còn thiếu điểm nào.</a:t>
            </a:r>
          </a:p>
        </p:txBody>
      </p:sp>
      <p:sp>
        <p:nvSpPr>
          <p:cNvPr id="15" name="TextBox 14"/>
          <p:cNvSpPr txBox="1"/>
          <p:nvPr/>
        </p:nvSpPr>
        <p:spPr>
          <a:xfrm>
            <a:off x="6340000" y="5800000"/>
            <a:ext cx="5150000" cy="500000"/>
          </a:xfrm>
          <a:prstGeom prst="rect">
            <a:avLst/>
          </a:prstGeom>
          <a:noFill/>
        </p:spPr>
        <p:txBody>
          <a:bodyPr wrap="square">
            <a:spAutoFit/>
          </a:bodyPr>
          <a:lstStyle/>
          <a:p>
            <a:pPr algn="ctr"/>
            <a:r>
              <a:rPr sz="1300" b="0" i="1">
                <a:solidFill>
                  <a:srgbClr val="444444"/>
                </a:solidFill>
                <a:latin typeface="Times New Roman"/>
              </a:rPr>
              <a:t>Cùng một hồ sơ và cùng một danh mục thì luôn cho ra cùng một kết quả.</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00000" y="380000"/>
            <a:ext cx="10792000" cy="760000"/>
          </a:xfrm>
          <a:prstGeom prst="rect">
            <a:avLst/>
          </a:prstGeom>
          <a:noFill/>
        </p:spPr>
        <p:txBody>
          <a:bodyPr wrap="square">
            <a:spAutoFit/>
          </a:bodyPr>
          <a:lstStyle/>
          <a:p>
            <a:r>
              <a:rPr sz="2800" b="1">
                <a:solidFill>
                  <a:srgbClr val="0F4C81"/>
                </a:solidFill>
                <a:latin typeface="Times New Roman"/>
              </a:rPr>
              <a:t>Vì sao không dùng thẳng một trợ lý trò chuyện có sẵn?</a:t>
            </a:r>
          </a:p>
        </p:txBody>
      </p:sp>
      <p:sp>
        <p:nvSpPr>
          <p:cNvPr id="3" name="TextBox 2"/>
          <p:cNvSpPr txBox="1"/>
          <p:nvPr/>
        </p:nvSpPr>
        <p:spPr>
          <a:xfrm>
            <a:off x="700000" y="1130000"/>
            <a:ext cx="10792000" cy="400000"/>
          </a:xfrm>
          <a:prstGeom prst="rect">
            <a:avLst/>
          </a:prstGeom>
          <a:noFill/>
        </p:spPr>
        <p:txBody>
          <a:bodyPr wrap="square">
            <a:spAutoFit/>
          </a:bodyPr>
          <a:lstStyle/>
          <a:p>
            <a:pPr algn="ctr"/>
            <a:r>
              <a:rPr sz="1500" b="0" i="1">
                <a:solidFill>
                  <a:srgbClr val="0F4C81"/>
                </a:solidFill>
                <a:latin typeface="Times New Roman"/>
              </a:rPr>
              <a:t>Mô hình ngôn ngữ chịu trách nhiệm diễn đạt. Quyết định nghiệp vụ do quy tắc tường minh đảm nhiệm.</a:t>
            </a:r>
          </a:p>
        </p:txBody>
      </p:sp>
      <p:sp>
        <p:nvSpPr>
          <p:cNvPr id="4" name="Rounded Rectangle 3"/>
          <p:cNvSpPr/>
          <p:nvPr/>
        </p:nvSpPr>
        <p:spPr>
          <a:xfrm>
            <a:off x="700000" y="1800000"/>
            <a:ext cx="5246000" cy="1300000"/>
          </a:xfrm>
          <a:prstGeom prst="roundRect">
            <a:avLst/>
          </a:prstGeom>
          <a:solidFill>
            <a:srgbClr val="F0F4F8"/>
          </a:solidFill>
          <a:ln w="12700">
            <a:solidFill>
              <a:srgbClr val="0F4C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0000" y="1920000"/>
            <a:ext cx="4886000" cy="1100000"/>
          </a:xfrm>
          <a:prstGeom prst="rect">
            <a:avLst/>
          </a:prstGeom>
          <a:noFill/>
        </p:spPr>
        <p:txBody>
          <a:bodyPr wrap="square">
            <a:spAutoFit/>
          </a:bodyPr>
          <a:lstStyle/>
          <a:p>
            <a:pPr algn="l"/>
            <a:r>
              <a:rPr sz="1500" b="1" i="0">
                <a:solidFill>
                  <a:srgbClr val="0F4C81"/>
                </a:solidFill>
                <a:latin typeface="Times New Roman"/>
              </a:rPr>
              <a:t>✓  Chỉ nói điều có trong tài liệu</a:t>
            </a:r>
          </a:p>
          <a:p>
            <a:pPr algn="l">
              <a:spcBef>
                <a:spcPts val="600"/>
              </a:spcBef>
            </a:pPr>
            <a:r>
              <a:rPr sz="1300" b="0" i="0">
                <a:solidFill>
                  <a:srgbClr val="444444"/>
                </a:solidFill>
                <a:latin typeface="Times New Roman"/>
              </a:rPr>
              <a:t>Không trả lời theo hiểu biết chung chung. Không đủ căn cứ thì nói rõ là chưa có thông tin và mời gặp nhân viên.</a:t>
            </a:r>
          </a:p>
        </p:txBody>
      </p:sp>
      <p:sp>
        <p:nvSpPr>
          <p:cNvPr id="6" name="Rounded Rectangle 5"/>
          <p:cNvSpPr/>
          <p:nvPr/>
        </p:nvSpPr>
        <p:spPr>
          <a:xfrm>
            <a:off x="6246000" y="1800000"/>
            <a:ext cx="5246000" cy="1300000"/>
          </a:xfrm>
          <a:prstGeom prst="roundRect">
            <a:avLst/>
          </a:prstGeom>
          <a:solidFill>
            <a:srgbClr val="F0F4F8"/>
          </a:solidFill>
          <a:ln w="12700">
            <a:solidFill>
              <a:srgbClr val="0F4C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26000" y="1920000"/>
            <a:ext cx="4886000" cy="1100000"/>
          </a:xfrm>
          <a:prstGeom prst="rect">
            <a:avLst/>
          </a:prstGeom>
          <a:noFill/>
        </p:spPr>
        <p:txBody>
          <a:bodyPr wrap="square">
            <a:spAutoFit/>
          </a:bodyPr>
          <a:lstStyle/>
          <a:p>
            <a:pPr algn="l"/>
            <a:r>
              <a:rPr sz="1500" b="1" i="0">
                <a:solidFill>
                  <a:srgbClr val="0F4C81"/>
                </a:solidFill>
                <a:latin typeface="Times New Roman"/>
              </a:rPr>
              <a:t>✓  Điều kiện do quy tắc quyết định</a:t>
            </a:r>
          </a:p>
          <a:p>
            <a:pPr algn="l">
              <a:spcBef>
                <a:spcPts val="600"/>
              </a:spcBef>
            </a:pPr>
            <a:r>
              <a:rPr sz="1300" b="0" i="0">
                <a:solidFill>
                  <a:srgbClr val="444444"/>
                </a:solidFill>
                <a:latin typeface="Times New Roman"/>
              </a:rPr>
              <a:t>Tiếng Nhật, bằng cấp, độ tuổi được đối chiếu bằng quy tắc rõ ràng. Cùng hồ sơ luôn cho cùng kết quả.</a:t>
            </a:r>
          </a:p>
        </p:txBody>
      </p:sp>
      <p:sp>
        <p:nvSpPr>
          <p:cNvPr id="8" name="Rounded Rectangle 7"/>
          <p:cNvSpPr/>
          <p:nvPr/>
        </p:nvSpPr>
        <p:spPr>
          <a:xfrm>
            <a:off x="700000" y="3250000"/>
            <a:ext cx="5246000" cy="1300000"/>
          </a:xfrm>
          <a:prstGeom prst="roundRect">
            <a:avLst/>
          </a:prstGeom>
          <a:solidFill>
            <a:srgbClr val="F0F4F8"/>
          </a:solidFill>
          <a:ln w="12700">
            <a:solidFill>
              <a:srgbClr val="0F4C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0000" y="3370000"/>
            <a:ext cx="4886000" cy="1100000"/>
          </a:xfrm>
          <a:prstGeom prst="rect">
            <a:avLst/>
          </a:prstGeom>
          <a:noFill/>
        </p:spPr>
        <p:txBody>
          <a:bodyPr wrap="square">
            <a:spAutoFit/>
          </a:bodyPr>
          <a:lstStyle/>
          <a:p>
            <a:pPr algn="l"/>
            <a:r>
              <a:rPr sz="1500" b="1" i="0">
                <a:solidFill>
                  <a:srgbClr val="0F4C81"/>
                </a:solidFill>
                <a:latin typeface="Times New Roman"/>
              </a:rPr>
              <a:t>✓  Mọi giới thiệu đều giải thích được</a:t>
            </a:r>
          </a:p>
          <a:p>
            <a:pPr algn="l">
              <a:spcBef>
                <a:spcPts val="600"/>
              </a:spcBef>
            </a:pPr>
            <a:r>
              <a:rPr sz="1300" b="0" i="0">
                <a:solidFill>
                  <a:srgbClr val="444444"/>
                </a:solidFill>
                <a:latin typeface="Times New Roman"/>
              </a:rPr>
              <a:t>Từng tiêu chí đạt hay không đều được ghi lại và xem lại được bất cứ lúc nào.</a:t>
            </a:r>
          </a:p>
        </p:txBody>
      </p:sp>
      <p:sp>
        <p:nvSpPr>
          <p:cNvPr id="10" name="Rounded Rectangle 9"/>
          <p:cNvSpPr/>
          <p:nvPr/>
        </p:nvSpPr>
        <p:spPr>
          <a:xfrm>
            <a:off x="6246000" y="3250000"/>
            <a:ext cx="5246000" cy="1300000"/>
          </a:xfrm>
          <a:prstGeom prst="roundRect">
            <a:avLst/>
          </a:prstGeom>
          <a:solidFill>
            <a:srgbClr val="F0F4F8"/>
          </a:solidFill>
          <a:ln w="12700">
            <a:solidFill>
              <a:srgbClr val="0F4C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6000" y="3370000"/>
            <a:ext cx="4886000" cy="1100000"/>
          </a:xfrm>
          <a:prstGeom prst="rect">
            <a:avLst/>
          </a:prstGeom>
          <a:noFill/>
        </p:spPr>
        <p:txBody>
          <a:bodyPr wrap="square">
            <a:spAutoFit/>
          </a:bodyPr>
          <a:lstStyle/>
          <a:p>
            <a:pPr algn="l"/>
            <a:r>
              <a:rPr sz="1500" b="1" i="0">
                <a:solidFill>
                  <a:srgbClr val="0F4C81"/>
                </a:solidFill>
                <a:latin typeface="Times New Roman"/>
              </a:rPr>
              <a:t>✓  Không suy diễn về con người</a:t>
            </a:r>
          </a:p>
          <a:p>
            <a:pPr algn="l">
              <a:spcBef>
                <a:spcPts val="600"/>
              </a:spcBef>
            </a:pPr>
            <a:r>
              <a:rPr sz="1300" b="0" i="0">
                <a:solidFill>
                  <a:srgbClr val="444444"/>
                </a:solidFill>
                <a:latin typeface="Times New Roman"/>
              </a:rPr>
              <a:t>Chỉ ghi điều có trên giấy tờ hoặc do ứng viên nói. Không nhận xét tính cách hay thái độ.</a:t>
            </a:r>
          </a:p>
        </p:txBody>
      </p:sp>
      <p:sp>
        <p:nvSpPr>
          <p:cNvPr id="12" name="Rounded Rectangle 11"/>
          <p:cNvSpPr/>
          <p:nvPr/>
        </p:nvSpPr>
        <p:spPr>
          <a:xfrm>
            <a:off x="700000" y="4700000"/>
            <a:ext cx="5246000" cy="1300000"/>
          </a:xfrm>
          <a:prstGeom prst="roundRect">
            <a:avLst/>
          </a:prstGeom>
          <a:solidFill>
            <a:srgbClr val="F0F4F8"/>
          </a:solidFill>
          <a:ln w="12700">
            <a:solidFill>
              <a:srgbClr val="0F4C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0000" y="4820000"/>
            <a:ext cx="4886000" cy="1100000"/>
          </a:xfrm>
          <a:prstGeom prst="rect">
            <a:avLst/>
          </a:prstGeom>
          <a:noFill/>
        </p:spPr>
        <p:txBody>
          <a:bodyPr wrap="square">
            <a:spAutoFit/>
          </a:bodyPr>
          <a:lstStyle/>
          <a:p>
            <a:pPr algn="l"/>
            <a:r>
              <a:rPr sz="1500" b="1" i="0">
                <a:solidFill>
                  <a:srgbClr val="0F4C81"/>
                </a:solidFill>
                <a:latin typeface="Times New Roman"/>
              </a:rPr>
              <a:t>✓  Người quyết định cuối là nhân viên</a:t>
            </a:r>
          </a:p>
          <a:p>
            <a:pPr algn="l">
              <a:spcBef>
                <a:spcPts val="600"/>
              </a:spcBef>
            </a:pPr>
            <a:r>
              <a:rPr sz="1300" b="0" i="0">
                <a:solidFill>
                  <a:srgbClr val="444444"/>
                </a:solidFill>
                <a:latin typeface="Times New Roman"/>
              </a:rPr>
              <a:t>Hệ thống sơ tuyển và đề xuất. Nhận hay loại là quyền của con người.</a:t>
            </a:r>
          </a:p>
        </p:txBody>
      </p:sp>
      <p:sp>
        <p:nvSpPr>
          <p:cNvPr id="14" name="Rounded Rectangle 13"/>
          <p:cNvSpPr/>
          <p:nvPr/>
        </p:nvSpPr>
        <p:spPr>
          <a:xfrm>
            <a:off x="6246000" y="4700000"/>
            <a:ext cx="5246000" cy="1300000"/>
          </a:xfrm>
          <a:prstGeom prst="roundRect">
            <a:avLst/>
          </a:prstGeom>
          <a:solidFill>
            <a:srgbClr val="F0F4F8"/>
          </a:solidFill>
          <a:ln w="12700">
            <a:solidFill>
              <a:srgbClr val="0F4C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6000" y="4820000"/>
            <a:ext cx="4886000" cy="1100000"/>
          </a:xfrm>
          <a:prstGeom prst="rect">
            <a:avLst/>
          </a:prstGeom>
          <a:noFill/>
        </p:spPr>
        <p:txBody>
          <a:bodyPr wrap="square">
            <a:spAutoFit/>
          </a:bodyPr>
          <a:lstStyle/>
          <a:p>
            <a:pPr algn="l"/>
            <a:r>
              <a:rPr sz="1500" b="1" i="0">
                <a:solidFill>
                  <a:srgbClr val="0F4C81"/>
                </a:solidFill>
                <a:latin typeface="Times New Roman"/>
              </a:rPr>
              <a:t>✓  Tách bạch công khai và nội bộ</a:t>
            </a:r>
          </a:p>
          <a:p>
            <a:pPr algn="l">
              <a:spcBef>
                <a:spcPts val="600"/>
              </a:spcBef>
            </a:pPr>
            <a:r>
              <a:rPr sz="1300" b="0" i="0">
                <a:solidFill>
                  <a:srgbClr val="444444"/>
                </a:solidFill>
                <a:latin typeface="Times New Roman"/>
              </a:rPr>
              <a:t>Kênh khách hàng không có đường truy cập tới dữ liệu nội bộ.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00000" y="380000"/>
            <a:ext cx="10792000" cy="760000"/>
          </a:xfrm>
          <a:prstGeom prst="rect">
            <a:avLst/>
          </a:prstGeom>
          <a:noFill/>
        </p:spPr>
        <p:txBody>
          <a:bodyPr wrap="square">
            <a:spAutoFit/>
          </a:bodyPr>
          <a:lstStyle/>
          <a:p>
            <a:r>
              <a:rPr sz="2800" b="1">
                <a:solidFill>
                  <a:srgbClr val="0F4C81"/>
                </a:solidFill>
                <a:latin typeface="Times New Roman"/>
              </a:rPr>
              <a:t>6. Kết quả đạt được và hướng phát triển</a:t>
            </a:r>
          </a:p>
        </p:txBody>
      </p:sp>
      <p:sp>
        <p:nvSpPr>
          <p:cNvPr id="3" name="Rounded Rectangle 2"/>
          <p:cNvSpPr/>
          <p:nvPr/>
        </p:nvSpPr>
        <p:spPr>
          <a:xfrm>
            <a:off x="700000" y="1320000"/>
            <a:ext cx="5150000" cy="460000"/>
          </a:xfrm>
          <a:prstGeom prst="roundRect">
            <a:avLst/>
          </a:prstGeom>
          <a:solidFill>
            <a:srgbClr val="1E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Times New Roman"/>
              </a:rPr>
              <a:t>ĐÃ XÂY DỰNG ĐƯỢC</a:t>
            </a:r>
          </a:p>
        </p:txBody>
      </p:sp>
      <p:sp>
        <p:nvSpPr>
          <p:cNvPr id="4" name="Rounded Rectangle 3"/>
          <p:cNvSpPr/>
          <p:nvPr/>
        </p:nvSpPr>
        <p:spPr>
          <a:xfrm>
            <a:off x="700000" y="1850000"/>
            <a:ext cx="5150000" cy="3900000"/>
          </a:xfrm>
          <a:prstGeom prst="roundRect">
            <a:avLst/>
          </a:prstGeom>
          <a:solidFill>
            <a:srgbClr val="ECF7F0"/>
          </a:solidFill>
          <a:ln w="12700">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00000" y="1970000"/>
            <a:ext cx="4750000" cy="3700000"/>
          </a:xfrm>
          <a:prstGeom prst="rect">
            <a:avLst/>
          </a:prstGeom>
          <a:noFill/>
        </p:spPr>
        <p:txBody>
          <a:bodyPr wrap="square">
            <a:spAutoFit/>
          </a:bodyPr>
          <a:lstStyle/>
          <a:p>
            <a:pPr algn="l"/>
            <a:r>
              <a:rPr sz="1350" b="0" i="0">
                <a:solidFill>
                  <a:srgbClr val="444444"/>
                </a:solidFill>
                <a:latin typeface="Times New Roman"/>
              </a:rPr>
              <a:t>✓ Tư vấn tự động theo tài liệu doanh nghiệp, giữ ngữ cảnh nhiều lượt</a:t>
            </a:r>
          </a:p>
          <a:p>
            <a:pPr algn="l">
              <a:spcBef>
                <a:spcPts val="1400"/>
              </a:spcBef>
            </a:pPr>
            <a:r>
              <a:rPr sz="1350" b="0" i="0">
                <a:solidFill>
                  <a:srgbClr val="444444"/>
                </a:solidFill>
                <a:latin typeface="Times New Roman"/>
              </a:rPr>
              <a:t>✓ Từ chối trả lời khi không đủ căn cứ, không đoán bừa</a:t>
            </a:r>
          </a:p>
          <a:p>
            <a:pPr algn="l">
              <a:spcBef>
                <a:spcPts val="1400"/>
              </a:spcBef>
            </a:pPr>
            <a:r>
              <a:rPr sz="1350" b="0" i="0">
                <a:solidFill>
                  <a:srgbClr val="444444"/>
                </a:solidFill>
                <a:latin typeface="Times New Roman"/>
              </a:rPr>
              <a:t>✓ Đặt lịch tư vấn và bàn giao lịch hẹn cho nhân viên</a:t>
            </a:r>
          </a:p>
          <a:p>
            <a:pPr algn="l">
              <a:spcBef>
                <a:spcPts val="1400"/>
              </a:spcBef>
            </a:pPr>
            <a:r>
              <a:rPr sz="1350" b="0" i="0">
                <a:solidFill>
                  <a:srgbClr val="444444"/>
                </a:solidFill>
                <a:latin typeface="Times New Roman"/>
              </a:rPr>
              <a:t>✓ Danh mục đơn tuyển dụng, vòng đời trạng thái, nhập hàng loạt</a:t>
            </a:r>
          </a:p>
          <a:p>
            <a:pPr algn="l">
              <a:spcBef>
                <a:spcPts val="1400"/>
              </a:spcBef>
            </a:pPr>
            <a:r>
              <a:rPr sz="1350" b="0" i="0">
                <a:solidFill>
                  <a:srgbClr val="444444"/>
                </a:solidFill>
                <a:latin typeface="Times New Roman"/>
              </a:rPr>
              <a:t>✓ Phân hệ quản trị, phân quyền ba vai trò, nhật ký thao tác</a:t>
            </a:r>
          </a:p>
          <a:p>
            <a:pPr algn="l">
              <a:spcBef>
                <a:spcPts val="1400"/>
              </a:spcBef>
            </a:pPr>
            <a:r>
              <a:rPr sz="1350" b="0" i="0">
                <a:solidFill>
                  <a:srgbClr val="444444"/>
                </a:solidFill>
                <a:latin typeface="Times New Roman"/>
              </a:rPr>
              <a:t>✓ Mô hình kiến trúc tách bạch ba mặt phẳng tin cậy</a:t>
            </a:r>
          </a:p>
        </p:txBody>
      </p:sp>
      <p:sp>
        <p:nvSpPr>
          <p:cNvPr id="6" name="Rounded Rectangle 5"/>
          <p:cNvSpPr/>
          <p:nvPr/>
        </p:nvSpPr>
        <p:spPr>
          <a:xfrm>
            <a:off x="6340000" y="1320000"/>
            <a:ext cx="5150000" cy="460000"/>
          </a:xfrm>
          <a:prstGeom prst="roundRect">
            <a:avLst/>
          </a:prstGeom>
          <a:solidFill>
            <a:srgbClr val="C0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Times New Roman"/>
              </a:rPr>
              <a:t>ĐANG VÀ SẼ LÀM TIẾP</a:t>
            </a:r>
          </a:p>
        </p:txBody>
      </p:sp>
      <p:sp>
        <p:nvSpPr>
          <p:cNvPr id="7" name="Rounded Rectangle 6"/>
          <p:cNvSpPr/>
          <p:nvPr/>
        </p:nvSpPr>
        <p:spPr>
          <a:xfrm>
            <a:off x="6340000" y="1850000"/>
            <a:ext cx="5150000" cy="3900000"/>
          </a:xfrm>
          <a:prstGeom prst="roundRect">
            <a:avLst/>
          </a:prstGeom>
          <a:solidFill>
            <a:srgbClr val="FDF3E3"/>
          </a:solidFill>
          <a:ln w="12700">
            <a:solidFill>
              <a:srgbClr val="C0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40000" y="1970000"/>
            <a:ext cx="4750000" cy="3700000"/>
          </a:xfrm>
          <a:prstGeom prst="rect">
            <a:avLst/>
          </a:prstGeom>
          <a:noFill/>
        </p:spPr>
        <p:txBody>
          <a:bodyPr wrap="square">
            <a:spAutoFit/>
          </a:bodyPr>
          <a:lstStyle/>
          <a:p>
            <a:pPr algn="l"/>
            <a:r>
              <a:rPr sz="1350" b="0" i="0">
                <a:solidFill>
                  <a:srgbClr val="444444"/>
                </a:solidFill>
                <a:latin typeface="Times New Roman"/>
              </a:rPr>
              <a:t>→ Đọc hồ sơ CV và lập hồ sơ ứng viên có cấu trúc</a:t>
            </a:r>
          </a:p>
          <a:p>
            <a:pPr algn="l">
              <a:spcBef>
                <a:spcPts val="1400"/>
              </a:spcBef>
            </a:pPr>
            <a:r>
              <a:rPr sz="1350" b="0" i="0">
                <a:solidFill>
                  <a:srgbClr val="444444"/>
                </a:solidFill>
                <a:latin typeface="Times New Roman"/>
              </a:rPr>
              <a:t>→ Đối chiếu điều kiện và giải thích đơn phù hợp</a:t>
            </a:r>
          </a:p>
          <a:p>
            <a:pPr algn="l">
              <a:spcBef>
                <a:spcPts val="1400"/>
              </a:spcBef>
            </a:pPr>
            <a:r>
              <a:rPr sz="1350" b="0" i="0">
                <a:solidFill>
                  <a:srgbClr val="444444"/>
                </a:solidFill>
                <a:latin typeface="Times New Roman"/>
              </a:rPr>
              <a:t>→ Đăng ký sơ bộ, Phiếu tóm tắt và hàng đợi xử lý</a:t>
            </a:r>
          </a:p>
          <a:p>
            <a:pPr algn="l">
              <a:spcBef>
                <a:spcPts val="1400"/>
              </a:spcBef>
            </a:pPr>
            <a:r>
              <a:rPr sz="1350" b="0" i="0">
                <a:solidFill>
                  <a:srgbClr val="444444"/>
                </a:solidFill>
                <a:latin typeface="Times New Roman"/>
              </a:rPr>
              <a:t>→ Quản lý hiệu suất nhân viên theo sự kiện</a:t>
            </a:r>
          </a:p>
          <a:p>
            <a:pPr algn="l">
              <a:spcBef>
                <a:spcPts val="1400"/>
              </a:spcBef>
            </a:pPr>
            <a:r>
              <a:rPr sz="1350" b="0" i="0">
                <a:solidFill>
                  <a:srgbClr val="444444"/>
                </a:solidFill>
                <a:latin typeface="Times New Roman"/>
              </a:rPr>
              <a:t>→ Thiết kế giao diện cho kênh khách hàng</a:t>
            </a:r>
          </a:p>
          <a:p>
            <a:pPr algn="l">
              <a:spcBef>
                <a:spcPts val="1400"/>
              </a:spcBef>
            </a:pPr>
            <a:r>
              <a:rPr sz="1350" b="0" i="0">
                <a:solidFill>
                  <a:srgbClr val="444444"/>
                </a:solidFill>
                <a:latin typeface="Times New Roman"/>
              </a:rPr>
              <a:t>→ Đưa hệ thống lên môi trường vận hành thật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00000" y="2500000"/>
            <a:ext cx="10792000" cy="1800000"/>
          </a:xfrm>
          <a:prstGeom prst="rect">
            <a:avLst/>
          </a:prstGeom>
          <a:noFill/>
        </p:spPr>
        <p:txBody>
          <a:bodyPr wrap="square">
            <a:spAutoFit/>
          </a:bodyPr>
          <a:lstStyle/>
          <a:p>
            <a:pPr algn="ctr"/>
            <a:r>
              <a:rPr sz="3000" b="1" i="0">
                <a:solidFill>
                  <a:srgbClr val="0F4C81"/>
                </a:solidFill>
                <a:latin typeface="Times New Roman"/>
              </a:rPr>
              <a:t>XIN CẢM ƠN THẦY CÔ ĐÃ LẮNG NGHE</a:t>
            </a:r>
          </a:p>
          <a:p>
            <a:pPr algn="ctr">
              <a:spcBef>
                <a:spcPts val="2200"/>
              </a:spcBef>
            </a:pPr>
            <a:r>
              <a:rPr sz="1700" b="0" i="0">
                <a:solidFill>
                  <a:srgbClr val="444444"/>
                </a:solidFill>
                <a:latin typeface="Times New Roman"/>
              </a:rPr>
              <a:t>Em xin tiếp nhận các câu hỏi và góp ý</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Times New Roman"/>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imes New Roman"/>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