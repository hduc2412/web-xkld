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46a6edbe41b54cff" Type="http://schemas.openxmlformats.org/officeDocument/2006/relationships/extended-properties" Target="docProps/app.xml"/><Relationship Id="R8ab15a68468343b5" Type="http://schemas.openxmlformats.org/package/2006/relationships/metadata/core-properties" Target="docProps/core.xml"/><Relationship Id="Rc031a406255b41b9"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dc440395f91d4353"/>
  </p:sldMasterIdLst>
  <p:notesMasterIdLst>
    <p:notesMasterId xmlns:r="http://schemas.openxmlformats.org/officeDocument/2006/relationships" r:id="R8fa9c010491340a0"/>
  </p:notesMasterIdLst>
  <p:sldIdLst>
    <p:sldId xmlns:r="http://schemas.openxmlformats.org/officeDocument/2006/relationships" id="256" r:id="Re063db9ea1644443"/>
    <p:sldId xmlns:r="http://schemas.openxmlformats.org/officeDocument/2006/relationships" id="257" r:id="R3ef17146bd804a7b"/>
    <p:sldId xmlns:r="http://schemas.openxmlformats.org/officeDocument/2006/relationships" id="258" r:id="R2e3cfc54a6514077"/>
    <p:sldId xmlns:r="http://schemas.openxmlformats.org/officeDocument/2006/relationships" id="259" r:id="Rd77d7e58e94447db"/>
    <p:sldId xmlns:r="http://schemas.openxmlformats.org/officeDocument/2006/relationships" id="260" r:id="R9662a6837e68420b"/>
    <p:sldId xmlns:r="http://schemas.openxmlformats.org/officeDocument/2006/relationships" id="261" r:id="R0936565c099e43e6"/>
    <p:sldId xmlns:r="http://schemas.openxmlformats.org/officeDocument/2006/relationships" id="262" r:id="Re9e59182abef4a4a"/>
    <p:sldId xmlns:r="http://schemas.openxmlformats.org/officeDocument/2006/relationships" id="263" r:id="Rdcf5d8e701454d44"/>
    <p:sldId xmlns:r="http://schemas.openxmlformats.org/officeDocument/2006/relationships" id="264" r:id="R1dffef909ead4de2"/>
    <p:sldId xmlns:r="http://schemas.openxmlformats.org/officeDocument/2006/relationships" id="265" r:id="Rc4baf4506e6b49a7"/>
    <p:sldId xmlns:r="http://schemas.openxmlformats.org/officeDocument/2006/relationships" id="266" r:id="R4da1bd2773e548e2"/>
    <p:sldId xmlns:r="http://schemas.openxmlformats.org/officeDocument/2006/relationships" id="267" r:id="R00c57a61a93a4e09"/>
    <p:sldId xmlns:r="http://schemas.openxmlformats.org/officeDocument/2006/relationships" id="268" r:id="R320b7024b7364fc0"/>
    <p:sldId xmlns:r="http://schemas.openxmlformats.org/officeDocument/2006/relationships" id="269" r:id="R23101cb6bfb54e39"/>
    <p:sldId xmlns:r="http://schemas.openxmlformats.org/officeDocument/2006/relationships" id="270" r:id="Ra9bf7b6e76c54dfe"/>
    <p:sldId xmlns:r="http://schemas.openxmlformats.org/officeDocument/2006/relationships" id="271" r:id="R231727c1d9a34f72"/>
    <p:sldId xmlns:r="http://schemas.openxmlformats.org/officeDocument/2006/relationships" id="272" r:id="R976b8e895bde43e8"/>
    <p:sldId xmlns:r="http://schemas.openxmlformats.org/officeDocument/2006/relationships" id="273" r:id="R26c7aa65474c4d14"/>
    <p:sldId xmlns:r="http://schemas.openxmlformats.org/officeDocument/2006/relationships" id="274" r:id="Rcb513d1857294dd9"/>
    <p:sldId xmlns:r="http://schemas.openxmlformats.org/officeDocument/2006/relationships" id="275" r:id="Re0d298bc61b3453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0c57a61a93a4e09" Type="http://schemas.openxmlformats.org/officeDocument/2006/relationships/slide" Target="slides/slide12.xml"/><Relationship Id="R0936565c099e43e6" Type="http://schemas.openxmlformats.org/officeDocument/2006/relationships/slide" Target="slides/slide6.xml"/><Relationship Id="R099e69ac85b34e84" Type="http://schemas.openxmlformats.org/officeDocument/2006/relationships/theme" Target="theme/theme1.xml"/><Relationship Id="R18d4f07415a64c3f" Type="http://schemas.openxmlformats.org/officeDocument/2006/relationships/tableStyles" Target="tableStyles.xml"/><Relationship Id="R1dffef909ead4de2" Type="http://schemas.openxmlformats.org/officeDocument/2006/relationships/slide" Target="slides/slide9.xml"/><Relationship Id="R23101cb6bfb54e39" Type="http://schemas.openxmlformats.org/officeDocument/2006/relationships/slide" Target="slides/slide14.xml"/><Relationship Id="R231727c1d9a34f72" Type="http://schemas.openxmlformats.org/officeDocument/2006/relationships/slide" Target="slides/slide16.xml"/><Relationship Id="R26c7aa65474c4d14" Type="http://schemas.openxmlformats.org/officeDocument/2006/relationships/slide" Target="slides/slide18.xml"/><Relationship Id="R2e3cfc54a6514077" Type="http://schemas.openxmlformats.org/officeDocument/2006/relationships/slide" Target="slides/slide3.xml"/><Relationship Id="R320b7024b7364fc0" Type="http://schemas.openxmlformats.org/officeDocument/2006/relationships/slide" Target="slides/slide13.xml"/><Relationship Id="R3ef17146bd804a7b" Type="http://schemas.openxmlformats.org/officeDocument/2006/relationships/slide" Target="slides/slide2.xml"/><Relationship Id="R4da1bd2773e548e2" Type="http://schemas.openxmlformats.org/officeDocument/2006/relationships/slide" Target="slides/slide11.xml"/><Relationship Id="R63ebc23605644217" Type="http://schemas.openxmlformats.org/officeDocument/2006/relationships/presProps" Target="presProps.xml"/><Relationship Id="R8fa9c010491340a0" Type="http://schemas.openxmlformats.org/officeDocument/2006/relationships/notesMaster" Target="notesMasters/notesMaster1.xml"/><Relationship Id="R9662a6837e68420b" Type="http://schemas.openxmlformats.org/officeDocument/2006/relationships/slide" Target="slides/slide5.xml"/><Relationship Id="R976b8e895bde43e8" Type="http://schemas.openxmlformats.org/officeDocument/2006/relationships/slide" Target="slides/slide17.xml"/><Relationship Id="Ra9bf7b6e76c54dfe" Type="http://schemas.openxmlformats.org/officeDocument/2006/relationships/slide" Target="slides/slide15.xml"/><Relationship Id="Rc4baf4506e6b49a7" Type="http://schemas.openxmlformats.org/officeDocument/2006/relationships/slide" Target="slides/slide10.xml"/><Relationship Id="Rcb513d1857294dd9" Type="http://schemas.openxmlformats.org/officeDocument/2006/relationships/slide" Target="slides/slide19.xml"/><Relationship Id="Rd77d7e58e94447db" Type="http://schemas.openxmlformats.org/officeDocument/2006/relationships/slide" Target="slides/slide4.xml"/><Relationship Id="Rdc440395f91d4353" Type="http://schemas.openxmlformats.org/officeDocument/2006/relationships/slideMaster" Target="slideMasters/slideMaster1.xml"/><Relationship Id="Rdcf5d8e701454d44" Type="http://schemas.openxmlformats.org/officeDocument/2006/relationships/slide" Target="slides/slide8.xml"/><Relationship Id="Re063db9ea1644443" Type="http://schemas.openxmlformats.org/officeDocument/2006/relationships/slide" Target="slides/slide1.xml"/><Relationship Id="Re0d298bc61b34538" Type="http://schemas.openxmlformats.org/officeDocument/2006/relationships/slide" Target="slides/slide20.xml"/><Relationship Id="Re9e59182abef4a4a" Type="http://schemas.openxmlformats.org/officeDocument/2006/relationships/slide" Target="slides/slide7.xml"/><Relationship Id="Rf9eb2af5035744fe"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7ac7e8ccb34f485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Times New Roman"/>
        <a:cs typeface="Times New Roman"/>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Times New Roman"/>
        <a:cs typeface="Times New Roman"/>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46c53202d05140af" Type="http://schemas.openxmlformats.org/officeDocument/2006/relationships/slide" Target="../slides/slide1.xml"/><Relationship Id="Rd21ced8e15d34606"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eb91b61c9fae48fd" Type="http://schemas.openxmlformats.org/officeDocument/2006/relationships/notesMaster" Target="../notesMasters/notesMaster1.xml"/><Relationship Id="Rfeeb832a281b4f67"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9b88da287904c08" Type="http://schemas.openxmlformats.org/officeDocument/2006/relationships/slide" Target="../slides/slide3.xml"/><Relationship Id="R99476bee4e0e4b5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be9e522173904810" Type="http://schemas.openxmlformats.org/officeDocument/2006/relationships/slide" Target="../slides/slide4.xml"/><Relationship Id="Rc7163506ff8d425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d0bf89656454421" Type="http://schemas.openxmlformats.org/officeDocument/2006/relationships/slide" Target="../slides/slide5.xml"/><Relationship Id="R7737e0f55aa541c3"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00d3f72313324c82" Type="http://schemas.openxmlformats.org/officeDocument/2006/relationships/slide" Target="../slides/slide6.xml"/><Relationship Id="R94f33792542d40cf"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691d04b068a846d7" Type="http://schemas.openxmlformats.org/officeDocument/2006/relationships/notesMaster" Target="../notesMasters/notesMaster1.xml"/><Relationship Id="Rd0fefd798ea94a85"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341eb5cb63704d7a" Type="http://schemas.openxmlformats.org/officeDocument/2006/relationships/notesMaster" Target="../notesMasters/notesMaster1.xml"/><Relationship Id="Rd03ca90b094644b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25db47d5938443c2" Type="http://schemas.openxmlformats.org/officeDocument/2006/relationships/slide" Target="../slides/slide9.xml"/><Relationship Id="Rb5391a34ca484d18"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7c341c5d43c74d3e" Type="http://schemas.openxmlformats.org/officeDocument/2006/relationships/notesMaster" Target="../notesMasters/notesMaster1.xml"/><Relationship Id="Raf3dbd2a92f04b07"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7cb2397545e4c06" Type="http://schemas.openxmlformats.org/officeDocument/2006/relationships/notesMaster" Target="../notesMasters/notesMaster1.xml"/><Relationship Id="R87bf98a6e8014a0b"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a861891aba44885" Type="http://schemas.openxmlformats.org/officeDocument/2006/relationships/notesMaster" Target="../notesMasters/notesMaster1.xml"/><Relationship Id="Racdea97a87f34aac"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13db7728084440c" Type="http://schemas.openxmlformats.org/officeDocument/2006/relationships/notesMaster" Target="../notesMasters/notesMaster1.xml"/><Relationship Id="R44b1335a08bb4f2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b9d1859a1483490f" Type="http://schemas.openxmlformats.org/officeDocument/2006/relationships/slide" Target="../slides/slide14.xml"/><Relationship Id="Re678d267482645fe"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366bd59bca0c43ea" Type="http://schemas.openxmlformats.org/officeDocument/2006/relationships/notesMaster" Target="../notesMasters/notesMaster1.xml"/><Relationship Id="Rc3b54e70871e4df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755361ff11ec41c2" Type="http://schemas.openxmlformats.org/officeDocument/2006/relationships/notesMaster" Target="../notesMasters/notesMaster1.xml"/><Relationship Id="Rcd9661f7623248cf"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02e9de618913491a" Type="http://schemas.openxmlformats.org/officeDocument/2006/relationships/notesMaster" Target="../notesMasters/notesMaster1.xml"/><Relationship Id="Rf263632108d14c0f"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8646f88d845042c2" Type="http://schemas.openxmlformats.org/officeDocument/2006/relationships/slide" Target="../slides/slide18.xml"/><Relationship Id="Rec9da006d94c4aa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132f4814d18b4c18" Type="http://schemas.openxmlformats.org/officeDocument/2006/relationships/slide" Target="../slides/slide19.xml"/><Relationship Id="Rf5d2454a1664443c"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45c586f43b99492e" Type="http://schemas.openxmlformats.org/officeDocument/2006/relationships/notesMaster" Target="../notesMasters/notesMaster1.xml"/><Relationship Id="Racc902d9af884a2e" Type="http://schemas.openxmlformats.org/officeDocument/2006/relationships/slide" Target="../slides/slide2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d6f4b940e304097"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925c90fe321440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c5f06176e394b9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53785d3de6d4bd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3f8452384a1b419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35ee42725f7b4f89"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bfa7ae9530784ab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1b3e58277d83494f"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d151c80221ff422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412bddf3e34898"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d58e599578e0499f"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B49F403-FF88-435F-9183-4496ED75DFD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C75F9245-9606-4C3A-8BE2-F10A803B49F5}"/>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49D6D598-03B9-48A2-85A3-8195DE6ADFD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47479FA0-6227-45E4-B929-39AC0546DBE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9CBB81C-3DA8-4707-B03B-CC6E6578631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1D75E12-8962-4F5C-BA89-FD2252C3D34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BAD865E1-46AD-4B53-945E-E18C353B78FA}"/>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C24F169-1053-487B-8A54-6CB5F0DF8CE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F6A64F2-0D1B-43FF-BDDB-9C22F575311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B178605-EC47-4CDF-A17D-66D97B722E9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F918551-9512-42B1-9B2E-938A234E56EE}"/>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957BB534-96E3-451D-A30F-055FC8C4F4D5}"/>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A57AD9EB-726A-48BD-BB7A-4223D78DD1F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5F98EB6-5C41-44E7-8690-CD92530B76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1E066C5-89AC-4508-B41B-B653BC8614C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B68FBC7-C8A3-4EFD-B695-44C2DFDB730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6BB87EE5-68F3-42A3-A5A7-DEC3AD2A1C3F}"/>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CB90BF0-510D-4CBD-BA17-C05D7868F7D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C751C2EF-B6EE-4087-B6B8-E315BA9FA6E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8476F70F-B470-4D9B-87F1-64E4E3875DF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CD48466-A288-4F27-A289-5335C2A7D4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727E7C5-C826-4951-B2E1-BEB3289ED79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A76E437-5384-4F4E-B406-D4B344B1E9E0}"/>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EC371407-7B4C-4DE6-BA4D-E2A339EE4E4C}"/>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7BF2F9CA-6A17-40F4-8C32-07C4C35D4840}"/>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9E01BC2A-8E70-4BBF-89DE-BE0C70221A5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73E78C6-FE9A-48AD-9FDD-EC1EE1F6FD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614E67E3-C5A7-4610-A60B-823E5C8096D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B0CC70D6-4F72-4393-81F2-2FA84848CA2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ED7187F-A6B7-4BC1-8B03-83671941286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D2C90F4-8C0A-45AA-9F4A-39444F7430C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FB6C9464-4AAA-45F5-AF7F-25B2F381349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78AD200D-4EEE-450C-AC88-833AA8A54D3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AC00B75F-C0C7-44ED-83A5-29468AC20E9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57A79F2B-3A7E-4542-BA03-299FB0BB299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315FFB02-8ED6-483F-8959-881500E6985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E716511-9C74-4642-AF14-3E1FCB6726B6}"/>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9DF4AE04-119A-430D-B1BF-0BC10AC2C94B}"/>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25C3D82E-FD4F-4458-8E5C-6914170EF406}"/>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BDE3458-06B5-4C4E-A71C-13926DD677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B1F3546-AE9B-4731-8AA7-DAD0953FBD2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89106F2-2B37-40DE-93C4-675592BCC5F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45CE95-EBEC-41CE-99E4-6837E46042B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AD94E1FB-CBF8-4F5A-AF02-3F9322D5730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16B05BEC-7403-4E50-97B6-C3132FF9400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5C9B2964-E15B-4ED3-ADB0-6C7975B8EB7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4068BEC-0E17-41CA-BA6E-C2A3A2860A3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A8784EB-7322-415C-A615-E98934DBC0B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A66CD8-7409-443F-878B-8A941A7A62C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61541D62-76C7-49E1-A149-F59E92C528A5}"/>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2898D18-2055-4987-8A6C-611D40CC0CC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85909B3-DEC5-4C33-88A5-419E50E361C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2E02359-120A-42C2-B56C-46889E2365A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AF78FF6-C0C0-48A5-9A5F-103B9768A9A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023F0E0E-BD92-4F26-89F5-37636F758D3B}"/>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D6BD496-58F3-4E2F-8325-F27ED2C1FDE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435B69B9-67B8-4BDD-AB9C-4FB3454DB2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22E6AB2-D321-4742-970B-CC21781C569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2567a3cde5e4262" Type="http://schemas.openxmlformats.org/officeDocument/2006/relationships/slideLayout" Target="../slideLayouts/slideLayout10.xml"/><Relationship Id="R269b3243392540a8" Type="http://schemas.openxmlformats.org/officeDocument/2006/relationships/slideLayout" Target="../slideLayouts/slideLayout6.xml"/><Relationship Id="R272b30b88c684428" Type="http://schemas.openxmlformats.org/officeDocument/2006/relationships/slideLayout" Target="../slideLayouts/slideLayout1.xml"/><Relationship Id="R2acb97b8710d4e6a" Type="http://schemas.openxmlformats.org/officeDocument/2006/relationships/slideLayout" Target="../slideLayouts/slideLayout3.xml"/><Relationship Id="R2c3b5ad1a8a64c95" Type="http://schemas.openxmlformats.org/officeDocument/2006/relationships/slideLayout" Target="../slideLayouts/slideLayout9.xml"/><Relationship Id="R4839c15ba34c4e81" Type="http://schemas.openxmlformats.org/officeDocument/2006/relationships/theme" Target="theme/theme2.xml"/><Relationship Id="R4a3f384bcdd94fcf" Type="http://schemas.openxmlformats.org/officeDocument/2006/relationships/slideLayout" Target="../slideLayouts/slideLayout5.xml"/><Relationship Id="R4e025d707d4b4e8e" Type="http://schemas.openxmlformats.org/officeDocument/2006/relationships/slideLayout" Target="../slideLayouts/slideLayout2.xml"/><Relationship Id="Ra1b60f2a85ea46f3" Type="http://schemas.openxmlformats.org/officeDocument/2006/relationships/slideLayout" Target="../slideLayouts/slideLayout7.xml"/><Relationship Id="Rabda89f6fc0a4865" Type="http://schemas.openxmlformats.org/officeDocument/2006/relationships/slideLayout" Target="../slideLayouts/slideLayout4.xml"/><Relationship Id="Rcc36ced168f14088" Type="http://schemas.openxmlformats.org/officeDocument/2006/relationships/slideLayout" Target="../slideLayouts/slideLayout11.xml"/><Relationship Id="Rd48b748eeea54e0d" Type="http://schemas.openxmlformats.org/officeDocument/2006/relationships/slideLayout" Target="../slideLayouts/slideLayout8.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E90FAE2-A467-48A1-808D-D4D896151A7D}"/>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C7A9896B-1092-4179-AFAB-C9BF1C204B6A}"/>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9E49EBF-DB1E-46E0-B0DD-10A7114B765D}"/>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374F006-5FE8-44AD-AA47-2869736B800A}"/>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AC042BC-DD77-4BC5-9B2A-1DE53F7C1FF9}"/>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2b30b88c684428"/>
    <p:sldLayoutId xmlns:r="http://schemas.openxmlformats.org/officeDocument/2006/relationships" id="2147483650" r:id="R4e025d707d4b4e8e"/>
    <p:sldLayoutId xmlns:r="http://schemas.openxmlformats.org/officeDocument/2006/relationships" id="2147483651" r:id="R2acb97b8710d4e6a"/>
    <p:sldLayoutId xmlns:r="http://schemas.openxmlformats.org/officeDocument/2006/relationships" id="2147483652" r:id="Rabda89f6fc0a4865"/>
    <p:sldLayoutId xmlns:r="http://schemas.openxmlformats.org/officeDocument/2006/relationships" id="2147483653" r:id="R4a3f384bcdd94fcf"/>
    <p:sldLayoutId xmlns:r="http://schemas.openxmlformats.org/officeDocument/2006/relationships" id="2147483654" r:id="R269b3243392540a8"/>
    <p:sldLayoutId xmlns:r="http://schemas.openxmlformats.org/officeDocument/2006/relationships" id="2147483655" r:id="Ra1b60f2a85ea46f3"/>
    <p:sldLayoutId xmlns:r="http://schemas.openxmlformats.org/officeDocument/2006/relationships" id="2147483656" r:id="Rd48b748eeea54e0d"/>
    <p:sldLayoutId xmlns:r="http://schemas.openxmlformats.org/officeDocument/2006/relationships" id="2147483657" r:id="R2c3b5ad1a8a64c95"/>
    <p:sldLayoutId xmlns:r="http://schemas.openxmlformats.org/officeDocument/2006/relationships" id="2147483658" r:id="R02567a3cde5e4262"/>
    <p:sldLayoutId xmlns:r="http://schemas.openxmlformats.org/officeDocument/2006/relationships" id="2147483659" r:id="Rcc36ced168f14088"/>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Times New Roman"/>
        <a:cs typeface="Times New Roman"/>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Times New Roman"/>
        <a:cs typeface="Times New Roman"/>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6c04afdbb94544ff" Type="http://schemas.openxmlformats.org/officeDocument/2006/relationships/slideLayout" Target="../slideLayouts/slideLayout7.xml"/><Relationship Id="R8fd9b7329066460f"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9b65af7de72c42f2" Type="http://schemas.openxmlformats.org/officeDocument/2006/relationships/notesSlide" Target="../notesSlides/notesSlide2.xml"/><Relationship Id="Re2a723f63f0c449f"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892ce1ff647b414b" Type="http://schemas.openxmlformats.org/officeDocument/2006/relationships/notesSlide" Target="../notesSlides/notesSlide3.xml"/><Relationship Id="Rc7c02a2a420244d8"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2581513508294238" Type="http://schemas.openxmlformats.org/officeDocument/2006/relationships/slideLayout" Target="../slideLayouts/slideLayout7.xml"/><Relationship Id="R538438896b8e4f3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49b40740cf314142" Type="http://schemas.openxmlformats.org/officeDocument/2006/relationships/notesSlide" Target="../notesSlides/notesSlide5.xml"/><Relationship Id="Rb6400888431445db"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7d550945f4094e2b" Type="http://schemas.openxmlformats.org/officeDocument/2006/relationships/slideLayout" Target="../slideLayouts/slideLayout7.xml"/><Relationship Id="Rd075b0ffd50b43e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2c00e31dd6034657" Type="http://schemas.openxmlformats.org/officeDocument/2006/relationships/notesSlide" Target="../notesSlides/notesSlide7.xml"/><Relationship Id="Rc61aac2745454014"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28520d0cd7714254" Type="http://schemas.openxmlformats.org/officeDocument/2006/relationships/slideLayout" Target="../slideLayouts/slideLayout7.xml"/><Relationship Id="Rf49c1316544e4c0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974c9eab5bb4813" Type="http://schemas.openxmlformats.org/officeDocument/2006/relationships/notesSlide" Target="../notesSlides/notesSlide9.xml"/><Relationship Id="Re326e490e9d84ac0"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a9d29db8110b4981" Type="http://schemas.openxmlformats.org/officeDocument/2006/relationships/notesSlide" Target="../notesSlides/notesSlide10.xml"/><Relationship Id="Rdea130223d8a4e2e"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485bc39fefa64a11" Type="http://schemas.openxmlformats.org/officeDocument/2006/relationships/notesSlide" Target="../notesSlides/notesSlide11.xml"/><Relationship Id="R4ebca778dff14c27"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45a62a5aa6864694" Type="http://schemas.openxmlformats.org/officeDocument/2006/relationships/slideLayout" Target="../slideLayouts/slideLayout7.xml"/><Relationship Id="Rbdc8c70f8bdb4d8d"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758bc2f14139434c" Type="http://schemas.openxmlformats.org/officeDocument/2006/relationships/notesSlide" Target="../notesSlides/notesSlide13.xml"/><Relationship Id="Rba9a8c2227a249df"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a347071f35d040a9" Type="http://schemas.openxmlformats.org/officeDocument/2006/relationships/slideLayout" Target="../slideLayouts/slideLayout7.xml"/><Relationship Id="Rcbfb4967bc65425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4c3e285898d94fda" Type="http://schemas.openxmlformats.org/officeDocument/2006/relationships/slideLayout" Target="../slideLayouts/slideLayout7.xml"/><Relationship Id="Red1190b4e81745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3ed50f81985b426f" Type="http://schemas.openxmlformats.org/officeDocument/2006/relationships/slideLayout" Target="../slideLayouts/slideLayout7.xml"/><Relationship Id="R9eda465ce6d6488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87dccc431a1407a" Type="http://schemas.openxmlformats.org/officeDocument/2006/relationships/notesSlide" Target="../notesSlides/notesSlide17.xml"/><Relationship Id="R7bfcd7d3250f46f0"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390d63e9454b4f93" Type="http://schemas.openxmlformats.org/officeDocument/2006/relationships/notesSlide" Target="../notesSlides/notesSlide18.xml"/><Relationship Id="R45aabb760be84c05"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99b7e4cfdffd4973" Type="http://schemas.openxmlformats.org/officeDocument/2006/relationships/notesSlide" Target="../notesSlides/notesSlide19.xml"/><Relationship Id="Re704fa6e34794139"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03f27bb05c794ebe" Type="http://schemas.openxmlformats.org/officeDocument/2006/relationships/notesSlide" Target="../notesSlides/notesSlide20.xml"/><Relationship Id="R5947434607a5477c" Type="http://schemas.openxmlformats.org/officeDocument/2006/relationships/slideLayout" Target="../slideLayouts/slideLayout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CA1C1BA-CA08-4E10-AA5B-00BF78C6197F}"/>
              </a:ext>
            </a:extLst>
          </p:cNvPr>
          <p:cNvSpPr>
            <a:spLocks xmlns:a="http://schemas.openxmlformats.org/drawingml/2006/main" noGrp="1"/>
          </p:cNvSpPr>
          <p:nvPr/>
        </p:nvSpPr>
        <p:spPr>
          <a:xfrm xmlns:a="http://schemas.openxmlformats.org/drawingml/2006/main">
            <a:off x="914400" y="1645920"/>
            <a:ext cx="1033272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646464"/>
                </a:solidFill>
                <a:latin typeface="Times New Roman"/>
                <a:ea typeface="Times New Roman"/>
                <a:cs typeface="Times New Roman"/>
              </a:defRPr>
            </a:pPr>
            <a:r>
              <a:rPr>
                <a:latin typeface="Times New Roman"/>
                <a:ea typeface="Times New Roman"/>
                <a:cs typeface="Times New Roman"/>
              </a:rPr>
              <a:t>BÁO CÁO TIẾN ĐỘ ĐỒ ÁN TỐT NGHIỆP (LẦN 1)</a:t>
            </a:r>
          </a:p>
          <a:p xmlns:a="http://schemas.openxmlformats.org/drawingml/2006/main">
            <a:pPr>
              <a:spcBef>
                <a:spcPts val="1400"/>
              </a:spcBef>
              <a:spcAft>
                <a:spcPts val="2000"/>
              </a:spcAft>
              <a:buNone/>
              <a:defRPr sz="2800" b="1">
                <a:solidFill>
                  <a:srgbClr val="0F4C81"/>
                </a:solidFill>
                <a:latin typeface="Times New Roman"/>
                <a:ea typeface="Times New Roman"/>
                <a:cs typeface="Times New Roman"/>
              </a:defRPr>
            </a:pPr>
            <a:r>
              <a:rPr>
                <a:latin typeface="Times New Roman"/>
                <a:ea typeface="Times New Roman"/>
                <a:cs typeface="Times New Roman"/>
              </a:rPr>
              <a:t>XÂY DỰNG HỆ THỐNG AI HỖ TRỢ TƯ VẤN VÀ QUẢN LÝ QUY TRÌNH TUYỂN DỤNG XKLĐ ĐIỀU DƯỠNG NHẬT BẢN</a:t>
            </a:r>
          </a:p>
          <a:p xmlns:a="http://schemas.openxmlformats.org/drawingml/2006/main">
            <a:pPr>
              <a:buNone/>
              <a:defRPr sz="1600">
                <a:solidFill>
                  <a:srgbClr val="3C3C3C"/>
                </a:solidFill>
                <a:latin typeface="Times New Roman"/>
                <a:ea typeface="Times New Roman"/>
                <a:cs typeface="Times New Roman"/>
              </a:defRPr>
            </a:pPr>
            <a:r>
              <a:rPr>
                <a:latin typeface="Times New Roman"/>
                <a:ea typeface="Times New Roman"/>
                <a:cs typeface="Times New Roman"/>
              </a:rPr>
              <a:t>Sinh viên thực hiện: Hoàng Minh Đức - 2200583 | Lớp: K4658-CNTT</a:t>
            </a:r>
            <a:br/>
            <a:r>
              <a:rPr>
                <a:latin typeface="Times New Roman"/>
                <a:ea typeface="Times New Roman"/>
                <a:cs typeface="Times New Roman"/>
              </a:rPr>
              <a:t>Giảng viên hướng dẫn: TS. Nguyễn Hồng Quân</a:t>
            </a:r>
            <a:br/>
            <a:r>
              <a:rPr>
                <a:latin typeface="Times New Roman"/>
                <a:ea typeface="Times New Roman"/>
                <a:cs typeface="Times New Roman"/>
              </a:rPr>
              <a:t>Thời gian thực hiện: 10/08/2026 - 25/10/2026</a:t>
            </a:r>
          </a:p>
        </p:txBody>
      </p:sp>
    </p:spTree>
    <p:extLst>
      <p:ext uri="{BB962C8B-B14F-4D97-AF65-F5344CB8AC3E}">
        <p14:creationId xmlns:p14="http://schemas.microsoft.com/office/powerpoint/2010/main" val="170990057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EA82816-A084-4801-851C-4E3CEA345869}"/>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0F4C81"/>
                </a:solidFill>
                <a:latin typeface="Times New Roman"/>
                <a:ea typeface="Times New Roman"/>
                <a:cs typeface="Times New Roman"/>
              </a:defRPr>
            </a:pPr>
            <a:r>
              <a:rPr>
                <a:latin typeface="Times New Roman"/>
                <a:ea typeface="Times New Roman"/>
                <a:cs typeface="Times New Roman"/>
              </a:rPr>
              <a:t>Nội dung chính của báo cáo</a:t>
            </a:r>
          </a:p>
        </p:txBody>
      </p:sp>
      <p:sp>
        <p:nvSpPr>
          <p:cNvPr id="3" name="TextBox 2">
            <a:extLst xmlns:a="http://schemas.openxmlformats.org/drawingml/2006/main">
              <a:ext uri="{FF2B5EF4-FFF2-40B4-BE49-F238E27FC236}">
                <a16:creationId xmlns:a16="http://schemas.microsoft.com/office/drawing/2014/main" id="{D84F4D19-FF8F-4304-A4EC-EBA0609DB1B6}"/>
              </a:ext>
            </a:extLst>
          </p:cNvPr>
          <p:cNvSpPr>
            <a:spLocks xmlns:a="http://schemas.openxmlformats.org/drawingml/2006/main" noGrp="1"/>
          </p:cNvSpPr>
          <p:nvPr/>
        </p:nvSpPr>
        <p:spPr>
          <a:xfrm xmlns:a="http://schemas.openxmlformats.org/drawingml/2006/main">
            <a:off x="731520" y="1330000"/>
            <a:ext cx="10698480" cy="49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Bef>
                <a:spcPts val="300"/>
              </a:spcBef>
              <a:buNone/>
            </a:pPr>
            <a:r>
              <a:rPr sz="1700" b="1" i="0">
                <a:solidFill>
                  <a:srgbClr val="0F4C81"/>
                </a:solidFill>
                <a:latin typeface="Times New Roman"/>
                <a:ea typeface="Times New Roman"/>
                <a:cs typeface="Times New Roman"/>
              </a:rPr>
              <a:t>1. Bài toán thực tế</a:t>
            </a:r>
          </a:p>
          <a:p xmlns:a="http://schemas.openxmlformats.org/drawingml/2006/main">
            <a:pPr algn="l">
              <a:spcBef>
                <a:spcPts val="300"/>
              </a:spcBef>
              <a:buNone/>
            </a:pPr>
            <a:r>
              <a:rPr sz="1300" b="0" i="0">
                <a:solidFill>
                  <a:srgbClr val="505050"/>
                </a:solidFill>
                <a:latin typeface="Times New Roman"/>
                <a:ea typeface="Times New Roman"/>
                <a:cs typeface="Times New Roman"/>
              </a:rPr>
              <a:t>Một tình huống tư vấn điển hình và bốn điểm nghẽn của quy trình thủ công hiện nay.</a:t>
            </a:r>
          </a:p>
          <a:p xmlns:a="http://schemas.openxmlformats.org/drawingml/2006/main">
            <a:pPr algn="l">
              <a:spcBef>
                <a:spcPts val="1300"/>
              </a:spcBef>
              <a:buNone/>
            </a:pPr>
            <a:r>
              <a:rPr sz="1700" b="1" i="0">
                <a:solidFill>
                  <a:srgbClr val="0F4C81"/>
                </a:solidFill>
                <a:latin typeface="Times New Roman"/>
                <a:ea typeface="Times New Roman"/>
                <a:cs typeface="Times New Roman"/>
              </a:rPr>
              <a:t>2. Giải pháp đề xuất</a:t>
            </a:r>
          </a:p>
          <a:p xmlns:a="http://schemas.openxmlformats.org/drawingml/2006/main">
            <a:pPr algn="l">
              <a:spcBef>
                <a:spcPts val="300"/>
              </a:spcBef>
              <a:buNone/>
            </a:pPr>
            <a:r>
              <a:rPr sz="1300" b="0" i="0">
                <a:solidFill>
                  <a:srgbClr val="505050"/>
                </a:solidFill>
                <a:latin typeface="Times New Roman"/>
                <a:ea typeface="Times New Roman"/>
                <a:cs typeface="Times New Roman"/>
              </a:rPr>
              <a:t>Hệ thống đóng vai trợ lý sơ tuyển trực liên tục; so sánh cách làm trước và sau.</a:t>
            </a:r>
          </a:p>
          <a:p xmlns:a="http://schemas.openxmlformats.org/drawingml/2006/main">
            <a:pPr algn="l">
              <a:spcBef>
                <a:spcPts val="1300"/>
              </a:spcBef>
              <a:buNone/>
            </a:pPr>
            <a:r>
              <a:rPr sz="1700" b="1" i="0">
                <a:solidFill>
                  <a:srgbClr val="0F4C81"/>
                </a:solidFill>
                <a:latin typeface="Times New Roman"/>
                <a:ea typeface="Times New Roman"/>
                <a:cs typeface="Times New Roman"/>
              </a:rPr>
              <a:t>3. Phân tích nghiệp vụ</a:t>
            </a:r>
          </a:p>
          <a:p xmlns:a="http://schemas.openxmlformats.org/drawingml/2006/main">
            <a:pPr algn="l">
              <a:spcBef>
                <a:spcPts val="300"/>
              </a:spcBef>
              <a:buNone/>
            </a:pPr>
            <a:r>
              <a:rPr sz="1300" b="0" i="0">
                <a:solidFill>
                  <a:srgbClr val="505050"/>
                </a:solidFill>
                <a:latin typeface="Times New Roman"/>
                <a:ea typeface="Times New Roman"/>
                <a:cs typeface="Times New Roman"/>
              </a:rPr>
              <a:t>Ba nhóm người dùng, bản đồ chức năng và phạm vi, ba tình huống nghiệp vụ điển hình.</a:t>
            </a:r>
          </a:p>
          <a:p xmlns:a="http://schemas.openxmlformats.org/drawingml/2006/main">
            <a:pPr algn="l">
              <a:spcBef>
                <a:spcPts val="1300"/>
              </a:spcBef>
              <a:buNone/>
            </a:pPr>
            <a:r>
              <a:rPr sz="1700" b="1" i="0">
                <a:solidFill>
                  <a:srgbClr val="0F4C81"/>
                </a:solidFill>
                <a:latin typeface="Times New Roman"/>
                <a:ea typeface="Times New Roman"/>
                <a:cs typeface="Times New Roman"/>
              </a:rPr>
              <a:t>4. Luồng xử lý</a:t>
            </a:r>
          </a:p>
          <a:p xmlns:a="http://schemas.openxmlformats.org/drawingml/2006/main">
            <a:pPr algn="l">
              <a:spcBef>
                <a:spcPts val="300"/>
              </a:spcBef>
              <a:buNone/>
            </a:pPr>
            <a:r>
              <a:rPr sz="1300" b="0" i="0">
                <a:solidFill>
                  <a:srgbClr val="505050"/>
                </a:solidFill>
                <a:latin typeface="Times New Roman"/>
                <a:ea typeface="Times New Roman"/>
                <a:cs typeface="Times New Roman"/>
              </a:rPr>
              <a:t>Đường đi của một ứng viên từ lúc nhắn tin đến lúc nhân viên nhấc máy, và luồng bên trong hệ thống.</a:t>
            </a:r>
          </a:p>
          <a:p xmlns:a="http://schemas.openxmlformats.org/drawingml/2006/main">
            <a:pPr algn="l">
              <a:spcBef>
                <a:spcPts val="1300"/>
              </a:spcBef>
              <a:buNone/>
            </a:pPr>
            <a:r>
              <a:rPr sz="1700" b="1" i="0">
                <a:solidFill>
                  <a:srgbClr val="0F4C81"/>
                </a:solidFill>
                <a:latin typeface="Times New Roman"/>
                <a:ea typeface="Times New Roman"/>
                <a:cs typeface="Times New Roman"/>
              </a:rPr>
              <a:t>5. Nghiệp vụ trọng tâm</a:t>
            </a:r>
          </a:p>
          <a:p xmlns:a="http://schemas.openxmlformats.org/drawingml/2006/main">
            <a:pPr algn="l">
              <a:spcBef>
                <a:spcPts val="300"/>
              </a:spcBef>
              <a:buNone/>
            </a:pPr>
            <a:r>
              <a:rPr sz="1300" b="0" i="0">
                <a:solidFill>
                  <a:srgbClr val="505050"/>
                </a:solidFill>
                <a:latin typeface="Times New Roman"/>
                <a:ea typeface="Times New Roman"/>
                <a:cs typeface="Times New Roman"/>
              </a:rPr>
              <a:t>Danh mục đơn hàng, cách giới thiệu việc làm phù hợp và phiếu tóm tắt bàn giao.</a:t>
            </a:r>
          </a:p>
          <a:p xmlns:a="http://schemas.openxmlformats.org/drawingml/2006/main">
            <a:pPr algn="l">
              <a:spcBef>
                <a:spcPts val="1300"/>
              </a:spcBef>
              <a:buNone/>
            </a:pPr>
            <a:r>
              <a:rPr sz="1700" b="1" i="0">
                <a:solidFill>
                  <a:srgbClr val="0F4C81"/>
                </a:solidFill>
                <a:latin typeface="Times New Roman"/>
                <a:ea typeface="Times New Roman"/>
                <a:cs typeface="Times New Roman"/>
              </a:rPr>
              <a:t>6. Phạm vi hệ thống và kế hoạch</a:t>
            </a:r>
          </a:p>
          <a:p xmlns:a="http://schemas.openxmlformats.org/drawingml/2006/main">
            <a:pPr algn="l">
              <a:spcBef>
                <a:spcPts val="300"/>
              </a:spcBef>
              <a:buNone/>
            </a:pPr>
            <a:r>
              <a:rPr sz="1300" b="0" i="0">
                <a:solidFill>
                  <a:srgbClr val="505050"/>
                </a:solidFill>
                <a:latin typeface="Times New Roman"/>
                <a:ea typeface="Times New Roman"/>
                <a:cs typeface="Times New Roman"/>
              </a:rPr>
              <a:t>Kiến trúc tổng quan, ranh giới các kênh, trạng thái hiện tại và kế hoạch triển khai.</a:t>
            </a:r>
          </a:p>
        </p:txBody>
      </p:sp>
    </p:spTree>
    <p:extLst>
      <p:ext uri="{BB962C8B-B14F-4D97-AF65-F5344CB8AC3E}">
        <p14:creationId xmlns:p14="http://schemas.microsoft.com/office/powerpoint/2010/main" val="213871447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C6065F28-E1D5-429A-A69F-5698163E970F}"/>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Bài toán thực tế — một tình huống điển hình</a:t>
            </a:r>
          </a:p>
        </p:txBody>
      </p:sp>
      <p:sp>
        <p:nvSpPr>
          <p:cNvPr id="3" name="Rounded Rectangle 2">
            <a:extLst xmlns:a="http://schemas.openxmlformats.org/drawingml/2006/main">
              <a:ext uri="{FF2B5EF4-FFF2-40B4-BE49-F238E27FC236}">
                <a16:creationId xmlns:a16="http://schemas.microsoft.com/office/drawing/2014/main" id="{3099C51A-3BA5-416C-AEF9-FEBBE1289EE9}"/>
              </a:ext>
            </a:extLst>
          </p:cNvPr>
          <p:cNvSpPr>
            <a:spLocks xmlns:a="http://schemas.openxmlformats.org/drawingml/2006/main" noGrp="1"/>
          </p:cNvSpPr>
          <p:nvPr/>
        </p:nvSpPr>
        <p:spPr>
          <a:xfrm xmlns:a="http://schemas.openxmlformats.org/drawingml/2006/main">
            <a:off x="731520" y="1210000"/>
            <a:ext cx="5150000" cy="43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400" b="1">
                <a:solidFill>
                  <a:srgbClr val="FFFFFF"/>
                </a:solidFill>
                <a:latin typeface="Times New Roman"/>
                <a:ea typeface="Times New Roman"/>
                <a:cs typeface="Times New Roman"/>
              </a:rPr>
              <a:t>Tình huống: mười giờ rưỡi tối</a:t>
            </a:r>
          </a:p>
        </p:txBody>
      </p:sp>
      <p:sp>
        <p:nvSpPr>
          <p:cNvPr id="4" name="Rounded Rectangle 3">
            <a:extLst xmlns:a="http://schemas.openxmlformats.org/drawingml/2006/main">
              <a:ext uri="{FF2B5EF4-FFF2-40B4-BE49-F238E27FC236}">
                <a16:creationId xmlns:a16="http://schemas.microsoft.com/office/drawing/2014/main" id="{E576435C-804C-44B0-BCE8-368B28354DC5}"/>
              </a:ext>
            </a:extLst>
          </p:cNvPr>
          <p:cNvSpPr>
            <a:spLocks xmlns:a="http://schemas.openxmlformats.org/drawingml/2006/main" noGrp="1"/>
          </p:cNvSpPr>
          <p:nvPr/>
        </p:nvSpPr>
        <p:spPr>
          <a:xfrm xmlns:a="http://schemas.openxmlformats.org/drawingml/2006/main">
            <a:off x="731520" y="1710000"/>
            <a:ext cx="5150000" cy="162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8F7EA83-FCC6-48B5-B897-133D6DA69D57}"/>
              </a:ext>
            </a:extLst>
          </p:cNvPr>
          <p:cNvSpPr>
            <a:spLocks xmlns:a="http://schemas.openxmlformats.org/drawingml/2006/main" noGrp="1"/>
          </p:cNvSpPr>
          <p:nvPr/>
        </p:nvSpPr>
        <p:spPr>
          <a:xfrm xmlns:a="http://schemas.openxmlformats.org/drawingml/2006/main">
            <a:off x="731520" y="1790000"/>
            <a:ext cx="5150000" cy="15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Ứng viên gửi CV vào khung chat và nhắn:</a:t>
            </a:r>
          </a:p>
          <a:p xmlns:a="http://schemas.openxmlformats.org/drawingml/2006/main">
            <a:pPr algn="l">
              <a:spcBef>
                <a:spcPts val="600"/>
              </a:spcBef>
              <a:buNone/>
            </a:pPr>
            <a:r>
              <a:rPr sz="1300" b="0" i="1">
                <a:solidFill>
                  <a:srgbClr val="505050"/>
                </a:solidFill>
                <a:latin typeface="Times New Roman"/>
                <a:ea typeface="Times New Roman"/>
                <a:cs typeface="Times New Roman"/>
              </a:rPr>
              <a:t>“Em muốn làm ở viện dưỡng lão khu vực Tokyo vì có người quen ở đó. Tổng chi phí hết bao nhiêu và có đơn nào bay sớm không ạ?”</a:t>
            </a:r>
          </a:p>
        </p:txBody>
      </p:sp>
      <p:sp>
        <p:nvSpPr>
          <p:cNvPr id="6" name="Rounded Rectangle 5">
            <a:extLst xmlns:a="http://schemas.openxmlformats.org/drawingml/2006/main">
              <a:ext uri="{FF2B5EF4-FFF2-40B4-BE49-F238E27FC236}">
                <a16:creationId xmlns:a16="http://schemas.microsoft.com/office/drawing/2014/main" id="{1AC3BD1D-E748-40BC-8683-DE0DC567D6AC}"/>
              </a:ext>
            </a:extLst>
          </p:cNvPr>
          <p:cNvSpPr>
            <a:spLocks xmlns:a="http://schemas.openxmlformats.org/drawingml/2006/main" noGrp="1"/>
          </p:cNvSpPr>
          <p:nvPr/>
        </p:nvSpPr>
        <p:spPr>
          <a:xfrm xmlns:a="http://schemas.openxmlformats.org/drawingml/2006/main">
            <a:off x="731520" y="3430000"/>
            <a:ext cx="5150000" cy="130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D52F4E3-2C9C-4358-BD98-EEC9F323A914}"/>
              </a:ext>
            </a:extLst>
          </p:cNvPr>
          <p:cNvSpPr>
            <a:spLocks xmlns:a="http://schemas.openxmlformats.org/drawingml/2006/main" noGrp="1"/>
          </p:cNvSpPr>
          <p:nvPr/>
        </p:nvSpPr>
        <p:spPr>
          <a:xfrm xmlns:a="http://schemas.openxmlformats.org/drawingml/2006/main">
            <a:off x="731520" y="3510000"/>
            <a:ext cx="5150000" cy="12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B32D2D"/>
                </a:solidFill>
                <a:latin typeface="Times New Roman"/>
                <a:ea typeface="Times New Roman"/>
                <a:cs typeface="Times New Roman"/>
              </a:rPr>
              <a:t>Thực tế xảy ra:</a:t>
            </a:r>
          </a:p>
          <a:p xmlns:a="http://schemas.openxmlformats.org/drawingml/2006/main">
            <a:pPr algn="l">
              <a:spcBef>
                <a:spcPts val="600"/>
              </a:spcBef>
              <a:buNone/>
            </a:pPr>
            <a:r>
              <a:rPr sz="1200" b="0" i="0">
                <a:solidFill>
                  <a:srgbClr val="505050"/>
                </a:solidFill>
                <a:latin typeface="Times New Roman"/>
                <a:ea typeface="Times New Roman"/>
                <a:cs typeface="Times New Roman"/>
              </a:rPr>
              <a:t>Đã hết giờ làm, tin nhắn nằm chờ đến sáng hôm sau. Nhân viên phải đọc lại từng trang CV, nhắn hỏi lại bằng cấp, rồi mở danh sách đơn hàng ra dò tìm bằng mắt.</a:t>
            </a:r>
          </a:p>
        </p:txBody>
      </p:sp>
      <p:sp>
        <p:nvSpPr>
          <p:cNvPr id="8" name="Rounded Rectangle 7">
            <a:extLst xmlns:a="http://schemas.openxmlformats.org/drawingml/2006/main">
              <a:ext uri="{FF2B5EF4-FFF2-40B4-BE49-F238E27FC236}">
                <a16:creationId xmlns:a16="http://schemas.microsoft.com/office/drawing/2014/main" id="{ED1FB883-4929-4615-8F80-61A8C7335051}"/>
              </a:ext>
            </a:extLst>
          </p:cNvPr>
          <p:cNvSpPr>
            <a:spLocks xmlns:a="http://schemas.openxmlformats.org/drawingml/2006/main" noGrp="1"/>
          </p:cNvSpPr>
          <p:nvPr/>
        </p:nvSpPr>
        <p:spPr>
          <a:xfrm xmlns:a="http://schemas.openxmlformats.org/drawingml/2006/main">
            <a:off x="6280000" y="1210000"/>
            <a:ext cx="5150000" cy="43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400" b="1">
                <a:solidFill>
                  <a:srgbClr val="FFFFFF"/>
                </a:solidFill>
                <a:latin typeface="Times New Roman"/>
                <a:ea typeface="Times New Roman"/>
                <a:cs typeface="Times New Roman"/>
              </a:rPr>
              <a:t>Bốn điểm nghẽn của quy trình thủ công</a:t>
            </a:r>
          </a:p>
        </p:txBody>
      </p:sp>
      <p:sp>
        <p:nvSpPr>
          <p:cNvPr id="9" name="TextBox 8">
            <a:extLst xmlns:a="http://schemas.openxmlformats.org/drawingml/2006/main">
              <a:ext uri="{FF2B5EF4-FFF2-40B4-BE49-F238E27FC236}">
                <a16:creationId xmlns:a16="http://schemas.microsoft.com/office/drawing/2014/main" id="{90775DA1-DF15-406A-8B8B-6B7B56EC1A77}"/>
              </a:ext>
            </a:extLst>
          </p:cNvPr>
          <p:cNvSpPr>
            <a:spLocks xmlns:a="http://schemas.openxmlformats.org/drawingml/2006/main" noGrp="1"/>
          </p:cNvSpPr>
          <p:nvPr/>
        </p:nvSpPr>
        <p:spPr>
          <a:xfrm xmlns:a="http://schemas.openxmlformats.org/drawingml/2006/main">
            <a:off x="6280000" y="1730000"/>
            <a:ext cx="5150000" cy="42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300" b="1" i="0">
                <a:solidFill>
                  <a:srgbClr val="0F4C81"/>
                </a:solidFill>
                <a:latin typeface="Times New Roman"/>
                <a:ea typeface="Times New Roman"/>
                <a:cs typeface="Times New Roman"/>
              </a:rPr>
              <a:t>① Câu hỏi lặp lại: </a:t>
            </a:r>
            <a:r>
              <a:rPr sz="1200" b="0" i="0">
                <a:solidFill>
                  <a:srgbClr val="505050"/>
                </a:solidFill>
                <a:latin typeface="Times New Roman"/>
                <a:ea typeface="Times New Roman"/>
                <a:cs typeface="Times New Roman"/>
              </a:rPr>
              <a:t>phần lớn câu hỏi chỉ xoay quanh vài nhóm cố định — chi phí, điều kiện, quy trình, hồ sơ, đơn hàng, lương. Nhân viên trả lời lại từ đầu mỗi ngày.</a:t>
            </a:r>
          </a:p>
          <a:p xmlns:a="http://schemas.openxmlformats.org/drawingml/2006/main">
            <a:pPr algn="l">
              <a:spcBef>
                <a:spcPts val="1300"/>
              </a:spcBef>
              <a:buNone/>
            </a:pPr>
            <a:r>
              <a:rPr sz="1300" b="1" i="0">
                <a:solidFill>
                  <a:srgbClr val="0F4C81"/>
                </a:solidFill>
                <a:latin typeface="Times New Roman"/>
                <a:ea typeface="Times New Roman"/>
                <a:cs typeface="Times New Roman"/>
              </a:rPr>
              <a:t>② Khoảng trống ngoài giờ: </a:t>
            </a:r>
            <a:r>
              <a:rPr sz="1200" b="0" i="0">
                <a:solidFill>
                  <a:srgbClr val="505050"/>
                </a:solidFill>
                <a:latin typeface="Times New Roman"/>
                <a:ea typeface="Times New Roman"/>
                <a:cs typeface="Times New Roman"/>
              </a:rPr>
              <a:t>ứng viên rảnh hỏi vào buổi tối và cuối tuần, đúng lúc không có ai trực. Câu hỏi bị bỏ lỡ, khách chuyển sang nơi trả lời nhanh hơn.</a:t>
            </a:r>
          </a:p>
          <a:p xmlns:a="http://schemas.openxmlformats.org/drawingml/2006/main">
            <a:pPr algn="l">
              <a:spcBef>
                <a:spcPts val="1300"/>
              </a:spcBef>
              <a:buNone/>
            </a:pPr>
            <a:r>
              <a:rPr sz="1300" b="1" i="0">
                <a:solidFill>
                  <a:srgbClr val="0F4C81"/>
                </a:solidFill>
                <a:latin typeface="Times New Roman"/>
                <a:ea typeface="Times New Roman"/>
                <a:cs typeface="Times New Roman"/>
              </a:rPr>
              <a:t>③ Đọc hồ sơ thủ công: </a:t>
            </a:r>
            <a:r>
              <a:rPr sz="1200" b="0" i="0">
                <a:solidFill>
                  <a:srgbClr val="505050"/>
                </a:solidFill>
                <a:latin typeface="Times New Roman"/>
                <a:ea typeface="Times New Roman"/>
                <a:cs typeface="Times New Roman"/>
              </a:rPr>
              <a:t>mỗi CV một cách trình bày, phải đọc và ghi lại bằng tay. Mất thời gian, dễ ghi sót, thông tin không thống nhất giữa các nhân viên.</a:t>
            </a:r>
          </a:p>
          <a:p xmlns:a="http://schemas.openxmlformats.org/drawingml/2006/main">
            <a:pPr algn="l">
              <a:spcBef>
                <a:spcPts val="1300"/>
              </a:spcBef>
              <a:buNone/>
            </a:pPr>
            <a:r>
              <a:rPr sz="1300" b="1" i="0">
                <a:solidFill>
                  <a:srgbClr val="0F4C81"/>
                </a:solidFill>
                <a:latin typeface="Times New Roman"/>
                <a:ea typeface="Times New Roman"/>
                <a:cs typeface="Times New Roman"/>
              </a:rPr>
              <a:t>④ Dò đơn hàng bằng mắt: </a:t>
            </a:r>
            <a:r>
              <a:rPr sz="1200" b="0" i="0">
                <a:solidFill>
                  <a:srgbClr val="505050"/>
                </a:solidFill>
                <a:latin typeface="Times New Roman"/>
                <a:ea typeface="Times New Roman"/>
                <a:cs typeface="Times New Roman"/>
              </a:rPr>
              <a:t>danh sách đơn nằm trong file rời, đối chiếu điều kiện thủ công nên dễ bỏ sót đơn phù hợp hoặc giới thiệu nhầm đơn ứng viên không đủ điều kiện.</a:t>
            </a:r>
          </a:p>
        </p:txBody>
      </p:sp>
    </p:spTree>
    <p:extLst>
      <p:ext uri="{BB962C8B-B14F-4D97-AF65-F5344CB8AC3E}">
        <p14:creationId xmlns:p14="http://schemas.microsoft.com/office/powerpoint/2010/main" val="44929664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23EC06A2-6DBB-4CBA-8DB5-6CFBFFD2D844}"/>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Giải pháp: trợ lý sơ tuyển làm việc liên tục</a:t>
            </a:r>
          </a:p>
        </p:txBody>
      </p:sp>
      <p:sp>
        <p:nvSpPr>
          <p:cNvPr id="3" name="TextBox 2">
            <a:extLst xmlns:a="http://schemas.openxmlformats.org/drawingml/2006/main">
              <a:ext uri="{FF2B5EF4-FFF2-40B4-BE49-F238E27FC236}">
                <a16:creationId xmlns:a16="http://schemas.microsoft.com/office/drawing/2014/main" id="{2F09EB05-1FB6-4BB0-A81B-98E45C55A499}"/>
              </a:ext>
            </a:extLst>
          </p:cNvPr>
          <p:cNvSpPr>
            <a:spLocks xmlns:a="http://schemas.openxmlformats.org/drawingml/2006/main" noGrp="1"/>
          </p:cNvSpPr>
          <p:nvPr/>
        </p:nvSpPr>
        <p:spPr>
          <a:xfrm xmlns:a="http://schemas.openxmlformats.org/drawingml/2006/main">
            <a:off x="731520" y="1120000"/>
            <a:ext cx="1069848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300" b="0" i="1">
                <a:solidFill>
                  <a:srgbClr val="0F4C81"/>
                </a:solidFill>
                <a:latin typeface="Times New Roman"/>
                <a:ea typeface="Times New Roman"/>
                <a:cs typeface="Times New Roman"/>
              </a:rPr>
              <a:t>Hệ thống không thay nhân viên. Nó làm phần việc lặp lại ở khâu đầu, để nhân viên tập trung vào phần cần con người: gọi điện, thuyết phục và quyết định.</a:t>
            </a:r>
          </a:p>
        </p:txBody>
      </p:sp>
      <p:sp>
        <p:nvSpPr>
          <p:cNvPr id="4" name="Rounded Rectangle 3">
            <a:extLst xmlns:a="http://schemas.openxmlformats.org/drawingml/2006/main">
              <a:ext uri="{FF2B5EF4-FFF2-40B4-BE49-F238E27FC236}">
                <a16:creationId xmlns:a16="http://schemas.microsoft.com/office/drawing/2014/main" id="{BAD322EC-309A-491F-A18F-8B105EFBF3D9}"/>
              </a:ext>
            </a:extLst>
          </p:cNvPr>
          <p:cNvSpPr>
            <a:spLocks xmlns:a="http://schemas.openxmlformats.org/drawingml/2006/main" noGrp="1"/>
          </p:cNvSpPr>
          <p:nvPr/>
        </p:nvSpPr>
        <p:spPr>
          <a:xfrm xmlns:a="http://schemas.openxmlformats.org/drawingml/2006/main">
            <a:off x="731520" y="1560000"/>
            <a:ext cx="5150000" cy="420000"/>
          </a:xfrm>
          <a:prstGeom xmlns:a="http://schemas.openxmlformats.org/drawingml/2006/main" prst="roundRect">
            <a:avLst/>
          </a:prstGeom>
          <a:solidFill xmlns:a="http://schemas.openxmlformats.org/drawingml/2006/main">
            <a:srgbClr val="B32D2D"/>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TRƯỚC — quy trình thủ công</a:t>
            </a:r>
          </a:p>
        </p:txBody>
      </p:sp>
      <p:sp>
        <p:nvSpPr>
          <p:cNvPr id="5" name="Rounded Rectangle 4">
            <a:extLst xmlns:a="http://schemas.openxmlformats.org/drawingml/2006/main">
              <a:ext uri="{FF2B5EF4-FFF2-40B4-BE49-F238E27FC236}">
                <a16:creationId xmlns:a16="http://schemas.microsoft.com/office/drawing/2014/main" id="{C1D6E137-7AFD-4854-87EA-AAAA73E3E746}"/>
              </a:ext>
            </a:extLst>
          </p:cNvPr>
          <p:cNvSpPr>
            <a:spLocks xmlns:a="http://schemas.openxmlformats.org/drawingml/2006/main" noGrp="1"/>
          </p:cNvSpPr>
          <p:nvPr/>
        </p:nvSpPr>
        <p:spPr>
          <a:xfrm xmlns:a="http://schemas.openxmlformats.org/drawingml/2006/main">
            <a:off x="6280000" y="1560000"/>
            <a:ext cx="5150000" cy="420000"/>
          </a:xfrm>
          <a:prstGeom xmlns:a="http://schemas.openxmlformats.org/drawingml/2006/main" prst="roundRect">
            <a:avLst/>
          </a:prstGeom>
          <a:solidFill xmlns:a="http://schemas.openxmlformats.org/drawingml/2006/main">
            <a:srgbClr val="1E7A3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SAU — có hệ thống hỗ trợ</a:t>
            </a:r>
          </a:p>
        </p:txBody>
      </p:sp>
      <p:sp>
        <p:nvSpPr>
          <p:cNvPr id="6" name="Rounded Rectangle 5">
            <a:extLst xmlns:a="http://schemas.openxmlformats.org/drawingml/2006/main">
              <a:ext uri="{FF2B5EF4-FFF2-40B4-BE49-F238E27FC236}">
                <a16:creationId xmlns:a16="http://schemas.microsoft.com/office/drawing/2014/main" id="{D34E50E4-3C78-423B-9C8C-EB4271ABDBD4}"/>
              </a:ext>
            </a:extLst>
          </p:cNvPr>
          <p:cNvSpPr>
            <a:spLocks xmlns:a="http://schemas.openxmlformats.org/drawingml/2006/main" noGrp="1"/>
          </p:cNvSpPr>
          <p:nvPr/>
        </p:nvSpPr>
        <p:spPr>
          <a:xfrm xmlns:a="http://schemas.openxmlformats.org/drawingml/2006/main">
            <a:off x="731520" y="2060000"/>
            <a:ext cx="5150000" cy="62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CF3448B7-C77A-4AB3-B939-FF13761BE536}"/>
              </a:ext>
            </a:extLst>
          </p:cNvPr>
          <p:cNvSpPr>
            <a:spLocks xmlns:a="http://schemas.openxmlformats.org/drawingml/2006/main" noGrp="1"/>
          </p:cNvSpPr>
          <p:nvPr/>
        </p:nvSpPr>
        <p:spPr>
          <a:xfrm xmlns:a="http://schemas.openxmlformats.org/drawingml/2006/main">
            <a:off x="731520" y="215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Chờ đến giờ hành chính mới được trả lời</a:t>
            </a:r>
          </a:p>
        </p:txBody>
      </p:sp>
      <p:sp>
        <p:nvSpPr>
          <p:cNvPr id="8" name="Rounded Rectangle 7">
            <a:extLst xmlns:a="http://schemas.openxmlformats.org/drawingml/2006/main">
              <a:ext uri="{FF2B5EF4-FFF2-40B4-BE49-F238E27FC236}">
                <a16:creationId xmlns:a16="http://schemas.microsoft.com/office/drawing/2014/main" id="{9D3601B3-1D3A-44BA-A7E4-B9DCD5676B4C}"/>
              </a:ext>
            </a:extLst>
          </p:cNvPr>
          <p:cNvSpPr>
            <a:spLocks xmlns:a="http://schemas.openxmlformats.org/drawingml/2006/main" noGrp="1"/>
          </p:cNvSpPr>
          <p:nvPr/>
        </p:nvSpPr>
        <p:spPr>
          <a:xfrm xmlns:a="http://schemas.openxmlformats.org/drawingml/2006/main">
            <a:off x="6280000" y="2060000"/>
            <a:ext cx="5150000" cy="62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FE44AD5-C6E6-423D-9B1B-CF220D76861C}"/>
              </a:ext>
            </a:extLst>
          </p:cNvPr>
          <p:cNvSpPr>
            <a:spLocks xmlns:a="http://schemas.openxmlformats.org/drawingml/2006/main" noGrp="1"/>
          </p:cNvSpPr>
          <p:nvPr/>
        </p:nvSpPr>
        <p:spPr>
          <a:xfrm xmlns:a="http://schemas.openxmlformats.org/drawingml/2006/main">
            <a:off x="6280000" y="215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Được trả lời ngay, kể cả nửa đêm</a:t>
            </a:r>
          </a:p>
        </p:txBody>
      </p:sp>
      <p:sp>
        <p:nvSpPr>
          <p:cNvPr id="10" name="Rounded Rectangle 9">
            <a:extLst xmlns:a="http://schemas.openxmlformats.org/drawingml/2006/main">
              <a:ext uri="{FF2B5EF4-FFF2-40B4-BE49-F238E27FC236}">
                <a16:creationId xmlns:a16="http://schemas.microsoft.com/office/drawing/2014/main" id="{EB6A4D93-A98F-4B42-95DE-11B7B71ABF48}"/>
              </a:ext>
            </a:extLst>
          </p:cNvPr>
          <p:cNvSpPr>
            <a:spLocks xmlns:a="http://schemas.openxmlformats.org/drawingml/2006/main" noGrp="1"/>
          </p:cNvSpPr>
          <p:nvPr/>
        </p:nvSpPr>
        <p:spPr>
          <a:xfrm xmlns:a="http://schemas.openxmlformats.org/drawingml/2006/main">
            <a:off x="731520" y="2770000"/>
            <a:ext cx="5150000" cy="62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19DD49B-1C65-487C-872F-8ABAD96F1D9C}"/>
              </a:ext>
            </a:extLst>
          </p:cNvPr>
          <p:cNvSpPr>
            <a:spLocks xmlns:a="http://schemas.openxmlformats.org/drawingml/2006/main" noGrp="1"/>
          </p:cNvSpPr>
          <p:nvPr/>
        </p:nvSpPr>
        <p:spPr>
          <a:xfrm xmlns:a="http://schemas.openxmlformats.org/drawingml/2006/main">
            <a:off x="731520" y="286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Nhân viên tự tra nhiều tài liệu rời rạc</a:t>
            </a:r>
          </a:p>
        </p:txBody>
      </p:sp>
      <p:sp>
        <p:nvSpPr>
          <p:cNvPr id="12" name="Rounded Rectangle 11">
            <a:extLst xmlns:a="http://schemas.openxmlformats.org/drawingml/2006/main">
              <a:ext uri="{FF2B5EF4-FFF2-40B4-BE49-F238E27FC236}">
                <a16:creationId xmlns:a16="http://schemas.microsoft.com/office/drawing/2014/main" id="{42933FFB-B1BC-4F7B-9B04-7FDA59E34F9E}"/>
              </a:ext>
            </a:extLst>
          </p:cNvPr>
          <p:cNvSpPr>
            <a:spLocks xmlns:a="http://schemas.openxmlformats.org/drawingml/2006/main" noGrp="1"/>
          </p:cNvSpPr>
          <p:nvPr/>
        </p:nvSpPr>
        <p:spPr>
          <a:xfrm xmlns:a="http://schemas.openxmlformats.org/drawingml/2006/main">
            <a:off x="6280000" y="2770000"/>
            <a:ext cx="5150000" cy="62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F15A327-52F0-47A1-8EDA-F82F9AA52193}"/>
              </a:ext>
            </a:extLst>
          </p:cNvPr>
          <p:cNvSpPr>
            <a:spLocks xmlns:a="http://schemas.openxmlformats.org/drawingml/2006/main" noGrp="1"/>
          </p:cNvSpPr>
          <p:nvPr/>
        </p:nvSpPr>
        <p:spPr>
          <a:xfrm xmlns:a="http://schemas.openxmlformats.org/drawingml/2006/main">
            <a:off x="6280000" y="286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Trả lời bám đúng tài liệu chính thức của công ty</a:t>
            </a:r>
          </a:p>
        </p:txBody>
      </p:sp>
      <p:sp>
        <p:nvSpPr>
          <p:cNvPr id="14" name="Rounded Rectangle 13">
            <a:extLst xmlns:a="http://schemas.openxmlformats.org/drawingml/2006/main">
              <a:ext uri="{FF2B5EF4-FFF2-40B4-BE49-F238E27FC236}">
                <a16:creationId xmlns:a16="http://schemas.microsoft.com/office/drawing/2014/main" id="{4E0F496A-31C7-41CA-9A33-6FBFB8D499D5}"/>
              </a:ext>
            </a:extLst>
          </p:cNvPr>
          <p:cNvSpPr>
            <a:spLocks xmlns:a="http://schemas.openxmlformats.org/drawingml/2006/main" noGrp="1"/>
          </p:cNvSpPr>
          <p:nvPr/>
        </p:nvSpPr>
        <p:spPr>
          <a:xfrm xmlns:a="http://schemas.openxmlformats.org/drawingml/2006/main">
            <a:off x="731520" y="3480000"/>
            <a:ext cx="5150000" cy="62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18DC77B4-C3A1-4D34-8EE9-6E1D3582B418}"/>
              </a:ext>
            </a:extLst>
          </p:cNvPr>
          <p:cNvSpPr>
            <a:spLocks xmlns:a="http://schemas.openxmlformats.org/drawingml/2006/main" noGrp="1"/>
          </p:cNvSpPr>
          <p:nvPr/>
        </p:nvSpPr>
        <p:spPr>
          <a:xfrm xmlns:a="http://schemas.openxmlformats.org/drawingml/2006/main">
            <a:off x="731520" y="357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CV phải đọc và ghi tay từng bản</a:t>
            </a:r>
          </a:p>
        </p:txBody>
      </p:sp>
      <p:sp>
        <p:nvSpPr>
          <p:cNvPr id="16" name="Rounded Rectangle 15">
            <a:extLst xmlns:a="http://schemas.openxmlformats.org/drawingml/2006/main">
              <a:ext uri="{FF2B5EF4-FFF2-40B4-BE49-F238E27FC236}">
                <a16:creationId xmlns:a16="http://schemas.microsoft.com/office/drawing/2014/main" id="{BFFCB7E1-60F7-4B56-9C31-FE736AD0AC69}"/>
              </a:ext>
            </a:extLst>
          </p:cNvPr>
          <p:cNvSpPr>
            <a:spLocks xmlns:a="http://schemas.openxmlformats.org/drawingml/2006/main" noGrp="1"/>
          </p:cNvSpPr>
          <p:nvPr/>
        </p:nvSpPr>
        <p:spPr>
          <a:xfrm xmlns:a="http://schemas.openxmlformats.org/drawingml/2006/main">
            <a:off x="6280000" y="3480000"/>
            <a:ext cx="5150000" cy="62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684577BD-6481-43A8-8593-F931AD908BBB}"/>
              </a:ext>
            </a:extLst>
          </p:cNvPr>
          <p:cNvSpPr>
            <a:spLocks xmlns:a="http://schemas.openxmlformats.org/drawingml/2006/main" noGrp="1"/>
          </p:cNvSpPr>
          <p:nvPr/>
        </p:nvSpPr>
        <p:spPr>
          <a:xfrm xmlns:a="http://schemas.openxmlformats.org/drawingml/2006/main">
            <a:off x="6280000" y="357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CV được tóm thành hồ sơ gọn, ứng viên xác nhận lại</a:t>
            </a:r>
          </a:p>
        </p:txBody>
      </p:sp>
      <p:sp>
        <p:nvSpPr>
          <p:cNvPr id="18" name="Rounded Rectangle 17">
            <a:extLst xmlns:a="http://schemas.openxmlformats.org/drawingml/2006/main">
              <a:ext uri="{FF2B5EF4-FFF2-40B4-BE49-F238E27FC236}">
                <a16:creationId xmlns:a16="http://schemas.microsoft.com/office/drawing/2014/main" id="{E56138DF-3481-4C2E-8426-C86A10317EC4}"/>
              </a:ext>
            </a:extLst>
          </p:cNvPr>
          <p:cNvSpPr>
            <a:spLocks xmlns:a="http://schemas.openxmlformats.org/drawingml/2006/main" noGrp="1"/>
          </p:cNvSpPr>
          <p:nvPr/>
        </p:nvSpPr>
        <p:spPr>
          <a:xfrm xmlns:a="http://schemas.openxmlformats.org/drawingml/2006/main">
            <a:off x="731520" y="4190000"/>
            <a:ext cx="5150000" cy="62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9422F1E5-3B4C-408E-BD35-A68370C62524}"/>
              </a:ext>
            </a:extLst>
          </p:cNvPr>
          <p:cNvSpPr>
            <a:spLocks xmlns:a="http://schemas.openxmlformats.org/drawingml/2006/main" noGrp="1"/>
          </p:cNvSpPr>
          <p:nvPr/>
        </p:nvSpPr>
        <p:spPr>
          <a:xfrm xmlns:a="http://schemas.openxmlformats.org/drawingml/2006/main">
            <a:off x="731520" y="428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Dò đơn hàng thủ công, dễ sót và dễ nhầm</a:t>
            </a:r>
          </a:p>
        </p:txBody>
      </p:sp>
      <p:sp>
        <p:nvSpPr>
          <p:cNvPr id="20" name="Rounded Rectangle 19">
            <a:extLst xmlns:a="http://schemas.openxmlformats.org/drawingml/2006/main">
              <a:ext uri="{FF2B5EF4-FFF2-40B4-BE49-F238E27FC236}">
                <a16:creationId xmlns:a16="http://schemas.microsoft.com/office/drawing/2014/main" id="{05214192-AE3A-4E9E-A94E-B2D8F155F64C}"/>
              </a:ext>
            </a:extLst>
          </p:cNvPr>
          <p:cNvSpPr>
            <a:spLocks xmlns:a="http://schemas.openxmlformats.org/drawingml/2006/main" noGrp="1"/>
          </p:cNvSpPr>
          <p:nvPr/>
        </p:nvSpPr>
        <p:spPr>
          <a:xfrm xmlns:a="http://schemas.openxmlformats.org/drawingml/2006/main">
            <a:off x="6280000" y="4190000"/>
            <a:ext cx="5150000" cy="62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4C2C4E44-95E6-4E9C-BAE6-E25B63840BB8}"/>
              </a:ext>
            </a:extLst>
          </p:cNvPr>
          <p:cNvSpPr>
            <a:spLocks xmlns:a="http://schemas.openxmlformats.org/drawingml/2006/main" noGrp="1"/>
          </p:cNvSpPr>
          <p:nvPr/>
        </p:nvSpPr>
        <p:spPr>
          <a:xfrm xmlns:a="http://schemas.openxmlformats.org/drawingml/2006/main">
            <a:off x="6280000" y="428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Đối chiếu tự động, loại sẵn đơn không đủ điều kiện</a:t>
            </a:r>
          </a:p>
        </p:txBody>
      </p:sp>
      <p:sp>
        <p:nvSpPr>
          <p:cNvPr id="22" name="Rounded Rectangle 21">
            <a:extLst xmlns:a="http://schemas.openxmlformats.org/drawingml/2006/main">
              <a:ext uri="{FF2B5EF4-FFF2-40B4-BE49-F238E27FC236}">
                <a16:creationId xmlns:a16="http://schemas.microsoft.com/office/drawing/2014/main" id="{27AAB276-8FE4-471C-AB78-DF109BFEC01E}"/>
              </a:ext>
            </a:extLst>
          </p:cNvPr>
          <p:cNvSpPr>
            <a:spLocks xmlns:a="http://schemas.openxmlformats.org/drawingml/2006/main" noGrp="1"/>
          </p:cNvSpPr>
          <p:nvPr/>
        </p:nvSpPr>
        <p:spPr>
          <a:xfrm xmlns:a="http://schemas.openxmlformats.org/drawingml/2006/main">
            <a:off x="731520" y="4900000"/>
            <a:ext cx="5150000" cy="62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83155872-8E45-43A3-BC7C-19161D33ABF0}"/>
              </a:ext>
            </a:extLst>
          </p:cNvPr>
          <p:cNvSpPr>
            <a:spLocks xmlns:a="http://schemas.openxmlformats.org/drawingml/2006/main" noGrp="1"/>
          </p:cNvSpPr>
          <p:nvPr/>
        </p:nvSpPr>
        <p:spPr>
          <a:xfrm xmlns:a="http://schemas.openxmlformats.org/drawingml/2006/main">
            <a:off x="731520" y="499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Nhân viên phải đọc lại cả cuộc hội thoại</a:t>
            </a:r>
          </a:p>
        </p:txBody>
      </p:sp>
      <p:sp>
        <p:nvSpPr>
          <p:cNvPr id="24" name="Rounded Rectangle 23">
            <a:extLst xmlns:a="http://schemas.openxmlformats.org/drawingml/2006/main">
              <a:ext uri="{FF2B5EF4-FFF2-40B4-BE49-F238E27FC236}">
                <a16:creationId xmlns:a16="http://schemas.microsoft.com/office/drawing/2014/main" id="{93CA53E4-6D92-43B8-9B48-F909E92987EA}"/>
              </a:ext>
            </a:extLst>
          </p:cNvPr>
          <p:cNvSpPr>
            <a:spLocks xmlns:a="http://schemas.openxmlformats.org/drawingml/2006/main" noGrp="1"/>
          </p:cNvSpPr>
          <p:nvPr/>
        </p:nvSpPr>
        <p:spPr>
          <a:xfrm xmlns:a="http://schemas.openxmlformats.org/drawingml/2006/main">
            <a:off x="6280000" y="4900000"/>
            <a:ext cx="5150000" cy="62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0BD81802-92D8-44DA-AAFB-D54B210A2B80}"/>
              </a:ext>
            </a:extLst>
          </p:cNvPr>
          <p:cNvSpPr>
            <a:spLocks xmlns:a="http://schemas.openxmlformats.org/drawingml/2006/main" noGrp="1"/>
          </p:cNvSpPr>
          <p:nvPr/>
        </p:nvSpPr>
        <p:spPr>
          <a:xfrm xmlns:a="http://schemas.openxmlformats.org/drawingml/2006/main">
            <a:off x="6280000" y="4990000"/>
            <a:ext cx="5150000" cy="6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i="0">
                <a:solidFill>
                  <a:srgbClr val="505050"/>
                </a:solidFill>
                <a:latin typeface="Times New Roman"/>
                <a:ea typeface="Times New Roman"/>
                <a:cs typeface="Times New Roman"/>
              </a:rPr>
              <a:t>✓  Nhận sẵn phiếu tóm tắt, đọc vài chục giây là đủ</a:t>
            </a:r>
          </a:p>
        </p:txBody>
      </p:sp>
    </p:spTree>
    <p:extLst>
      <p:ext uri="{BB962C8B-B14F-4D97-AF65-F5344CB8AC3E}">
        <p14:creationId xmlns:p14="http://schemas.microsoft.com/office/powerpoint/2010/main" val="66943578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EB6B5072-FFD7-4ECC-BFBE-FEA2E42D6C59}"/>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Ai dùng hệ thống và họ cần gì</a:t>
            </a:r>
          </a:p>
        </p:txBody>
      </p:sp>
      <p:sp>
        <p:nvSpPr>
          <p:cNvPr id="3" name="Rounded Rectangle 2">
            <a:extLst xmlns:a="http://schemas.openxmlformats.org/drawingml/2006/main">
              <a:ext uri="{FF2B5EF4-FFF2-40B4-BE49-F238E27FC236}">
                <a16:creationId xmlns:a16="http://schemas.microsoft.com/office/drawing/2014/main" id="{A5ABDFDB-0E48-461F-8EFE-6799B2A6CF66}"/>
              </a:ext>
            </a:extLst>
          </p:cNvPr>
          <p:cNvSpPr>
            <a:spLocks xmlns:a="http://schemas.openxmlformats.org/drawingml/2006/main" noGrp="1"/>
          </p:cNvSpPr>
          <p:nvPr/>
        </p:nvSpPr>
        <p:spPr>
          <a:xfrm xmlns:a="http://schemas.openxmlformats.org/drawingml/2006/main">
            <a:off x="731520" y="1150000"/>
            <a:ext cx="3452826" cy="7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400" b="1">
                <a:solidFill>
                  <a:srgbClr val="FFFFFF"/>
                </a:solidFill>
                <a:latin typeface="Times New Roman"/>
                <a:ea typeface="Times New Roman"/>
                <a:cs typeface="Times New Roman"/>
              </a:rPr>
              <a:t>Ứng viên</a:t>
            </a:r>
          </a:p>
        </p:txBody>
      </p:sp>
      <p:sp>
        <p:nvSpPr>
          <p:cNvPr id="4" name="Rounded Rectangle 3">
            <a:extLst xmlns:a="http://schemas.openxmlformats.org/drawingml/2006/main">
              <a:ext uri="{FF2B5EF4-FFF2-40B4-BE49-F238E27FC236}">
                <a16:creationId xmlns:a16="http://schemas.microsoft.com/office/drawing/2014/main" id="{2433F72E-F09E-4CC9-BA9E-009C3CB5B831}"/>
              </a:ext>
            </a:extLst>
          </p:cNvPr>
          <p:cNvSpPr>
            <a:spLocks xmlns:a="http://schemas.openxmlformats.org/drawingml/2006/main" noGrp="1"/>
          </p:cNvSpPr>
          <p:nvPr/>
        </p:nvSpPr>
        <p:spPr>
          <a:xfrm xmlns:a="http://schemas.openxmlformats.org/drawingml/2006/main">
            <a:off x="731520" y="1920000"/>
            <a:ext cx="3452826" cy="390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318C4B9-2459-423A-B84A-F00376863F8E}"/>
              </a:ext>
            </a:extLst>
          </p:cNvPr>
          <p:cNvSpPr>
            <a:spLocks xmlns:a="http://schemas.openxmlformats.org/drawingml/2006/main" noGrp="1"/>
          </p:cNvSpPr>
          <p:nvPr/>
        </p:nvSpPr>
        <p:spPr>
          <a:xfrm xmlns:a="http://schemas.openxmlformats.org/drawingml/2006/main">
            <a:off x="731520" y="2000000"/>
            <a:ext cx="3452826" cy="38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Bef>
                <a:spcPts val="200"/>
              </a:spcBef>
              <a:buNone/>
            </a:pPr>
            <a:r>
              <a:rPr sz="1100" b="0" i="1">
                <a:solidFill>
                  <a:srgbClr val="0F4C81"/>
                </a:solidFill>
                <a:latin typeface="Times New Roman"/>
                <a:ea typeface="Times New Roman"/>
                <a:cs typeface="Times New Roman"/>
              </a:rPr>
              <a:t>Nhóm đông nhất, truy cập ẩn danh</a:t>
            </a:r>
          </a:p>
          <a:p xmlns:a="http://schemas.openxmlformats.org/drawingml/2006/main">
            <a:pPr algn="l">
              <a:spcBef>
                <a:spcPts val="200"/>
              </a:spcBef>
              <a:buNone/>
            </a:pPr>
            <a:r>
              <a:rPr sz="1150" b="1" i="0">
                <a:solidFill>
                  <a:srgbClr val="0F4C81"/>
                </a:solidFill>
                <a:latin typeface="Times New Roman"/>
                <a:ea typeface="Times New Roman"/>
                <a:cs typeface="Times New Roman"/>
              </a:rPr>
              <a:t>Muốn biết:</a:t>
            </a:r>
          </a:p>
          <a:p xmlns:a="http://schemas.openxmlformats.org/drawingml/2006/main">
            <a:pPr algn="l">
              <a:spcBef>
                <a:spcPts val="200"/>
              </a:spcBef>
              <a:buNone/>
            </a:pPr>
            <a:r>
              <a:rPr sz="1100" b="0" i="0">
                <a:solidFill>
                  <a:srgbClr val="505050"/>
                </a:solidFill>
                <a:latin typeface="Times New Roman"/>
                <a:ea typeface="Times New Roman"/>
                <a:cs typeface="Times New Roman"/>
              </a:rPr>
              <a:t>mình có đủ điều kiện đi không, chi phí bao nhiêu, quy trình gồm những bước nào và có đơn phù hợp không.</a:t>
            </a:r>
          </a:p>
          <a:p xmlns:a="http://schemas.openxmlformats.org/drawingml/2006/main">
            <a:pPr algn="l">
              <a:spcBef>
                <a:spcPts val="1100"/>
              </a:spcBef>
              <a:buNone/>
            </a:pPr>
            <a:r>
              <a:rPr sz="1150" b="1" i="0">
                <a:solidFill>
                  <a:srgbClr val="0F4C81"/>
                </a:solidFill>
                <a:latin typeface="Times New Roman"/>
                <a:ea typeface="Times New Roman"/>
                <a:cs typeface="Times New Roman"/>
              </a:rPr>
              <a:t>Làm gì trên hệ thống:</a:t>
            </a:r>
          </a:p>
          <a:p xmlns:a="http://schemas.openxmlformats.org/drawingml/2006/main">
            <a:pPr algn="l">
              <a:spcBef>
                <a:spcPts val="200"/>
              </a:spcBef>
              <a:buNone/>
            </a:pPr>
            <a:r>
              <a:rPr sz="1100" b="0" i="0">
                <a:solidFill>
                  <a:srgbClr val="505050"/>
                </a:solidFill>
                <a:latin typeface="Times New Roman"/>
                <a:ea typeface="Times New Roman"/>
                <a:cs typeface="Times New Roman"/>
              </a:rPr>
              <a:t>trò chuyện, gửi CV, xem các đơn được gợi ý, chọn đơn mong muốn và xác nhận lịch hẹn.</a:t>
            </a:r>
          </a:p>
          <a:p xmlns:a="http://schemas.openxmlformats.org/drawingml/2006/main">
            <a:pPr algn="l">
              <a:spcBef>
                <a:spcPts val="1100"/>
              </a:spcBef>
              <a:buNone/>
            </a:pPr>
            <a:r>
              <a:rPr sz="1150" b="1" i="0">
                <a:solidFill>
                  <a:srgbClr val="0F4C81"/>
                </a:solidFill>
                <a:latin typeface="Times New Roman"/>
                <a:ea typeface="Times New Roman"/>
                <a:cs typeface="Times New Roman"/>
              </a:rPr>
              <a:t>Ghi chú phạm vi:</a:t>
            </a:r>
          </a:p>
          <a:p xmlns:a="http://schemas.openxmlformats.org/drawingml/2006/main">
            <a:pPr algn="l">
              <a:spcBef>
                <a:spcPts val="200"/>
              </a:spcBef>
              <a:buNone/>
            </a:pPr>
            <a:r>
              <a:rPr sz="1100" b="0" i="0">
                <a:solidFill>
                  <a:srgbClr val="505050"/>
                </a:solidFill>
                <a:latin typeface="Times New Roman"/>
                <a:ea typeface="Times New Roman"/>
                <a:cs typeface="Times New Roman"/>
              </a:rPr>
              <a:t>chưa thống nhất cấu trúc website, cách nhúng chatbot hoặc thiết kế UI/UX.</a:t>
            </a:r>
          </a:p>
        </p:txBody>
      </p:sp>
      <p:sp>
        <p:nvSpPr>
          <p:cNvPr id="6" name="Rounded Rectangle 5">
            <a:extLst xmlns:a="http://schemas.openxmlformats.org/drawingml/2006/main">
              <a:ext uri="{FF2B5EF4-FFF2-40B4-BE49-F238E27FC236}">
                <a16:creationId xmlns:a16="http://schemas.microsoft.com/office/drawing/2014/main" id="{0F49203C-2D9E-461A-9D59-ACE868FDDE7C}"/>
              </a:ext>
            </a:extLst>
          </p:cNvPr>
          <p:cNvSpPr>
            <a:spLocks xmlns:a="http://schemas.openxmlformats.org/drawingml/2006/main" noGrp="1"/>
          </p:cNvSpPr>
          <p:nvPr/>
        </p:nvSpPr>
        <p:spPr>
          <a:xfrm xmlns:a="http://schemas.openxmlformats.org/drawingml/2006/main">
            <a:off x="4354346" y="1150000"/>
            <a:ext cx="3452826" cy="700000"/>
          </a:xfrm>
          <a:prstGeom xmlns:a="http://schemas.openxmlformats.org/drawingml/2006/main" prst="roundRect">
            <a:avLst/>
          </a:prstGeom>
          <a:solidFill xmlns:a="http://schemas.openxmlformats.org/drawingml/2006/main">
            <a:srgbClr val="1E7A3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400" b="1">
                <a:solidFill>
                  <a:srgbClr val="FFFFFF"/>
                </a:solidFill>
                <a:latin typeface="Times New Roman"/>
                <a:ea typeface="Times New Roman"/>
                <a:cs typeface="Times New Roman"/>
              </a:rPr>
              <a:t>Nhân viên tư vấn</a:t>
            </a:r>
          </a:p>
        </p:txBody>
      </p:sp>
      <p:sp>
        <p:nvSpPr>
          <p:cNvPr id="7" name="Rounded Rectangle 6">
            <a:extLst xmlns:a="http://schemas.openxmlformats.org/drawingml/2006/main">
              <a:ext uri="{FF2B5EF4-FFF2-40B4-BE49-F238E27FC236}">
                <a16:creationId xmlns:a16="http://schemas.microsoft.com/office/drawing/2014/main" id="{D10A243A-616D-4A45-AFE9-8E7FF7BEC01D}"/>
              </a:ext>
            </a:extLst>
          </p:cNvPr>
          <p:cNvSpPr>
            <a:spLocks xmlns:a="http://schemas.openxmlformats.org/drawingml/2006/main" noGrp="1"/>
          </p:cNvSpPr>
          <p:nvPr/>
        </p:nvSpPr>
        <p:spPr>
          <a:xfrm xmlns:a="http://schemas.openxmlformats.org/drawingml/2006/main">
            <a:off x="4354346" y="1920000"/>
            <a:ext cx="3452826" cy="390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BA06B082-2800-4E38-AEB9-4ABF686A5B7B}"/>
              </a:ext>
            </a:extLst>
          </p:cNvPr>
          <p:cNvSpPr>
            <a:spLocks xmlns:a="http://schemas.openxmlformats.org/drawingml/2006/main" noGrp="1"/>
          </p:cNvSpPr>
          <p:nvPr/>
        </p:nvSpPr>
        <p:spPr>
          <a:xfrm xmlns:a="http://schemas.openxmlformats.org/drawingml/2006/main">
            <a:off x="4354346" y="2000000"/>
            <a:ext cx="3452826" cy="38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Bef>
                <a:spcPts val="200"/>
              </a:spcBef>
              <a:buNone/>
            </a:pPr>
            <a:r>
              <a:rPr sz="1100" b="0" i="1">
                <a:solidFill>
                  <a:srgbClr val="1E7A3C"/>
                </a:solidFill>
                <a:latin typeface="Times New Roman"/>
                <a:ea typeface="Times New Roman"/>
                <a:cs typeface="Times New Roman"/>
              </a:rPr>
              <a:t>Người trực tiếp tiếp nhận và xử lý hồ sơ</a:t>
            </a:r>
          </a:p>
          <a:p xmlns:a="http://schemas.openxmlformats.org/drawingml/2006/main">
            <a:pPr algn="l">
              <a:spcBef>
                <a:spcPts val="200"/>
              </a:spcBef>
              <a:buNone/>
            </a:pPr>
            <a:r>
              <a:rPr sz="1150" b="1" i="0">
                <a:solidFill>
                  <a:srgbClr val="1E7A3C"/>
                </a:solidFill>
                <a:latin typeface="Times New Roman"/>
                <a:ea typeface="Times New Roman"/>
                <a:cs typeface="Times New Roman"/>
              </a:rPr>
              <a:t>Muốn biết:</a:t>
            </a:r>
          </a:p>
          <a:p xmlns:a="http://schemas.openxmlformats.org/drawingml/2006/main">
            <a:pPr algn="l">
              <a:spcBef>
                <a:spcPts val="200"/>
              </a:spcBef>
              <a:buNone/>
            </a:pPr>
            <a:r>
              <a:rPr sz="1100" b="0" i="0">
                <a:solidFill>
                  <a:srgbClr val="505050"/>
                </a:solidFill>
                <a:latin typeface="Times New Roman"/>
                <a:ea typeface="Times New Roman"/>
                <a:cs typeface="Times New Roman"/>
              </a:rPr>
              <a:t>khách muốn đăng ký đơn nào, đã cung cấp gì, còn thiếu gì và khi nào cần liên hệ.</a:t>
            </a:r>
          </a:p>
          <a:p xmlns:a="http://schemas.openxmlformats.org/drawingml/2006/main">
            <a:pPr algn="l">
              <a:spcBef>
                <a:spcPts val="1100"/>
              </a:spcBef>
              <a:buNone/>
            </a:pPr>
            <a:r>
              <a:rPr sz="1150" b="1" i="0">
                <a:solidFill>
                  <a:srgbClr val="1E7A3C"/>
                </a:solidFill>
                <a:latin typeface="Times New Roman"/>
                <a:ea typeface="Times New Roman"/>
                <a:cs typeface="Times New Roman"/>
              </a:rPr>
              <a:t>Làm gì trên hệ thống:</a:t>
            </a:r>
          </a:p>
          <a:p xmlns:a="http://schemas.openxmlformats.org/drawingml/2006/main">
            <a:pPr algn="l">
              <a:spcBef>
                <a:spcPts val="200"/>
              </a:spcBef>
              <a:buNone/>
            </a:pPr>
            <a:r>
              <a:rPr sz="1100" b="0" i="0">
                <a:solidFill>
                  <a:srgbClr val="505050"/>
                </a:solidFill>
                <a:latin typeface="Times New Roman"/>
                <a:ea typeface="Times New Roman"/>
                <a:cs typeface="Times New Roman"/>
              </a:rPr>
              <a:t>nhận hồ sơ từ hàng đợi, xem phiếu tóm tắt, CV và hội thoại gốc; cập nhật trạng thái, ghi chú và kết quả liên hệ.</a:t>
            </a:r>
          </a:p>
          <a:p xmlns:a="http://schemas.openxmlformats.org/drawingml/2006/main">
            <a:pPr algn="l">
              <a:spcBef>
                <a:spcPts val="1100"/>
              </a:spcBef>
              <a:buNone/>
            </a:pPr>
            <a:r>
              <a:rPr sz="1150" b="1" i="0">
                <a:solidFill>
                  <a:srgbClr val="1E7A3C"/>
                </a:solidFill>
                <a:latin typeface="Times New Roman"/>
                <a:ea typeface="Times New Roman"/>
                <a:cs typeface="Times New Roman"/>
              </a:rPr>
              <a:t>Ghi chú thiết kế:</a:t>
            </a:r>
          </a:p>
          <a:p xmlns:a="http://schemas.openxmlformats.org/drawingml/2006/main">
            <a:pPr algn="l">
              <a:spcBef>
                <a:spcPts val="200"/>
              </a:spcBef>
              <a:buNone/>
            </a:pPr>
            <a:r>
              <a:rPr sz="1100" b="0" i="0">
                <a:solidFill>
                  <a:srgbClr val="505050"/>
                </a:solidFill>
                <a:latin typeface="Times New Roman"/>
                <a:ea typeface="Times New Roman"/>
                <a:cs typeface="Times New Roman"/>
              </a:rPr>
              <a:t>mỗi hồ sơ chỉ có một người phụ trách tại một thời điểm.</a:t>
            </a:r>
          </a:p>
        </p:txBody>
      </p:sp>
      <p:sp>
        <p:nvSpPr>
          <p:cNvPr id="9" name="Rounded Rectangle 8">
            <a:extLst xmlns:a="http://schemas.openxmlformats.org/drawingml/2006/main">
              <a:ext uri="{FF2B5EF4-FFF2-40B4-BE49-F238E27FC236}">
                <a16:creationId xmlns:a16="http://schemas.microsoft.com/office/drawing/2014/main" id="{5A673834-99B7-42F0-99B7-BE83C3EC0552}"/>
              </a:ext>
            </a:extLst>
          </p:cNvPr>
          <p:cNvSpPr>
            <a:spLocks xmlns:a="http://schemas.openxmlformats.org/drawingml/2006/main" noGrp="1"/>
          </p:cNvSpPr>
          <p:nvPr/>
        </p:nvSpPr>
        <p:spPr>
          <a:xfrm xmlns:a="http://schemas.openxmlformats.org/drawingml/2006/main">
            <a:off x="7977172" y="1150000"/>
            <a:ext cx="3452826" cy="700000"/>
          </a:xfrm>
          <a:prstGeom xmlns:a="http://schemas.openxmlformats.org/drawingml/2006/main" prst="roundRect">
            <a:avLst/>
          </a:prstGeom>
          <a:solidFill xmlns:a="http://schemas.openxmlformats.org/drawingml/2006/main">
            <a:srgbClr val="C06A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400" b="1">
                <a:solidFill>
                  <a:srgbClr val="FFFFFF"/>
                </a:solidFill>
                <a:latin typeface="Times New Roman"/>
                <a:ea typeface="Times New Roman"/>
                <a:cs typeface="Times New Roman"/>
              </a:rPr>
              <a:t>Quản lý và quản trị viên</a:t>
            </a:r>
          </a:p>
        </p:txBody>
      </p:sp>
      <p:sp>
        <p:nvSpPr>
          <p:cNvPr id="10" name="Rounded Rectangle 9">
            <a:extLst xmlns:a="http://schemas.openxmlformats.org/drawingml/2006/main">
              <a:ext uri="{FF2B5EF4-FFF2-40B4-BE49-F238E27FC236}">
                <a16:creationId xmlns:a16="http://schemas.microsoft.com/office/drawing/2014/main" id="{110DA3FF-FC97-4002-8008-0CB7F0B4CEA3}"/>
              </a:ext>
            </a:extLst>
          </p:cNvPr>
          <p:cNvSpPr>
            <a:spLocks xmlns:a="http://schemas.openxmlformats.org/drawingml/2006/main" noGrp="1"/>
          </p:cNvSpPr>
          <p:nvPr/>
        </p:nvSpPr>
        <p:spPr>
          <a:xfrm xmlns:a="http://schemas.openxmlformats.org/drawingml/2006/main">
            <a:off x="7977172" y="1920000"/>
            <a:ext cx="3452826" cy="390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80D6E8D6-953F-451C-A98A-FA008619BFC7}"/>
              </a:ext>
            </a:extLst>
          </p:cNvPr>
          <p:cNvSpPr>
            <a:spLocks xmlns:a="http://schemas.openxmlformats.org/drawingml/2006/main" noGrp="1"/>
          </p:cNvSpPr>
          <p:nvPr/>
        </p:nvSpPr>
        <p:spPr>
          <a:xfrm xmlns:a="http://schemas.openxmlformats.org/drawingml/2006/main">
            <a:off x="7977172" y="2000000"/>
            <a:ext cx="3452826" cy="38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Bef>
                <a:spcPts val="200"/>
              </a:spcBef>
              <a:buNone/>
            </a:pPr>
            <a:r>
              <a:rPr sz="1100" b="0" i="1">
                <a:solidFill>
                  <a:srgbClr val="C06A00"/>
                </a:solidFill>
                <a:latin typeface="Times New Roman"/>
                <a:ea typeface="Times New Roman"/>
                <a:cs typeface="Times New Roman"/>
              </a:rPr>
              <a:t>Người theo dõi đội ngũ và chất lượng xử lý</a:t>
            </a:r>
          </a:p>
          <a:p xmlns:a="http://schemas.openxmlformats.org/drawingml/2006/main">
            <a:pPr algn="l">
              <a:spcBef>
                <a:spcPts val="200"/>
              </a:spcBef>
              <a:buNone/>
            </a:pPr>
            <a:r>
              <a:rPr sz="1150" b="1" i="0">
                <a:solidFill>
                  <a:srgbClr val="C06A00"/>
                </a:solidFill>
                <a:latin typeface="Times New Roman"/>
                <a:ea typeface="Times New Roman"/>
                <a:cs typeface="Times New Roman"/>
              </a:rPr>
              <a:t>Muốn biết:</a:t>
            </a:r>
          </a:p>
          <a:p xmlns:a="http://schemas.openxmlformats.org/drawingml/2006/main">
            <a:pPr algn="l">
              <a:spcBef>
                <a:spcPts val="200"/>
              </a:spcBef>
              <a:buNone/>
            </a:pPr>
            <a:r>
              <a:rPr sz="1100" b="0" i="0">
                <a:solidFill>
                  <a:srgbClr val="505050"/>
                </a:solidFill>
                <a:latin typeface="Times New Roman"/>
                <a:ea typeface="Times New Roman"/>
                <a:cs typeface="Times New Roman"/>
              </a:rPr>
              <a:t>hồ sơ đang ở đâu, nhân viên nào phụ trách, thời gian phản hồi và kết quả xử lý.</a:t>
            </a:r>
          </a:p>
          <a:p xmlns:a="http://schemas.openxmlformats.org/drawingml/2006/main">
            <a:pPr algn="l">
              <a:spcBef>
                <a:spcPts val="1100"/>
              </a:spcBef>
              <a:buNone/>
            </a:pPr>
            <a:r>
              <a:rPr sz="1150" b="1" i="0">
                <a:solidFill>
                  <a:srgbClr val="C06A00"/>
                </a:solidFill>
                <a:latin typeface="Times New Roman"/>
                <a:ea typeface="Times New Roman"/>
                <a:cs typeface="Times New Roman"/>
              </a:rPr>
              <a:t>Làm gì trên hệ thống:</a:t>
            </a:r>
          </a:p>
          <a:p xmlns:a="http://schemas.openxmlformats.org/drawingml/2006/main">
            <a:pPr algn="l">
              <a:spcBef>
                <a:spcPts val="200"/>
              </a:spcBef>
              <a:buNone/>
            </a:pPr>
            <a:r>
              <a:rPr sz="1100" b="0" i="0">
                <a:solidFill>
                  <a:srgbClr val="505050"/>
                </a:solidFill>
                <a:latin typeface="Times New Roman"/>
                <a:ea typeface="Times New Roman"/>
                <a:cs typeface="Times New Roman"/>
              </a:rPr>
              <a:t>có toàn bộ khả năng của nhân viên; phân công hoặc chuyển hồ sơ, quản lý tài khoản và theo dõi điểm theo sự kiện.</a:t>
            </a:r>
          </a:p>
          <a:p xmlns:a="http://schemas.openxmlformats.org/drawingml/2006/main">
            <a:pPr algn="l">
              <a:spcBef>
                <a:spcPts val="1100"/>
              </a:spcBef>
              <a:buNone/>
            </a:pPr>
            <a:r>
              <a:rPr sz="1150" b="1" i="0">
                <a:solidFill>
                  <a:srgbClr val="C06A00"/>
                </a:solidFill>
                <a:latin typeface="Times New Roman"/>
                <a:ea typeface="Times New Roman"/>
                <a:cs typeface="Times New Roman"/>
              </a:rPr>
              <a:t>Ghi chú thiết kế:</a:t>
            </a:r>
          </a:p>
          <a:p xmlns:a="http://schemas.openxmlformats.org/drawingml/2006/main">
            <a:pPr algn="l">
              <a:spcBef>
                <a:spcPts val="200"/>
              </a:spcBef>
              <a:buNone/>
            </a:pPr>
            <a:r>
              <a:rPr sz="1100" b="0" i="0">
                <a:solidFill>
                  <a:srgbClr val="505050"/>
                </a:solidFill>
                <a:latin typeface="Times New Roman"/>
                <a:ea typeface="Times New Roman"/>
                <a:cs typeface="Times New Roman"/>
              </a:rPr>
              <a:t>điều chỉnh điểm thủ công phải ghi lý do và lưu nhật ký.</a:t>
            </a:r>
          </a:p>
        </p:txBody>
      </p:sp>
      <p:sp>
        <p:nvSpPr>
          <p:cNvPr id="12" name="Rounded Rectangle 11">
            <a:extLst xmlns:a="http://schemas.openxmlformats.org/drawingml/2006/main">
              <a:ext uri="{FF2B5EF4-FFF2-40B4-BE49-F238E27FC236}">
                <a16:creationId xmlns:a16="http://schemas.microsoft.com/office/drawing/2014/main" id="{EB247791-A130-4E94-BD3D-98520E192A7B}"/>
              </a:ext>
            </a:extLst>
          </p:cNvPr>
          <p:cNvSpPr>
            <a:spLocks xmlns:a="http://schemas.openxmlformats.org/drawingml/2006/main" noGrp="1"/>
          </p:cNvSpPr>
          <p:nvPr/>
        </p:nvSpPr>
        <p:spPr>
          <a:xfrm xmlns:a="http://schemas.openxmlformats.org/drawingml/2006/main">
            <a:off x="731520" y="5950000"/>
            <a:ext cx="10698480" cy="62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1D55DCDB-D95D-4DFC-A88C-2DA4CA5E1178}"/>
              </a:ext>
            </a:extLst>
          </p:cNvPr>
          <p:cNvSpPr>
            <a:spLocks xmlns:a="http://schemas.openxmlformats.org/drawingml/2006/main" noGrp="1"/>
          </p:cNvSpPr>
          <p:nvPr/>
        </p:nvSpPr>
        <p:spPr>
          <a:xfrm xmlns:a="http://schemas.openxmlformats.org/drawingml/2006/main">
            <a:off x="731520" y="6020000"/>
            <a:ext cx="10698480" cy="56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150" b="1" i="0">
                <a:solidFill>
                  <a:srgbClr val="0F4C81"/>
                </a:solidFill>
                <a:latin typeface="Times New Roman"/>
                <a:ea typeface="Times New Roman"/>
                <a:cs typeface="Times New Roman"/>
              </a:rPr>
              <a:t>Ứng viên không có tài khoản. Nhân viên và quản lý bắt buộc đăng nhập. </a:t>
            </a:r>
            <a:r>
              <a:rPr sz="1150" b="0" i="0">
                <a:solidFill>
                  <a:srgbClr val="505050"/>
                </a:solidFill>
                <a:latin typeface="Times New Roman"/>
                <a:ea typeface="Times New Roman"/>
                <a:cs typeface="Times New Roman"/>
              </a:rPr>
              <a:t>Hai nhóm dùng hai ứng dụng web tách rời nhau.</a:t>
            </a:r>
          </a:p>
        </p:txBody>
      </p:sp>
    </p:spTree>
    <p:extLst>
      <p:ext uri="{BB962C8B-B14F-4D97-AF65-F5344CB8AC3E}">
        <p14:creationId xmlns:p14="http://schemas.microsoft.com/office/powerpoint/2010/main" val="197656692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2C90E04-BD40-4469-AB79-8C6DA2FBC8A6}"/>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Bản đồ chức năng và phạm vi bảo vệ</a:t>
            </a:r>
          </a:p>
        </p:txBody>
      </p:sp>
      <p:sp>
        <p:nvSpPr>
          <p:cNvPr id="3" name="Rounded Rectangle 2">
            <a:extLst xmlns:a="http://schemas.openxmlformats.org/drawingml/2006/main">
              <a:ext uri="{FF2B5EF4-FFF2-40B4-BE49-F238E27FC236}">
                <a16:creationId xmlns:a16="http://schemas.microsoft.com/office/drawing/2014/main" id="{11A9D93C-7CA4-4A6E-81BC-7199533B99E9}"/>
              </a:ext>
            </a:extLst>
          </p:cNvPr>
          <p:cNvSpPr>
            <a:spLocks xmlns:a="http://schemas.openxmlformats.org/drawingml/2006/main" noGrp="1"/>
          </p:cNvSpPr>
          <p:nvPr/>
        </p:nvSpPr>
        <p:spPr>
          <a:xfrm xmlns:a="http://schemas.openxmlformats.org/drawingml/2006/main">
            <a:off x="731520" y="1450000"/>
            <a:ext cx="2562120" cy="11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B3EDC54B-2A8F-4802-A0CF-B71D27702755}"/>
              </a:ext>
            </a:extLst>
          </p:cNvPr>
          <p:cNvSpPr>
            <a:spLocks xmlns:a="http://schemas.openxmlformats.org/drawingml/2006/main" noGrp="1"/>
          </p:cNvSpPr>
          <p:nvPr/>
        </p:nvSpPr>
        <p:spPr>
          <a:xfrm xmlns:a="http://schemas.openxmlformats.org/drawingml/2006/main">
            <a:off x="731520" y="1550000"/>
            <a:ext cx="2562120" cy="11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Kênh khách hàng</a:t>
            </a:r>
          </a:p>
          <a:p xmlns:a="http://schemas.openxmlformats.org/drawingml/2006/main">
            <a:pPr algn="ctr">
              <a:spcBef>
                <a:spcPts val="400"/>
              </a:spcBef>
              <a:buNone/>
            </a:pPr>
            <a:r>
              <a:rPr sz="1050" b="0" i="0">
                <a:solidFill>
                  <a:srgbClr val="505050"/>
                </a:solidFill>
                <a:latin typeface="Times New Roman"/>
                <a:ea typeface="Times New Roman"/>
                <a:cs typeface="Times New Roman"/>
              </a:rPr>
              <a:t>Chức năng nghiệp vụ đã rõ; cấu trúc website và UI/UX chưa chốt</a:t>
            </a:r>
          </a:p>
        </p:txBody>
      </p:sp>
      <p:sp>
        <p:nvSpPr>
          <p:cNvPr id="5" name="Rounded Rectangle 4">
            <a:extLst xmlns:a="http://schemas.openxmlformats.org/drawingml/2006/main">
              <a:ext uri="{FF2B5EF4-FFF2-40B4-BE49-F238E27FC236}">
                <a16:creationId xmlns:a16="http://schemas.microsoft.com/office/drawing/2014/main" id="{F6B016D7-47E1-4437-BD8C-2DA30FE1C502}"/>
              </a:ext>
            </a:extLst>
          </p:cNvPr>
          <p:cNvSpPr>
            <a:spLocks xmlns:a="http://schemas.openxmlformats.org/drawingml/2006/main" noGrp="1"/>
          </p:cNvSpPr>
          <p:nvPr/>
        </p:nvSpPr>
        <p:spPr>
          <a:xfrm xmlns:a="http://schemas.openxmlformats.org/drawingml/2006/main">
            <a:off x="3443640" y="1450000"/>
            <a:ext cx="2562120" cy="11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F359A1C3-D099-4C63-B899-9E762F24C917}"/>
              </a:ext>
            </a:extLst>
          </p:cNvPr>
          <p:cNvSpPr>
            <a:spLocks xmlns:a="http://schemas.openxmlformats.org/drawingml/2006/main" noGrp="1"/>
          </p:cNvSpPr>
          <p:nvPr/>
        </p:nvSpPr>
        <p:spPr>
          <a:xfrm xmlns:a="http://schemas.openxmlformats.org/drawingml/2006/main">
            <a:off x="3443640" y="1550000"/>
            <a:ext cx="2562120" cy="11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Tư vấn tự động</a:t>
            </a:r>
          </a:p>
          <a:p xmlns:a="http://schemas.openxmlformats.org/drawingml/2006/main">
            <a:pPr algn="ctr">
              <a:spcBef>
                <a:spcPts val="400"/>
              </a:spcBef>
              <a:buNone/>
            </a:pPr>
            <a:r>
              <a:rPr sz="1050" b="0" i="0">
                <a:solidFill>
                  <a:srgbClr val="505050"/>
                </a:solidFill>
                <a:latin typeface="Times New Roman"/>
                <a:ea typeface="Times New Roman"/>
                <a:cs typeface="Times New Roman"/>
              </a:rPr>
              <a:t>Trả lời theo tài liệu chính thức, hiểu câu hỏi nối tiếp, từ chối khi thiếu căn cứ</a:t>
            </a:r>
          </a:p>
        </p:txBody>
      </p:sp>
      <p:sp>
        <p:nvSpPr>
          <p:cNvPr id="7" name="Rounded Rectangle 6">
            <a:extLst xmlns:a="http://schemas.openxmlformats.org/drawingml/2006/main">
              <a:ext uri="{FF2B5EF4-FFF2-40B4-BE49-F238E27FC236}">
                <a16:creationId xmlns:a16="http://schemas.microsoft.com/office/drawing/2014/main" id="{114FA028-720E-4CCC-AA66-316B8A12017D}"/>
              </a:ext>
            </a:extLst>
          </p:cNvPr>
          <p:cNvSpPr>
            <a:spLocks xmlns:a="http://schemas.openxmlformats.org/drawingml/2006/main" noGrp="1"/>
          </p:cNvSpPr>
          <p:nvPr/>
        </p:nvSpPr>
        <p:spPr>
          <a:xfrm xmlns:a="http://schemas.openxmlformats.org/drawingml/2006/main">
            <a:off x="6155760" y="1450000"/>
            <a:ext cx="2562120" cy="11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9CBB652D-3FB1-47CB-B60E-A283586D8673}"/>
              </a:ext>
            </a:extLst>
          </p:cNvPr>
          <p:cNvSpPr>
            <a:spLocks xmlns:a="http://schemas.openxmlformats.org/drawingml/2006/main" noGrp="1"/>
          </p:cNvSpPr>
          <p:nvPr/>
        </p:nvSpPr>
        <p:spPr>
          <a:xfrm xmlns:a="http://schemas.openxmlformats.org/drawingml/2006/main">
            <a:off x="6155760" y="1550000"/>
            <a:ext cx="2562120" cy="11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Đọc hồ sơ CV</a:t>
            </a:r>
          </a:p>
          <a:p xmlns:a="http://schemas.openxmlformats.org/drawingml/2006/main">
            <a:pPr algn="ctr">
              <a:spcBef>
                <a:spcPts val="400"/>
              </a:spcBef>
              <a:buNone/>
            </a:pPr>
            <a:r>
              <a:rPr sz="1050" b="0" i="0">
                <a:solidFill>
                  <a:srgbClr val="505050"/>
                </a:solidFill>
                <a:latin typeface="Times New Roman"/>
                <a:ea typeface="Times New Roman"/>
                <a:cs typeface="Times New Roman"/>
              </a:rPr>
              <a:t>Nhận file trong khung chat, rút ra thông tin năng lực và nguyện vọng</a:t>
            </a:r>
          </a:p>
        </p:txBody>
      </p:sp>
      <p:sp>
        <p:nvSpPr>
          <p:cNvPr id="9" name="Rounded Rectangle 8">
            <a:extLst xmlns:a="http://schemas.openxmlformats.org/drawingml/2006/main">
              <a:ext uri="{FF2B5EF4-FFF2-40B4-BE49-F238E27FC236}">
                <a16:creationId xmlns:a16="http://schemas.microsoft.com/office/drawing/2014/main" id="{0537A601-A144-42A0-9D26-CAF906EBD491}"/>
              </a:ext>
            </a:extLst>
          </p:cNvPr>
          <p:cNvSpPr>
            <a:spLocks xmlns:a="http://schemas.openxmlformats.org/drawingml/2006/main" noGrp="1"/>
          </p:cNvSpPr>
          <p:nvPr/>
        </p:nvSpPr>
        <p:spPr>
          <a:xfrm xmlns:a="http://schemas.openxmlformats.org/drawingml/2006/main">
            <a:off x="8867880" y="1450000"/>
            <a:ext cx="2562120" cy="11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CA823704-F48A-4A02-A9BC-B887F4E71726}"/>
              </a:ext>
            </a:extLst>
          </p:cNvPr>
          <p:cNvSpPr>
            <a:spLocks xmlns:a="http://schemas.openxmlformats.org/drawingml/2006/main" noGrp="1"/>
          </p:cNvSpPr>
          <p:nvPr/>
        </p:nvSpPr>
        <p:spPr>
          <a:xfrm xmlns:a="http://schemas.openxmlformats.org/drawingml/2006/main">
            <a:off x="8867880" y="1550000"/>
            <a:ext cx="2562120" cy="11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Danh mục đơn hàng</a:t>
            </a:r>
          </a:p>
          <a:p xmlns:a="http://schemas.openxmlformats.org/drawingml/2006/main">
            <a:pPr algn="ctr">
              <a:spcBef>
                <a:spcPts val="400"/>
              </a:spcBef>
              <a:buNone/>
            </a:pPr>
            <a:r>
              <a:rPr sz="1050" b="0" i="0">
                <a:solidFill>
                  <a:srgbClr val="505050"/>
                </a:solidFill>
                <a:latin typeface="Times New Roman"/>
                <a:ea typeface="Times New Roman"/>
                <a:cs typeface="Times New Roman"/>
              </a:rPr>
              <a:t>Quản lý đơn tuyển dụng, hiển thị công khai, nhập hàng loạt từ file</a:t>
            </a:r>
          </a:p>
        </p:txBody>
      </p:sp>
      <p:sp>
        <p:nvSpPr>
          <p:cNvPr id="11" name="Rounded Rectangle 10">
            <a:extLst xmlns:a="http://schemas.openxmlformats.org/drawingml/2006/main">
              <a:ext uri="{FF2B5EF4-FFF2-40B4-BE49-F238E27FC236}">
                <a16:creationId xmlns:a16="http://schemas.microsoft.com/office/drawing/2014/main" id="{8C09F82B-A212-4333-A85D-ACB022DD8339}"/>
              </a:ext>
            </a:extLst>
          </p:cNvPr>
          <p:cNvSpPr>
            <a:spLocks xmlns:a="http://schemas.openxmlformats.org/drawingml/2006/main" noGrp="1"/>
          </p:cNvSpPr>
          <p:nvPr/>
        </p:nvSpPr>
        <p:spPr>
          <a:xfrm xmlns:a="http://schemas.openxmlformats.org/drawingml/2006/main">
            <a:off x="731520" y="2770000"/>
            <a:ext cx="2562120" cy="11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D7E40337-D55B-4D97-9326-F24712A02061}"/>
              </a:ext>
            </a:extLst>
          </p:cNvPr>
          <p:cNvSpPr>
            <a:spLocks xmlns:a="http://schemas.openxmlformats.org/drawingml/2006/main" noGrp="1"/>
          </p:cNvSpPr>
          <p:nvPr/>
        </p:nvSpPr>
        <p:spPr>
          <a:xfrm xmlns:a="http://schemas.openxmlformats.org/drawingml/2006/main">
            <a:off x="731520" y="2870000"/>
            <a:ext cx="2562120" cy="11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Giới thiệu việc làm</a:t>
            </a:r>
          </a:p>
          <a:p xmlns:a="http://schemas.openxmlformats.org/drawingml/2006/main">
            <a:pPr algn="ctr">
              <a:spcBef>
                <a:spcPts val="400"/>
              </a:spcBef>
              <a:buNone/>
            </a:pPr>
            <a:r>
              <a:rPr sz="1050" b="0" i="0">
                <a:solidFill>
                  <a:srgbClr val="505050"/>
                </a:solidFill>
                <a:latin typeface="Times New Roman"/>
                <a:ea typeface="Times New Roman"/>
                <a:cs typeface="Times New Roman"/>
              </a:rPr>
              <a:t>Loại đơn không đủ điều kiện, sắp xếp theo nguyện vọng, nêu rõ lý do</a:t>
            </a:r>
          </a:p>
        </p:txBody>
      </p:sp>
      <p:sp>
        <p:nvSpPr>
          <p:cNvPr id="13" name="Rounded Rectangle 12">
            <a:extLst xmlns:a="http://schemas.openxmlformats.org/drawingml/2006/main">
              <a:ext uri="{FF2B5EF4-FFF2-40B4-BE49-F238E27FC236}">
                <a16:creationId xmlns:a16="http://schemas.microsoft.com/office/drawing/2014/main" id="{1897A951-3D0F-4815-B12B-4EF5AFF88B3E}"/>
              </a:ext>
            </a:extLst>
          </p:cNvPr>
          <p:cNvSpPr>
            <a:spLocks xmlns:a="http://schemas.openxmlformats.org/drawingml/2006/main" noGrp="1"/>
          </p:cNvSpPr>
          <p:nvPr/>
        </p:nvSpPr>
        <p:spPr>
          <a:xfrm xmlns:a="http://schemas.openxmlformats.org/drawingml/2006/main">
            <a:off x="3443640" y="2770000"/>
            <a:ext cx="2562120" cy="11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B2C13D7B-E405-42A5-8464-33C95D00A762}"/>
              </a:ext>
            </a:extLst>
          </p:cNvPr>
          <p:cNvSpPr>
            <a:spLocks xmlns:a="http://schemas.openxmlformats.org/drawingml/2006/main" noGrp="1"/>
          </p:cNvSpPr>
          <p:nvPr/>
        </p:nvSpPr>
        <p:spPr>
          <a:xfrm xmlns:a="http://schemas.openxmlformats.org/drawingml/2006/main">
            <a:off x="3443640" y="2870000"/>
            <a:ext cx="2562120" cy="11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Đăng ký và bàn giao</a:t>
            </a:r>
          </a:p>
          <a:p xmlns:a="http://schemas.openxmlformats.org/drawingml/2006/main">
            <a:pPr algn="ctr">
              <a:spcBef>
                <a:spcPts val="400"/>
              </a:spcBef>
              <a:buNone/>
            </a:pPr>
            <a:r>
              <a:rPr sz="1050" b="0" i="0">
                <a:solidFill>
                  <a:srgbClr val="505050"/>
                </a:solidFill>
                <a:latin typeface="Times New Roman"/>
                <a:ea typeface="Times New Roman"/>
                <a:cs typeface="Times New Roman"/>
              </a:rPr>
              <a:t>Hỏi xác nhận đơn khách chọn, tạo hồ sơ sơ bộ, phiếu tóm tắt và lịch hẹn</a:t>
            </a:r>
          </a:p>
        </p:txBody>
      </p:sp>
      <p:sp>
        <p:nvSpPr>
          <p:cNvPr id="15" name="Rounded Rectangle 14">
            <a:extLst xmlns:a="http://schemas.openxmlformats.org/drawingml/2006/main">
              <a:ext uri="{FF2B5EF4-FFF2-40B4-BE49-F238E27FC236}">
                <a16:creationId xmlns:a16="http://schemas.microsoft.com/office/drawing/2014/main" id="{2163F45B-F0E7-46EF-8FA5-8019E58E2612}"/>
              </a:ext>
            </a:extLst>
          </p:cNvPr>
          <p:cNvSpPr>
            <a:spLocks xmlns:a="http://schemas.openxmlformats.org/drawingml/2006/main" noGrp="1"/>
          </p:cNvSpPr>
          <p:nvPr/>
        </p:nvSpPr>
        <p:spPr>
          <a:xfrm xmlns:a="http://schemas.openxmlformats.org/drawingml/2006/main">
            <a:off x="6155760" y="2770000"/>
            <a:ext cx="2562120" cy="11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6CF456FB-818E-417B-B931-689D850B2E3B}"/>
              </a:ext>
            </a:extLst>
          </p:cNvPr>
          <p:cNvSpPr>
            <a:spLocks xmlns:a="http://schemas.openxmlformats.org/drawingml/2006/main" noGrp="1"/>
          </p:cNvSpPr>
          <p:nvPr/>
        </p:nvSpPr>
        <p:spPr>
          <a:xfrm xmlns:a="http://schemas.openxmlformats.org/drawingml/2006/main">
            <a:off x="6155760" y="2870000"/>
            <a:ext cx="2562120" cy="11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Hàng đợi và trạng thái</a:t>
            </a:r>
          </a:p>
          <a:p xmlns:a="http://schemas.openxmlformats.org/drawingml/2006/main">
            <a:pPr algn="ctr">
              <a:spcBef>
                <a:spcPts val="400"/>
              </a:spcBef>
              <a:buNone/>
            </a:pPr>
            <a:r>
              <a:rPr sz="1050" b="0" i="0">
                <a:solidFill>
                  <a:srgbClr val="505050"/>
                </a:solidFill>
                <a:latin typeface="Times New Roman"/>
                <a:ea typeface="Times New Roman"/>
                <a:cs typeface="Times New Roman"/>
              </a:rPr>
              <a:t>Nhân viên nhận hồ sơ, cập nhật tiến độ, ghi chú và kết quả liên hệ</a:t>
            </a:r>
          </a:p>
        </p:txBody>
      </p:sp>
      <p:sp>
        <p:nvSpPr>
          <p:cNvPr id="17" name="Rounded Rectangle 16">
            <a:extLst xmlns:a="http://schemas.openxmlformats.org/drawingml/2006/main">
              <a:ext uri="{FF2B5EF4-FFF2-40B4-BE49-F238E27FC236}">
                <a16:creationId xmlns:a16="http://schemas.microsoft.com/office/drawing/2014/main" id="{1AFAA0AA-63C4-4D97-B68A-4897490B4FE0}"/>
              </a:ext>
            </a:extLst>
          </p:cNvPr>
          <p:cNvSpPr>
            <a:spLocks xmlns:a="http://schemas.openxmlformats.org/drawingml/2006/main" noGrp="1"/>
          </p:cNvSpPr>
          <p:nvPr/>
        </p:nvSpPr>
        <p:spPr>
          <a:xfrm xmlns:a="http://schemas.openxmlformats.org/drawingml/2006/main">
            <a:off x="8867880" y="2770000"/>
            <a:ext cx="2562120" cy="11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F8A06200-4521-485C-883C-57A6279283DA}"/>
              </a:ext>
            </a:extLst>
          </p:cNvPr>
          <p:cNvSpPr>
            <a:spLocks xmlns:a="http://schemas.openxmlformats.org/drawingml/2006/main" noGrp="1"/>
          </p:cNvSpPr>
          <p:nvPr/>
        </p:nvSpPr>
        <p:spPr>
          <a:xfrm xmlns:a="http://schemas.openxmlformats.org/drawingml/2006/main">
            <a:off x="8867880" y="2870000"/>
            <a:ext cx="2562120" cy="11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Nhân viên và quản trị</a:t>
            </a:r>
          </a:p>
          <a:p xmlns:a="http://schemas.openxmlformats.org/drawingml/2006/main">
            <a:pPr algn="ctr">
              <a:spcBef>
                <a:spcPts val="400"/>
              </a:spcBef>
              <a:buNone/>
            </a:pPr>
            <a:r>
              <a:rPr sz="1050" b="0" i="0">
                <a:solidFill>
                  <a:srgbClr val="505050"/>
                </a:solidFill>
                <a:latin typeface="Times New Roman"/>
                <a:ea typeface="Times New Roman"/>
                <a:cs typeface="Times New Roman"/>
              </a:rPr>
              <a:t>Tài khoản, phân quyền, khối lượng xử lý, điểm và nhật ký thao tác</a:t>
            </a:r>
          </a:p>
        </p:txBody>
      </p:sp>
      <p:sp>
        <p:nvSpPr>
          <p:cNvPr id="19" name="Rounded Rectangle 18">
            <a:extLst xmlns:a="http://schemas.openxmlformats.org/drawingml/2006/main">
              <a:ext uri="{FF2B5EF4-FFF2-40B4-BE49-F238E27FC236}">
                <a16:creationId xmlns:a16="http://schemas.microsoft.com/office/drawing/2014/main" id="{A35D7990-21C9-4732-8705-82623B2CDBD5}"/>
              </a:ext>
            </a:extLst>
          </p:cNvPr>
          <p:cNvSpPr>
            <a:spLocks xmlns:a="http://schemas.openxmlformats.org/drawingml/2006/main" noGrp="1"/>
          </p:cNvSpPr>
          <p:nvPr/>
        </p:nvSpPr>
        <p:spPr>
          <a:xfrm xmlns:a="http://schemas.openxmlformats.org/drawingml/2006/main">
            <a:off x="731520" y="1150000"/>
            <a:ext cx="10698480" cy="24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100" b="1">
                <a:solidFill>
                  <a:srgbClr val="FFFFFF"/>
                </a:solidFill>
                <a:latin typeface="Times New Roman"/>
                <a:ea typeface="Times New Roman"/>
                <a:cs typeface="Times New Roman"/>
              </a:rPr>
              <a:t>BẮT BUỘC CÓ — các khối nghiệp vụ tạo thành một quy trình liền mạch</a:t>
            </a:r>
          </a:p>
        </p:txBody>
      </p:sp>
      <p:sp>
        <p:nvSpPr>
          <p:cNvPr id="20" name="Rounded Rectangle 19">
            <a:extLst xmlns:a="http://schemas.openxmlformats.org/drawingml/2006/main">
              <a:ext uri="{FF2B5EF4-FFF2-40B4-BE49-F238E27FC236}">
                <a16:creationId xmlns:a16="http://schemas.microsoft.com/office/drawing/2014/main" id="{85B85286-387B-4D33-9F0E-E8BCF9C8BBD9}"/>
              </a:ext>
            </a:extLst>
          </p:cNvPr>
          <p:cNvSpPr>
            <a:spLocks xmlns:a="http://schemas.openxmlformats.org/drawingml/2006/main" noGrp="1"/>
          </p:cNvSpPr>
          <p:nvPr/>
        </p:nvSpPr>
        <p:spPr>
          <a:xfrm xmlns:a="http://schemas.openxmlformats.org/drawingml/2006/main">
            <a:off x="731520" y="4200000"/>
            <a:ext cx="10698480" cy="72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144A6CAC-A5F5-466D-BF3A-80647BEEF01E}"/>
              </a:ext>
            </a:extLst>
          </p:cNvPr>
          <p:cNvSpPr>
            <a:spLocks xmlns:a="http://schemas.openxmlformats.org/drawingml/2006/main" noGrp="1"/>
          </p:cNvSpPr>
          <p:nvPr/>
        </p:nvSpPr>
        <p:spPr>
          <a:xfrm xmlns:a="http://schemas.openxmlformats.org/drawingml/2006/main">
            <a:off x="731520" y="4270000"/>
            <a:ext cx="10698480" cy="66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150" b="1" i="0">
                <a:solidFill>
                  <a:srgbClr val="1E7A3C"/>
                </a:solidFill>
                <a:latin typeface="Times New Roman"/>
                <a:ea typeface="Times New Roman"/>
                <a:cs typeface="Times New Roman"/>
              </a:rPr>
              <a:t>ĐÃ CHẠY ĐƯỢC: </a:t>
            </a:r>
            <a:r>
              <a:rPr sz="1150" b="0" i="0">
                <a:solidFill>
                  <a:srgbClr val="505050"/>
                </a:solidFill>
                <a:latin typeface="Times New Roman"/>
                <a:ea typeface="Times New Roman"/>
                <a:cs typeface="Times New Roman"/>
              </a:rPr>
              <a:t>tư vấn tự động theo tài liệu công ty, đặt lịch, quản lý khách và lịch hẹn, đăng nhập và phân quyền ba vai trò, nhật ký thao tác, quy trình nạp tài liệu.</a:t>
            </a:r>
          </a:p>
        </p:txBody>
      </p:sp>
      <p:sp>
        <p:nvSpPr>
          <p:cNvPr id="22" name="Rounded Rectangle 21">
            <a:extLst xmlns:a="http://schemas.openxmlformats.org/drawingml/2006/main">
              <a:ext uri="{FF2B5EF4-FFF2-40B4-BE49-F238E27FC236}">
                <a16:creationId xmlns:a16="http://schemas.microsoft.com/office/drawing/2014/main" id="{3A4C745D-4FC9-41CD-B3BA-72EFC32A9196}"/>
              </a:ext>
            </a:extLst>
          </p:cNvPr>
          <p:cNvSpPr>
            <a:spLocks xmlns:a="http://schemas.openxmlformats.org/drawingml/2006/main" noGrp="1"/>
          </p:cNvSpPr>
          <p:nvPr/>
        </p:nvSpPr>
        <p:spPr>
          <a:xfrm xmlns:a="http://schemas.openxmlformats.org/drawingml/2006/main">
            <a:off x="731520" y="5050000"/>
            <a:ext cx="10698480" cy="900000"/>
          </a:xfrm>
          <a:prstGeom xmlns:a="http://schemas.openxmlformats.org/drawingml/2006/main" prst="roundRect">
            <a:avLst/>
          </a:prstGeom>
          <a:solidFill xmlns:a="http://schemas.openxmlformats.org/drawingml/2006/main">
            <a:srgbClr val="F7F7F7"/>
          </a:solidFill>
          <a:ln xmlns:a="http://schemas.openxmlformats.org/drawingml/2006/main" w="12700">
            <a:solidFill>
              <a:srgbClr val="A0A0A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FE4C30DD-A516-41BA-AB1A-A77EC4CD479D}"/>
              </a:ext>
            </a:extLst>
          </p:cNvPr>
          <p:cNvSpPr>
            <a:spLocks xmlns:a="http://schemas.openxmlformats.org/drawingml/2006/main" noGrp="1"/>
          </p:cNvSpPr>
          <p:nvPr/>
        </p:nvSpPr>
        <p:spPr>
          <a:xfrm xmlns:a="http://schemas.openxmlformats.org/drawingml/2006/main">
            <a:off x="731520" y="5120000"/>
            <a:ext cx="10698480" cy="84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150" b="1" i="0">
                <a:solidFill>
                  <a:srgbClr val="505050"/>
                </a:solidFill>
                <a:latin typeface="Times New Roman"/>
                <a:ea typeface="Times New Roman"/>
                <a:cs typeface="Times New Roman"/>
              </a:rPr>
              <a:t>NGOÀI PHẠM VI BẢO VỆ — đưa vào hướng phát triển</a:t>
            </a:r>
          </a:p>
          <a:p xmlns:a="http://schemas.openxmlformats.org/drawingml/2006/main">
            <a:pPr algn="ctr">
              <a:spcBef>
                <a:spcPts val="400"/>
              </a:spcBef>
              <a:buNone/>
            </a:pPr>
            <a:r>
              <a:rPr sz="1150" b="0" i="0">
                <a:solidFill>
                  <a:srgbClr val="505050"/>
                </a:solidFill>
                <a:latin typeface="Times New Roman"/>
                <a:ea typeface="Times New Roman"/>
                <a:cs typeface="Times New Roman"/>
              </a:rPr>
              <a:t>Nhân viên tiếp quản chat trực tiếp · Tích hợp Facebook và Zalo · Nhắc lịch qua tin nhắn · Chấm điểm phù hợp bằng học máy · Ứng dụng di động riêng · Tài khoản cho ứng viên</a:t>
            </a:r>
          </a:p>
          <a:p xmlns:a="http://schemas.openxmlformats.org/drawingml/2006/main">
            <a:pPr algn="ctr">
              <a:spcBef>
                <a:spcPts val="400"/>
              </a:spcBef>
              <a:buNone/>
            </a:pPr>
            <a:r>
              <a:rPr sz="1100" b="0" i="1">
                <a:solidFill>
                  <a:srgbClr val="505050"/>
                </a:solidFill>
                <a:latin typeface="Times New Roman"/>
                <a:ea typeface="Times New Roman"/>
                <a:cs typeface="Times New Roman"/>
              </a:rPr>
              <a:t>Cấu trúc hệ thống vẫn được chuẩn bị sẵn để tích hợp thêm về sau.</a:t>
            </a:r>
          </a:p>
        </p:txBody>
      </p:sp>
    </p:spTree>
    <p:extLst>
      <p:ext uri="{BB962C8B-B14F-4D97-AF65-F5344CB8AC3E}">
        <p14:creationId xmlns:p14="http://schemas.microsoft.com/office/powerpoint/2010/main" val="63622961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A2E0B96-D59F-45A1-B675-3E906CEE3A50}"/>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Ba tình huống nghiệp vụ điển hình</a:t>
            </a:r>
          </a:p>
        </p:txBody>
      </p:sp>
      <p:sp>
        <p:nvSpPr>
          <p:cNvPr id="3" name="TextBox 2">
            <a:extLst xmlns:a="http://schemas.openxmlformats.org/drawingml/2006/main">
              <a:ext uri="{FF2B5EF4-FFF2-40B4-BE49-F238E27FC236}">
                <a16:creationId xmlns:a16="http://schemas.microsoft.com/office/drawing/2014/main" id="{B95104A7-1BAF-4A3C-BA7C-6C04BB58EFAD}"/>
              </a:ext>
            </a:extLst>
          </p:cNvPr>
          <p:cNvSpPr>
            <a:spLocks xmlns:a="http://schemas.openxmlformats.org/drawingml/2006/main" noGrp="1"/>
          </p:cNvSpPr>
          <p:nvPr/>
        </p:nvSpPr>
        <p:spPr>
          <a:xfrm xmlns:a="http://schemas.openxmlformats.org/drawingml/2006/main">
            <a:off x="731520" y="1120000"/>
            <a:ext cx="1069848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300" b="0" i="1">
                <a:solidFill>
                  <a:srgbClr val="0F4C81"/>
                </a:solidFill>
                <a:latin typeface="Times New Roman"/>
                <a:ea typeface="Times New Roman"/>
                <a:cs typeface="Times New Roman"/>
              </a:rPr>
              <a:t>Ba ca dưới đây phủ hết các nhánh xử lý: trả lời được, thu được khách, và phải chuyển cho người thật.</a:t>
            </a:r>
          </a:p>
        </p:txBody>
      </p:sp>
      <p:sp>
        <p:nvSpPr>
          <p:cNvPr id="4" name="Rounded Rectangle 3">
            <a:extLst xmlns:a="http://schemas.openxmlformats.org/drawingml/2006/main">
              <a:ext uri="{FF2B5EF4-FFF2-40B4-BE49-F238E27FC236}">
                <a16:creationId xmlns:a16="http://schemas.microsoft.com/office/drawing/2014/main" id="{2782FD73-B324-4DF8-A942-D0D09070C98D}"/>
              </a:ext>
            </a:extLst>
          </p:cNvPr>
          <p:cNvSpPr>
            <a:spLocks xmlns:a="http://schemas.openxmlformats.org/drawingml/2006/main" noGrp="1"/>
          </p:cNvSpPr>
          <p:nvPr/>
        </p:nvSpPr>
        <p:spPr>
          <a:xfrm xmlns:a="http://schemas.openxmlformats.org/drawingml/2006/main">
            <a:off x="731520" y="1600000"/>
            <a:ext cx="352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Tình huống</a:t>
            </a:r>
          </a:p>
        </p:txBody>
      </p:sp>
      <p:sp>
        <p:nvSpPr>
          <p:cNvPr id="5" name="Rounded Rectangle 4">
            <a:extLst xmlns:a="http://schemas.openxmlformats.org/drawingml/2006/main">
              <a:ext uri="{FF2B5EF4-FFF2-40B4-BE49-F238E27FC236}">
                <a16:creationId xmlns:a16="http://schemas.microsoft.com/office/drawing/2014/main" id="{5F978C99-F434-4430-A691-6AF1A2907A3C}"/>
              </a:ext>
            </a:extLst>
          </p:cNvPr>
          <p:cNvSpPr>
            <a:spLocks xmlns:a="http://schemas.openxmlformats.org/drawingml/2006/main" noGrp="1"/>
          </p:cNvSpPr>
          <p:nvPr/>
        </p:nvSpPr>
        <p:spPr>
          <a:xfrm xmlns:a="http://schemas.openxmlformats.org/drawingml/2006/main">
            <a:off x="4400000" y="1600000"/>
            <a:ext cx="352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Hệ thống xử lý</a:t>
            </a:r>
          </a:p>
        </p:txBody>
      </p:sp>
      <p:sp>
        <p:nvSpPr>
          <p:cNvPr id="6" name="Rounded Rectangle 5">
            <a:extLst xmlns:a="http://schemas.openxmlformats.org/drawingml/2006/main">
              <a:ext uri="{FF2B5EF4-FFF2-40B4-BE49-F238E27FC236}">
                <a16:creationId xmlns:a16="http://schemas.microsoft.com/office/drawing/2014/main" id="{2078AA72-C468-4B2C-A9CD-9154BCB7A4EF}"/>
              </a:ext>
            </a:extLst>
          </p:cNvPr>
          <p:cNvSpPr>
            <a:spLocks xmlns:a="http://schemas.openxmlformats.org/drawingml/2006/main" noGrp="1"/>
          </p:cNvSpPr>
          <p:nvPr/>
        </p:nvSpPr>
        <p:spPr>
          <a:xfrm xmlns:a="http://schemas.openxmlformats.org/drawingml/2006/main">
            <a:off x="8100000" y="1600000"/>
            <a:ext cx="333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Kết quả nghiệp vụ</a:t>
            </a:r>
          </a:p>
        </p:txBody>
      </p:sp>
      <p:sp>
        <p:nvSpPr>
          <p:cNvPr id="7" name="Rounded Rectangle 6">
            <a:extLst xmlns:a="http://schemas.openxmlformats.org/drawingml/2006/main">
              <a:ext uri="{FF2B5EF4-FFF2-40B4-BE49-F238E27FC236}">
                <a16:creationId xmlns:a16="http://schemas.microsoft.com/office/drawing/2014/main" id="{C23B2210-D110-4B92-B152-BCBEFD4A8249}"/>
              </a:ext>
            </a:extLst>
          </p:cNvPr>
          <p:cNvSpPr>
            <a:spLocks xmlns:a="http://schemas.openxmlformats.org/drawingml/2006/main" noGrp="1"/>
          </p:cNvSpPr>
          <p:nvPr/>
        </p:nvSpPr>
        <p:spPr>
          <a:xfrm xmlns:a="http://schemas.openxmlformats.org/drawingml/2006/main">
            <a:off x="731520" y="2080000"/>
            <a:ext cx="3520000" cy="135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6CD2C932-4805-4377-B551-6D0A4600FFCB}"/>
              </a:ext>
            </a:extLst>
          </p:cNvPr>
          <p:cNvSpPr>
            <a:spLocks xmlns:a="http://schemas.openxmlformats.org/drawingml/2006/main" noGrp="1"/>
          </p:cNvSpPr>
          <p:nvPr/>
        </p:nvSpPr>
        <p:spPr>
          <a:xfrm xmlns:a="http://schemas.openxmlformats.org/drawingml/2006/main">
            <a:off x="731520" y="2160000"/>
            <a:ext cx="3520000" cy="13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1" i="0">
                <a:solidFill>
                  <a:srgbClr val="1E7A3C"/>
                </a:solidFill>
                <a:latin typeface="Times New Roman"/>
                <a:ea typeface="Times New Roman"/>
                <a:cs typeface="Times New Roman"/>
              </a:rPr>
              <a:t>Hỏi thông tin thuần tuý</a:t>
            </a:r>
          </a:p>
          <a:p xmlns:a="http://schemas.openxmlformats.org/drawingml/2006/main">
            <a:pPr algn="l">
              <a:spcBef>
                <a:spcPts val="500"/>
              </a:spcBef>
              <a:buNone/>
            </a:pPr>
            <a:r>
              <a:rPr sz="1100" b="0" i="1">
                <a:solidFill>
                  <a:srgbClr val="505050"/>
                </a:solidFill>
                <a:latin typeface="Times New Roman"/>
                <a:ea typeface="Times New Roman"/>
                <a:cs typeface="Times New Roman"/>
              </a:rPr>
              <a:t>“Điều dưỡng ở Nhật lương khoảng bao nhiêu một tháng ạ?”</a:t>
            </a:r>
          </a:p>
        </p:txBody>
      </p:sp>
      <p:sp>
        <p:nvSpPr>
          <p:cNvPr id="9" name="Rounded Rectangle 8">
            <a:extLst xmlns:a="http://schemas.openxmlformats.org/drawingml/2006/main">
              <a:ext uri="{FF2B5EF4-FFF2-40B4-BE49-F238E27FC236}">
                <a16:creationId xmlns:a16="http://schemas.microsoft.com/office/drawing/2014/main" id="{93536A97-6198-4D68-8CDA-B556355B9239}"/>
              </a:ext>
            </a:extLst>
          </p:cNvPr>
          <p:cNvSpPr>
            <a:spLocks xmlns:a="http://schemas.openxmlformats.org/drawingml/2006/main" noGrp="1"/>
          </p:cNvSpPr>
          <p:nvPr/>
        </p:nvSpPr>
        <p:spPr>
          <a:xfrm xmlns:a="http://schemas.openxmlformats.org/drawingml/2006/main">
            <a:off x="4400000" y="2080000"/>
            <a:ext cx="3520000" cy="135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34A9A5EC-4232-4297-B6FF-3DF75217DE9B}"/>
              </a:ext>
            </a:extLst>
          </p:cNvPr>
          <p:cNvSpPr>
            <a:spLocks xmlns:a="http://schemas.openxmlformats.org/drawingml/2006/main" noGrp="1"/>
          </p:cNvSpPr>
          <p:nvPr/>
        </p:nvSpPr>
        <p:spPr>
          <a:xfrm xmlns:a="http://schemas.openxmlformats.org/drawingml/2006/main">
            <a:off x="4400000" y="2160000"/>
            <a:ext cx="3520000" cy="13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Tra đúng tài liệu chính thức của công ty về mức lương và trả lời kèm nguồn, không nói theo hiểu biết chung chung.</a:t>
            </a:r>
          </a:p>
        </p:txBody>
      </p:sp>
      <p:sp>
        <p:nvSpPr>
          <p:cNvPr id="11" name="Rounded Rectangle 10">
            <a:extLst xmlns:a="http://schemas.openxmlformats.org/drawingml/2006/main">
              <a:ext uri="{FF2B5EF4-FFF2-40B4-BE49-F238E27FC236}">
                <a16:creationId xmlns:a16="http://schemas.microsoft.com/office/drawing/2014/main" id="{4B7131F1-3584-4685-B6B1-E05DC3F0D5D1}"/>
              </a:ext>
            </a:extLst>
          </p:cNvPr>
          <p:cNvSpPr>
            <a:spLocks xmlns:a="http://schemas.openxmlformats.org/drawingml/2006/main" noGrp="1"/>
          </p:cNvSpPr>
          <p:nvPr/>
        </p:nvSpPr>
        <p:spPr>
          <a:xfrm xmlns:a="http://schemas.openxmlformats.org/drawingml/2006/main">
            <a:off x="8100000" y="2080000"/>
            <a:ext cx="3330000" cy="135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B7E930A0-F8B8-46A5-98CF-E69181437D66}"/>
              </a:ext>
            </a:extLst>
          </p:cNvPr>
          <p:cNvSpPr>
            <a:spLocks xmlns:a="http://schemas.openxmlformats.org/drawingml/2006/main" noGrp="1"/>
          </p:cNvSpPr>
          <p:nvPr/>
        </p:nvSpPr>
        <p:spPr>
          <a:xfrm xmlns:a="http://schemas.openxmlformats.org/drawingml/2006/main">
            <a:off x="8100000" y="2160000"/>
            <a:ext cx="3330000" cy="13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Ứng viên được giải đáp ngay mà không cần nhân viên. Cuộc trò chuyện vẫn được lưu lại.</a:t>
            </a:r>
          </a:p>
        </p:txBody>
      </p:sp>
      <p:sp>
        <p:nvSpPr>
          <p:cNvPr id="13" name="Rounded Rectangle 12">
            <a:extLst xmlns:a="http://schemas.openxmlformats.org/drawingml/2006/main">
              <a:ext uri="{FF2B5EF4-FFF2-40B4-BE49-F238E27FC236}">
                <a16:creationId xmlns:a16="http://schemas.microsoft.com/office/drawing/2014/main" id="{6EB306CA-7B15-41B8-8B98-56EB70CEAB57}"/>
              </a:ext>
            </a:extLst>
          </p:cNvPr>
          <p:cNvSpPr>
            <a:spLocks xmlns:a="http://schemas.openxmlformats.org/drawingml/2006/main" noGrp="1"/>
          </p:cNvSpPr>
          <p:nvPr/>
        </p:nvSpPr>
        <p:spPr>
          <a:xfrm xmlns:a="http://schemas.openxmlformats.org/drawingml/2006/main">
            <a:off x="731520" y="3570000"/>
            <a:ext cx="3520000" cy="13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DE3F7061-2F89-4014-816C-148564545B52}"/>
              </a:ext>
            </a:extLst>
          </p:cNvPr>
          <p:cNvSpPr>
            <a:spLocks xmlns:a="http://schemas.openxmlformats.org/drawingml/2006/main" noGrp="1"/>
          </p:cNvSpPr>
          <p:nvPr/>
        </p:nvSpPr>
        <p:spPr>
          <a:xfrm xmlns:a="http://schemas.openxmlformats.org/drawingml/2006/main">
            <a:off x="731520" y="3650000"/>
            <a:ext cx="3520000" cy="13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1" i="0">
                <a:solidFill>
                  <a:srgbClr val="0F4C81"/>
                </a:solidFill>
                <a:latin typeface="Times New Roman"/>
                <a:ea typeface="Times New Roman"/>
                <a:cs typeface="Times New Roman"/>
              </a:rPr>
              <a:t>Gửi CV kèm nguyện vọng tìm việc</a:t>
            </a:r>
          </a:p>
          <a:p xmlns:a="http://schemas.openxmlformats.org/drawingml/2006/main">
            <a:pPr algn="l">
              <a:spcBef>
                <a:spcPts val="500"/>
              </a:spcBef>
              <a:buNone/>
            </a:pPr>
            <a:r>
              <a:rPr sz="1100" b="0" i="1">
                <a:solidFill>
                  <a:srgbClr val="505050"/>
                </a:solidFill>
                <a:latin typeface="Times New Roman"/>
                <a:ea typeface="Times New Roman"/>
                <a:cs typeface="Times New Roman"/>
              </a:rPr>
              <a:t>“Em có bằng điều dưỡng, tiếng Nhật N4, muốn làm ở khu vực Tokyo.”</a:t>
            </a:r>
          </a:p>
        </p:txBody>
      </p:sp>
      <p:sp>
        <p:nvSpPr>
          <p:cNvPr id="15" name="Rounded Rectangle 14">
            <a:extLst xmlns:a="http://schemas.openxmlformats.org/drawingml/2006/main">
              <a:ext uri="{FF2B5EF4-FFF2-40B4-BE49-F238E27FC236}">
                <a16:creationId xmlns:a16="http://schemas.microsoft.com/office/drawing/2014/main" id="{9AA8C2CE-AFB0-46C4-AC99-9032F6507282}"/>
              </a:ext>
            </a:extLst>
          </p:cNvPr>
          <p:cNvSpPr>
            <a:spLocks xmlns:a="http://schemas.openxmlformats.org/drawingml/2006/main" noGrp="1"/>
          </p:cNvSpPr>
          <p:nvPr/>
        </p:nvSpPr>
        <p:spPr>
          <a:xfrm xmlns:a="http://schemas.openxmlformats.org/drawingml/2006/main">
            <a:off x="4400000" y="3570000"/>
            <a:ext cx="3520000" cy="13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34A3CAC3-E8C2-4707-B598-41AB44D5B46D}"/>
              </a:ext>
            </a:extLst>
          </p:cNvPr>
          <p:cNvSpPr>
            <a:spLocks xmlns:a="http://schemas.openxmlformats.org/drawingml/2006/main" noGrp="1"/>
          </p:cNvSpPr>
          <p:nvPr/>
        </p:nvSpPr>
        <p:spPr>
          <a:xfrm xmlns:a="http://schemas.openxmlformats.org/drawingml/2006/main">
            <a:off x="4400000" y="3650000"/>
            <a:ext cx="3520000" cy="13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Đọc CV, lập hồ sơ và cho ứng viên xác nhận. Đối chiếu danh mục đơn hàng, loại đơn không đủ điều kiện, giới thiệu các đơn còn lại kèm lý do, rồi mời đặt lịch.</a:t>
            </a:r>
          </a:p>
        </p:txBody>
      </p:sp>
      <p:sp>
        <p:nvSpPr>
          <p:cNvPr id="17" name="Rounded Rectangle 16">
            <a:extLst xmlns:a="http://schemas.openxmlformats.org/drawingml/2006/main">
              <a:ext uri="{FF2B5EF4-FFF2-40B4-BE49-F238E27FC236}">
                <a16:creationId xmlns:a16="http://schemas.microsoft.com/office/drawing/2014/main" id="{7438A45E-7CB3-458B-B174-D4206363A5BA}"/>
              </a:ext>
            </a:extLst>
          </p:cNvPr>
          <p:cNvSpPr>
            <a:spLocks xmlns:a="http://schemas.openxmlformats.org/drawingml/2006/main" noGrp="1"/>
          </p:cNvSpPr>
          <p:nvPr/>
        </p:nvSpPr>
        <p:spPr>
          <a:xfrm xmlns:a="http://schemas.openxmlformats.org/drawingml/2006/main">
            <a:off x="8100000" y="3570000"/>
            <a:ext cx="3330000" cy="13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A8821F3E-9EC6-4BD1-B3AE-FD37882D2523}"/>
              </a:ext>
            </a:extLst>
          </p:cNvPr>
          <p:cNvSpPr>
            <a:spLocks xmlns:a="http://schemas.openxmlformats.org/drawingml/2006/main" noGrp="1"/>
          </p:cNvSpPr>
          <p:nvPr/>
        </p:nvSpPr>
        <p:spPr>
          <a:xfrm xmlns:a="http://schemas.openxmlformats.org/drawingml/2006/main">
            <a:off x="8100000" y="3650000"/>
            <a:ext cx="3330000" cy="13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Sinh ra một khách tiềm năng kèm Phiếu tóm tắt tư vấn và lịch hẹn cụ thể cho nhân viên.</a:t>
            </a:r>
          </a:p>
        </p:txBody>
      </p:sp>
      <p:sp>
        <p:nvSpPr>
          <p:cNvPr id="19" name="Rounded Rectangle 18">
            <a:extLst xmlns:a="http://schemas.openxmlformats.org/drawingml/2006/main">
              <a:ext uri="{FF2B5EF4-FFF2-40B4-BE49-F238E27FC236}">
                <a16:creationId xmlns:a16="http://schemas.microsoft.com/office/drawing/2014/main" id="{00568216-9CE7-4A15-BC0E-AE922E09DC9D}"/>
              </a:ext>
            </a:extLst>
          </p:cNvPr>
          <p:cNvSpPr>
            <a:spLocks xmlns:a="http://schemas.openxmlformats.org/drawingml/2006/main" noGrp="1"/>
          </p:cNvSpPr>
          <p:nvPr/>
        </p:nvSpPr>
        <p:spPr>
          <a:xfrm xmlns:a="http://schemas.openxmlformats.org/drawingml/2006/main">
            <a:off x="731520" y="5060000"/>
            <a:ext cx="3520000" cy="135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792EB628-B4DD-430C-864A-AD592F3602F5}"/>
              </a:ext>
            </a:extLst>
          </p:cNvPr>
          <p:cNvSpPr>
            <a:spLocks xmlns:a="http://schemas.openxmlformats.org/drawingml/2006/main" noGrp="1"/>
          </p:cNvSpPr>
          <p:nvPr/>
        </p:nvSpPr>
        <p:spPr>
          <a:xfrm xmlns:a="http://schemas.openxmlformats.org/drawingml/2006/main">
            <a:off x="731520" y="5140000"/>
            <a:ext cx="3520000" cy="13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1" i="0">
                <a:solidFill>
                  <a:srgbClr val="B32D2D"/>
                </a:solidFill>
                <a:latin typeface="Times New Roman"/>
                <a:ea typeface="Times New Roman"/>
                <a:cs typeface="Times New Roman"/>
              </a:rPr>
              <a:t>Hỏi điều chưa có trong tài liệu</a:t>
            </a:r>
          </a:p>
          <a:p xmlns:a="http://schemas.openxmlformats.org/drawingml/2006/main">
            <a:pPr algn="l">
              <a:spcBef>
                <a:spcPts val="500"/>
              </a:spcBef>
              <a:buNone/>
            </a:pPr>
            <a:r>
              <a:rPr sz="1100" b="0" i="1">
                <a:solidFill>
                  <a:srgbClr val="505050"/>
                </a:solidFill>
                <a:latin typeface="Times New Roman"/>
                <a:ea typeface="Times New Roman"/>
                <a:cs typeface="Times New Roman"/>
              </a:rPr>
              <a:t>“Cho em hỏi thủ tục bảo lãnh vợ con sang Nhật ạ?”</a:t>
            </a:r>
          </a:p>
        </p:txBody>
      </p:sp>
      <p:sp>
        <p:nvSpPr>
          <p:cNvPr id="21" name="Rounded Rectangle 20">
            <a:extLst xmlns:a="http://schemas.openxmlformats.org/drawingml/2006/main">
              <a:ext uri="{FF2B5EF4-FFF2-40B4-BE49-F238E27FC236}">
                <a16:creationId xmlns:a16="http://schemas.microsoft.com/office/drawing/2014/main" id="{58E29750-5B33-4018-9B2A-EAE5D0BB3506}"/>
              </a:ext>
            </a:extLst>
          </p:cNvPr>
          <p:cNvSpPr>
            <a:spLocks xmlns:a="http://schemas.openxmlformats.org/drawingml/2006/main" noGrp="1"/>
          </p:cNvSpPr>
          <p:nvPr/>
        </p:nvSpPr>
        <p:spPr>
          <a:xfrm xmlns:a="http://schemas.openxmlformats.org/drawingml/2006/main">
            <a:off x="4400000" y="5060000"/>
            <a:ext cx="3520000" cy="135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3928D1AA-35CE-42F2-9602-5F91D8B253A7}"/>
              </a:ext>
            </a:extLst>
          </p:cNvPr>
          <p:cNvSpPr>
            <a:spLocks xmlns:a="http://schemas.openxmlformats.org/drawingml/2006/main" noGrp="1"/>
          </p:cNvSpPr>
          <p:nvPr/>
        </p:nvSpPr>
        <p:spPr>
          <a:xfrm xmlns:a="http://schemas.openxmlformats.org/drawingml/2006/main">
            <a:off x="4400000" y="5140000"/>
            <a:ext cx="3520000" cy="13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Không tìm được căn cứ trong tài liệu công ty, hệ thống KHÔNG trả lời liều mà nói rõ là chưa có thông tin.</a:t>
            </a:r>
          </a:p>
        </p:txBody>
      </p:sp>
      <p:sp>
        <p:nvSpPr>
          <p:cNvPr id="23" name="Rounded Rectangle 22">
            <a:extLst xmlns:a="http://schemas.openxmlformats.org/drawingml/2006/main">
              <a:ext uri="{FF2B5EF4-FFF2-40B4-BE49-F238E27FC236}">
                <a16:creationId xmlns:a16="http://schemas.microsoft.com/office/drawing/2014/main" id="{F40481B4-012C-4FE3-9BA2-55442DA06CBF}"/>
              </a:ext>
            </a:extLst>
          </p:cNvPr>
          <p:cNvSpPr>
            <a:spLocks xmlns:a="http://schemas.openxmlformats.org/drawingml/2006/main" noGrp="1"/>
          </p:cNvSpPr>
          <p:nvPr/>
        </p:nvSpPr>
        <p:spPr>
          <a:xfrm xmlns:a="http://schemas.openxmlformats.org/drawingml/2006/main">
            <a:off x="8100000" y="5060000"/>
            <a:ext cx="3330000" cy="135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9FC51C35-F059-4D98-8AA7-915BCEF8A652}"/>
              </a:ext>
            </a:extLst>
          </p:cNvPr>
          <p:cNvSpPr>
            <a:spLocks xmlns:a="http://schemas.openxmlformats.org/drawingml/2006/main" noGrp="1"/>
          </p:cNvSpPr>
          <p:nvPr/>
        </p:nvSpPr>
        <p:spPr>
          <a:xfrm xmlns:a="http://schemas.openxmlformats.org/drawingml/2006/main">
            <a:off x="8100000" y="5140000"/>
            <a:ext cx="3330000" cy="13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Chuyển sang mời đặt lịch gặp nhân viên. Không trả lời sai, vẫn giữ được khách.</a:t>
            </a:r>
          </a:p>
        </p:txBody>
      </p:sp>
    </p:spTree>
    <p:extLst>
      <p:ext uri="{BB962C8B-B14F-4D97-AF65-F5344CB8AC3E}">
        <p14:creationId xmlns:p14="http://schemas.microsoft.com/office/powerpoint/2010/main" val="7182608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58890E0-D697-49EA-8BC9-DC048515A3C0}"/>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Đường đi của một ứng viên, từ tin nhắn đến cuộc gọi</a:t>
            </a:r>
          </a:p>
        </p:txBody>
      </p:sp>
      <p:sp>
        <p:nvSpPr>
          <p:cNvPr id="3" name="TextBox 2">
            <a:extLst xmlns:a="http://schemas.openxmlformats.org/drawingml/2006/main">
              <a:ext uri="{FF2B5EF4-FFF2-40B4-BE49-F238E27FC236}">
                <a16:creationId xmlns:a16="http://schemas.microsoft.com/office/drawing/2014/main" id="{96FC92DB-D3ED-48E8-96F3-0060BF6ACCA9}"/>
              </a:ext>
            </a:extLst>
          </p:cNvPr>
          <p:cNvSpPr>
            <a:spLocks xmlns:a="http://schemas.openxmlformats.org/drawingml/2006/main" noGrp="1"/>
          </p:cNvSpPr>
          <p:nvPr/>
        </p:nvSpPr>
        <p:spPr>
          <a:xfrm xmlns:a="http://schemas.openxmlformats.org/drawingml/2006/main">
            <a:off x="731520" y="1120000"/>
            <a:ext cx="1069848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300" b="0" i="1">
                <a:solidFill>
                  <a:srgbClr val="0F4C81"/>
                </a:solidFill>
                <a:latin typeface="Times New Roman"/>
                <a:ea typeface="Times New Roman"/>
                <a:cs typeface="Times New Roman"/>
              </a:rPr>
              <a:t>Ứng viên không phải chờ đến sáng hôm sau. Nhân viên không phải bắt đầu từ con số không.</a:t>
            </a:r>
          </a:p>
        </p:txBody>
      </p:sp>
      <p:sp>
        <p:nvSpPr>
          <p:cNvPr id="4" name="Rounded Rectangle 3">
            <a:extLst xmlns:a="http://schemas.openxmlformats.org/drawingml/2006/main">
              <a:ext uri="{FF2B5EF4-FFF2-40B4-BE49-F238E27FC236}">
                <a16:creationId xmlns:a16="http://schemas.microsoft.com/office/drawing/2014/main" id="{49797D54-F0E1-41AC-B010-6717AB5F1B1C}"/>
              </a:ext>
            </a:extLst>
          </p:cNvPr>
          <p:cNvSpPr>
            <a:spLocks xmlns:a="http://schemas.openxmlformats.org/drawingml/2006/main" noGrp="1"/>
          </p:cNvSpPr>
          <p:nvPr/>
        </p:nvSpPr>
        <p:spPr>
          <a:xfrm xmlns:a="http://schemas.openxmlformats.org/drawingml/2006/main">
            <a:off x="731520" y="1600000"/>
            <a:ext cx="320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Ứng viên làm gì</a:t>
            </a:r>
          </a:p>
        </p:txBody>
      </p:sp>
      <p:sp>
        <p:nvSpPr>
          <p:cNvPr id="5" name="Rounded Rectangle 4">
            <a:extLst xmlns:a="http://schemas.openxmlformats.org/drawingml/2006/main">
              <a:ext uri="{FF2B5EF4-FFF2-40B4-BE49-F238E27FC236}">
                <a16:creationId xmlns:a16="http://schemas.microsoft.com/office/drawing/2014/main" id="{A0CF7E8E-91F1-4A13-B9BA-E690F61D2AA7}"/>
              </a:ext>
            </a:extLst>
          </p:cNvPr>
          <p:cNvSpPr>
            <a:spLocks xmlns:a="http://schemas.openxmlformats.org/drawingml/2006/main" noGrp="1"/>
          </p:cNvSpPr>
          <p:nvPr/>
        </p:nvSpPr>
        <p:spPr>
          <a:xfrm xmlns:a="http://schemas.openxmlformats.org/drawingml/2006/main">
            <a:off x="4100000" y="1600000"/>
            <a:ext cx="3200000" cy="400000"/>
          </a:xfrm>
          <a:prstGeom xmlns:a="http://schemas.openxmlformats.org/drawingml/2006/main" prst="roundRect">
            <a:avLst/>
          </a:prstGeom>
          <a:solidFill xmlns:a="http://schemas.openxmlformats.org/drawingml/2006/main">
            <a:srgbClr val="1E7A3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Hệ thống làm gì</a:t>
            </a:r>
          </a:p>
        </p:txBody>
      </p:sp>
      <p:sp>
        <p:nvSpPr>
          <p:cNvPr id="6" name="Rounded Rectangle 5">
            <a:extLst xmlns:a="http://schemas.openxmlformats.org/drawingml/2006/main">
              <a:ext uri="{FF2B5EF4-FFF2-40B4-BE49-F238E27FC236}">
                <a16:creationId xmlns:a16="http://schemas.microsoft.com/office/drawing/2014/main" id="{726B1B63-D8B7-45C2-B4C9-C9FF001860F9}"/>
              </a:ext>
            </a:extLst>
          </p:cNvPr>
          <p:cNvSpPr>
            <a:spLocks xmlns:a="http://schemas.openxmlformats.org/drawingml/2006/main" noGrp="1"/>
          </p:cNvSpPr>
          <p:nvPr/>
        </p:nvSpPr>
        <p:spPr>
          <a:xfrm xmlns:a="http://schemas.openxmlformats.org/drawingml/2006/main">
            <a:off x="7500000" y="1600000"/>
            <a:ext cx="3950000" cy="400000"/>
          </a:xfrm>
          <a:prstGeom xmlns:a="http://schemas.openxmlformats.org/drawingml/2006/main" prst="roundRect">
            <a:avLst/>
          </a:prstGeom>
          <a:solidFill xmlns:a="http://schemas.openxmlformats.org/drawingml/2006/main">
            <a:srgbClr val="C06A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Kết quả sau mỗi bước</a:t>
            </a:r>
          </a:p>
        </p:txBody>
      </p:sp>
      <p:sp>
        <p:nvSpPr>
          <p:cNvPr id="7" name="Rounded Rectangle 6">
            <a:extLst xmlns:a="http://schemas.openxmlformats.org/drawingml/2006/main">
              <a:ext uri="{FF2B5EF4-FFF2-40B4-BE49-F238E27FC236}">
                <a16:creationId xmlns:a16="http://schemas.microsoft.com/office/drawing/2014/main" id="{8B92B07E-F34D-475E-848C-94EF12BD5BBD}"/>
              </a:ext>
            </a:extLst>
          </p:cNvPr>
          <p:cNvSpPr>
            <a:spLocks xmlns:a="http://schemas.openxmlformats.org/drawingml/2006/main" noGrp="1"/>
          </p:cNvSpPr>
          <p:nvPr/>
        </p:nvSpPr>
        <p:spPr>
          <a:xfrm xmlns:a="http://schemas.openxmlformats.org/drawingml/2006/main">
            <a:off x="731520" y="2080000"/>
            <a:ext cx="3200000" cy="83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ABD8AE79-128C-4A22-9288-696BCDE4AD5B}"/>
              </a:ext>
            </a:extLst>
          </p:cNvPr>
          <p:cNvSpPr>
            <a:spLocks xmlns:a="http://schemas.openxmlformats.org/drawingml/2006/main" noGrp="1"/>
          </p:cNvSpPr>
          <p:nvPr/>
        </p:nvSpPr>
        <p:spPr>
          <a:xfrm xmlns:a="http://schemas.openxmlformats.org/drawingml/2006/main">
            <a:off x="731520" y="214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Nhắn tin và gửi file CV vào khung chat</a:t>
            </a:r>
          </a:p>
        </p:txBody>
      </p:sp>
      <p:sp>
        <p:nvSpPr>
          <p:cNvPr id="9" name="Rounded Rectangle 8">
            <a:extLst xmlns:a="http://schemas.openxmlformats.org/drawingml/2006/main">
              <a:ext uri="{FF2B5EF4-FFF2-40B4-BE49-F238E27FC236}">
                <a16:creationId xmlns:a16="http://schemas.microsoft.com/office/drawing/2014/main" id="{B77893F1-08BB-4D60-9AE7-52247DB67B65}"/>
              </a:ext>
            </a:extLst>
          </p:cNvPr>
          <p:cNvSpPr>
            <a:spLocks xmlns:a="http://schemas.openxmlformats.org/drawingml/2006/main" noGrp="1"/>
          </p:cNvSpPr>
          <p:nvPr/>
        </p:nvSpPr>
        <p:spPr>
          <a:xfrm xmlns:a="http://schemas.openxmlformats.org/drawingml/2006/main">
            <a:off x="4100000" y="2080000"/>
            <a:ext cx="3200000" cy="83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CCC234CB-7D81-44CE-8638-005124A261E8}"/>
              </a:ext>
            </a:extLst>
          </p:cNvPr>
          <p:cNvSpPr>
            <a:spLocks xmlns:a="http://schemas.openxmlformats.org/drawingml/2006/main" noGrp="1"/>
          </p:cNvSpPr>
          <p:nvPr/>
        </p:nvSpPr>
        <p:spPr>
          <a:xfrm xmlns:a="http://schemas.openxmlformats.org/drawingml/2006/main">
            <a:off x="4100000" y="214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Đọc nội dung CV và các câu vừa nhắn</a:t>
            </a:r>
          </a:p>
        </p:txBody>
      </p:sp>
      <p:sp>
        <p:nvSpPr>
          <p:cNvPr id="11" name="Rounded Rectangle 10">
            <a:extLst xmlns:a="http://schemas.openxmlformats.org/drawingml/2006/main">
              <a:ext uri="{FF2B5EF4-FFF2-40B4-BE49-F238E27FC236}">
                <a16:creationId xmlns:a16="http://schemas.microsoft.com/office/drawing/2014/main" id="{FCF92A66-0F7F-4D27-A31A-80AEE8DBE194}"/>
              </a:ext>
            </a:extLst>
          </p:cNvPr>
          <p:cNvSpPr>
            <a:spLocks xmlns:a="http://schemas.openxmlformats.org/drawingml/2006/main" noGrp="1"/>
          </p:cNvSpPr>
          <p:nvPr/>
        </p:nvSpPr>
        <p:spPr>
          <a:xfrm xmlns:a="http://schemas.openxmlformats.org/drawingml/2006/main">
            <a:off x="7500000" y="2080000"/>
            <a:ext cx="3950000" cy="83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FE779E22-D6D6-4722-B625-7E1E414C7194}"/>
              </a:ext>
            </a:extLst>
          </p:cNvPr>
          <p:cNvSpPr>
            <a:spLocks xmlns:a="http://schemas.openxmlformats.org/drawingml/2006/main" noGrp="1"/>
          </p:cNvSpPr>
          <p:nvPr/>
        </p:nvSpPr>
        <p:spPr>
          <a:xfrm xmlns:a="http://schemas.openxmlformats.org/drawingml/2006/main">
            <a:off x="7500000" y="2140000"/>
            <a:ext cx="395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 Có bản nháp hồ sơ ứng viên</a:t>
            </a:r>
          </a:p>
        </p:txBody>
      </p:sp>
      <p:sp>
        <p:nvSpPr>
          <p:cNvPr id="13" name="Connector 12">
            <a:extLst xmlns:a="http://schemas.openxmlformats.org/drawingml/2006/main">
              <a:ext uri="{FF2B5EF4-FFF2-40B4-BE49-F238E27FC236}">
                <a16:creationId xmlns:a16="http://schemas.microsoft.com/office/drawing/2014/main" id="{DFE67399-2A64-4B47-9647-F8F7826796CE}"/>
              </a:ext>
            </a:extLst>
          </p:cNvPr>
          <p:cNvSpPr>
            <a:spLocks xmlns:a="http://schemas.openxmlformats.org/drawingml/2006/main" noGrp="1"/>
          </p:cNvSpPr>
          <p:nvPr/>
        </p:nvSpPr>
        <p:spPr>
          <a:xfrm xmlns:a="http://schemas.openxmlformats.org/drawingml/2006/main">
            <a:off x="2331520" y="2910000"/>
            <a:ext cx="0" cy="110000"/>
          </a:xfrm>
          <a:prstGeom xmlns:a="http://schemas.openxmlformats.org/drawingml/2006/main" prst="line">
            <a:avLst/>
          </a:prstGeom>
          <a:ln xmlns:a="http://schemas.openxmlformats.org/drawingml/2006/main" w="15875">
            <a:solidFill>
              <a:srgbClr val="505050"/>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4" name="Rounded Rectangle 13">
            <a:extLst xmlns:a="http://schemas.openxmlformats.org/drawingml/2006/main">
              <a:ext uri="{FF2B5EF4-FFF2-40B4-BE49-F238E27FC236}">
                <a16:creationId xmlns:a16="http://schemas.microsoft.com/office/drawing/2014/main" id="{34A303D5-1C6B-4B2D-9CED-77CD5978298B}"/>
              </a:ext>
            </a:extLst>
          </p:cNvPr>
          <p:cNvSpPr>
            <a:spLocks xmlns:a="http://schemas.openxmlformats.org/drawingml/2006/main" noGrp="1"/>
          </p:cNvSpPr>
          <p:nvPr/>
        </p:nvSpPr>
        <p:spPr>
          <a:xfrm xmlns:a="http://schemas.openxmlformats.org/drawingml/2006/main">
            <a:off x="731520" y="3020000"/>
            <a:ext cx="3200000" cy="83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9857A10-C7CA-43EA-9CDD-9D8F1688B42B}"/>
              </a:ext>
            </a:extLst>
          </p:cNvPr>
          <p:cNvSpPr>
            <a:spLocks xmlns:a="http://schemas.openxmlformats.org/drawingml/2006/main" noGrp="1"/>
          </p:cNvSpPr>
          <p:nvPr/>
        </p:nvSpPr>
        <p:spPr>
          <a:xfrm xmlns:a="http://schemas.openxmlformats.org/drawingml/2006/main">
            <a:off x="731520" y="308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Xem lại thẻ hồ sơ, sửa chỗ chưa đúng</a:t>
            </a:r>
          </a:p>
        </p:txBody>
      </p:sp>
      <p:sp>
        <p:nvSpPr>
          <p:cNvPr id="16" name="Rounded Rectangle 15">
            <a:extLst xmlns:a="http://schemas.openxmlformats.org/drawingml/2006/main">
              <a:ext uri="{FF2B5EF4-FFF2-40B4-BE49-F238E27FC236}">
                <a16:creationId xmlns:a16="http://schemas.microsoft.com/office/drawing/2014/main" id="{920F4D8D-4EA5-4DC5-941A-3EDE2241CA15}"/>
              </a:ext>
            </a:extLst>
          </p:cNvPr>
          <p:cNvSpPr>
            <a:spLocks xmlns:a="http://schemas.openxmlformats.org/drawingml/2006/main" noGrp="1"/>
          </p:cNvSpPr>
          <p:nvPr/>
        </p:nvSpPr>
        <p:spPr>
          <a:xfrm xmlns:a="http://schemas.openxmlformats.org/drawingml/2006/main">
            <a:off x="4100000" y="3020000"/>
            <a:ext cx="3200000" cy="83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B3206A78-45F2-484F-B9F7-CF1B8DC552D2}"/>
              </a:ext>
            </a:extLst>
          </p:cNvPr>
          <p:cNvSpPr>
            <a:spLocks xmlns:a="http://schemas.openxmlformats.org/drawingml/2006/main" noGrp="1"/>
          </p:cNvSpPr>
          <p:nvPr/>
        </p:nvSpPr>
        <p:spPr>
          <a:xfrm xmlns:a="http://schemas.openxmlformats.org/drawingml/2006/main">
            <a:off x="4100000" y="308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Hỏi lại những thông tin chưa chắc chắn, không tự đoán</a:t>
            </a:r>
          </a:p>
        </p:txBody>
      </p:sp>
      <p:sp>
        <p:nvSpPr>
          <p:cNvPr id="18" name="Rounded Rectangle 17">
            <a:extLst xmlns:a="http://schemas.openxmlformats.org/drawingml/2006/main">
              <a:ext uri="{FF2B5EF4-FFF2-40B4-BE49-F238E27FC236}">
                <a16:creationId xmlns:a16="http://schemas.microsoft.com/office/drawing/2014/main" id="{4BE22A7A-0C0A-4529-A7D2-955245D629E5}"/>
              </a:ext>
            </a:extLst>
          </p:cNvPr>
          <p:cNvSpPr>
            <a:spLocks xmlns:a="http://schemas.openxmlformats.org/drawingml/2006/main" noGrp="1"/>
          </p:cNvSpPr>
          <p:nvPr/>
        </p:nvSpPr>
        <p:spPr>
          <a:xfrm xmlns:a="http://schemas.openxmlformats.org/drawingml/2006/main">
            <a:off x="7500000" y="3020000"/>
            <a:ext cx="3950000" cy="83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42FFD18B-E311-4B36-A2B3-114706B15206}"/>
              </a:ext>
            </a:extLst>
          </p:cNvPr>
          <p:cNvSpPr>
            <a:spLocks xmlns:a="http://schemas.openxmlformats.org/drawingml/2006/main" noGrp="1"/>
          </p:cNvSpPr>
          <p:nvPr/>
        </p:nvSpPr>
        <p:spPr>
          <a:xfrm xmlns:a="http://schemas.openxmlformats.org/drawingml/2006/main">
            <a:off x="7500000" y="3080000"/>
            <a:ext cx="395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 Hồ sơ đã được chính ứng viên xác nhận</a:t>
            </a:r>
          </a:p>
        </p:txBody>
      </p:sp>
      <p:sp>
        <p:nvSpPr>
          <p:cNvPr id="20" name="Connector 19">
            <a:extLst xmlns:a="http://schemas.openxmlformats.org/drawingml/2006/main">
              <a:ext uri="{FF2B5EF4-FFF2-40B4-BE49-F238E27FC236}">
                <a16:creationId xmlns:a16="http://schemas.microsoft.com/office/drawing/2014/main" id="{9BCBD826-355A-4D2E-B067-0F1817601D2E}"/>
              </a:ext>
            </a:extLst>
          </p:cNvPr>
          <p:cNvSpPr>
            <a:spLocks xmlns:a="http://schemas.openxmlformats.org/drawingml/2006/main" noGrp="1"/>
          </p:cNvSpPr>
          <p:nvPr/>
        </p:nvSpPr>
        <p:spPr>
          <a:xfrm xmlns:a="http://schemas.openxmlformats.org/drawingml/2006/main">
            <a:off x="2331520" y="3850000"/>
            <a:ext cx="0" cy="110000"/>
          </a:xfrm>
          <a:prstGeom xmlns:a="http://schemas.openxmlformats.org/drawingml/2006/main" prst="line">
            <a:avLst/>
          </a:prstGeom>
          <a:ln xmlns:a="http://schemas.openxmlformats.org/drawingml/2006/main" w="15875">
            <a:solidFill>
              <a:srgbClr val="505050"/>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21" name="Rounded Rectangle 20">
            <a:extLst xmlns:a="http://schemas.openxmlformats.org/drawingml/2006/main">
              <a:ext uri="{FF2B5EF4-FFF2-40B4-BE49-F238E27FC236}">
                <a16:creationId xmlns:a16="http://schemas.microsoft.com/office/drawing/2014/main" id="{892941F1-83AB-41A1-9332-4E80BD0D5D40}"/>
              </a:ext>
            </a:extLst>
          </p:cNvPr>
          <p:cNvSpPr>
            <a:spLocks xmlns:a="http://schemas.openxmlformats.org/drawingml/2006/main" noGrp="1"/>
          </p:cNvSpPr>
          <p:nvPr/>
        </p:nvSpPr>
        <p:spPr>
          <a:xfrm xmlns:a="http://schemas.openxmlformats.org/drawingml/2006/main">
            <a:off x="731520" y="3960000"/>
            <a:ext cx="3200000" cy="83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9EAF1BE1-4DDA-4C0C-B248-8128FC0548AA}"/>
              </a:ext>
            </a:extLst>
          </p:cNvPr>
          <p:cNvSpPr>
            <a:spLocks xmlns:a="http://schemas.openxmlformats.org/drawingml/2006/main" noGrp="1"/>
          </p:cNvSpPr>
          <p:nvPr/>
        </p:nvSpPr>
        <p:spPr>
          <a:xfrm xmlns:a="http://schemas.openxmlformats.org/drawingml/2006/main">
            <a:off x="731520" y="402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Hỏi thêm về chi phí, thủ tục, thời gian</a:t>
            </a:r>
          </a:p>
        </p:txBody>
      </p:sp>
      <p:sp>
        <p:nvSpPr>
          <p:cNvPr id="23" name="Rounded Rectangle 22">
            <a:extLst xmlns:a="http://schemas.openxmlformats.org/drawingml/2006/main">
              <a:ext uri="{FF2B5EF4-FFF2-40B4-BE49-F238E27FC236}">
                <a16:creationId xmlns:a16="http://schemas.microsoft.com/office/drawing/2014/main" id="{FC5C5726-11E7-48C3-8842-682B7C4541AE}"/>
              </a:ext>
            </a:extLst>
          </p:cNvPr>
          <p:cNvSpPr>
            <a:spLocks xmlns:a="http://schemas.openxmlformats.org/drawingml/2006/main" noGrp="1"/>
          </p:cNvSpPr>
          <p:nvPr/>
        </p:nvSpPr>
        <p:spPr>
          <a:xfrm xmlns:a="http://schemas.openxmlformats.org/drawingml/2006/main">
            <a:off x="4100000" y="3960000"/>
            <a:ext cx="3200000" cy="83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66795D5D-9F7C-452A-92CE-F45B0EEAB74F}"/>
              </a:ext>
            </a:extLst>
          </p:cNvPr>
          <p:cNvSpPr>
            <a:spLocks xmlns:a="http://schemas.openxmlformats.org/drawingml/2006/main" noGrp="1"/>
          </p:cNvSpPr>
          <p:nvPr/>
        </p:nvSpPr>
        <p:spPr>
          <a:xfrm xmlns:a="http://schemas.openxmlformats.org/drawingml/2006/main">
            <a:off x="4100000" y="402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Tra đúng tài liệu chính thức của công ty để trả lời</a:t>
            </a:r>
          </a:p>
        </p:txBody>
      </p:sp>
      <p:sp>
        <p:nvSpPr>
          <p:cNvPr id="25" name="Rounded Rectangle 24">
            <a:extLst xmlns:a="http://schemas.openxmlformats.org/drawingml/2006/main">
              <a:ext uri="{FF2B5EF4-FFF2-40B4-BE49-F238E27FC236}">
                <a16:creationId xmlns:a16="http://schemas.microsoft.com/office/drawing/2014/main" id="{58242D77-1A54-4F9D-92D2-39F761698B24}"/>
              </a:ext>
            </a:extLst>
          </p:cNvPr>
          <p:cNvSpPr>
            <a:spLocks xmlns:a="http://schemas.openxmlformats.org/drawingml/2006/main" noGrp="1"/>
          </p:cNvSpPr>
          <p:nvPr/>
        </p:nvSpPr>
        <p:spPr>
          <a:xfrm xmlns:a="http://schemas.openxmlformats.org/drawingml/2006/main">
            <a:off x="7500000" y="3960000"/>
            <a:ext cx="3950000" cy="83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7010E017-DE70-4F10-AB75-627A99BD6609}"/>
              </a:ext>
            </a:extLst>
          </p:cNvPr>
          <p:cNvSpPr>
            <a:spLocks xmlns:a="http://schemas.openxmlformats.org/drawingml/2006/main" noGrp="1"/>
          </p:cNvSpPr>
          <p:nvPr/>
        </p:nvSpPr>
        <p:spPr>
          <a:xfrm xmlns:a="http://schemas.openxmlformats.org/drawingml/2006/main">
            <a:off x="7500000" y="4020000"/>
            <a:ext cx="395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 Ứng viên được giải đáp, có dẫn nguồn</a:t>
            </a:r>
          </a:p>
        </p:txBody>
      </p:sp>
      <p:sp>
        <p:nvSpPr>
          <p:cNvPr id="27" name="Connector 26">
            <a:extLst xmlns:a="http://schemas.openxmlformats.org/drawingml/2006/main">
              <a:ext uri="{FF2B5EF4-FFF2-40B4-BE49-F238E27FC236}">
                <a16:creationId xmlns:a16="http://schemas.microsoft.com/office/drawing/2014/main" id="{17B5D605-A7D2-463E-86E0-79126661A62D}"/>
              </a:ext>
            </a:extLst>
          </p:cNvPr>
          <p:cNvSpPr>
            <a:spLocks xmlns:a="http://schemas.openxmlformats.org/drawingml/2006/main" noGrp="1"/>
          </p:cNvSpPr>
          <p:nvPr/>
        </p:nvSpPr>
        <p:spPr>
          <a:xfrm xmlns:a="http://schemas.openxmlformats.org/drawingml/2006/main">
            <a:off x="2331520" y="4790000"/>
            <a:ext cx="0" cy="110000"/>
          </a:xfrm>
          <a:prstGeom xmlns:a="http://schemas.openxmlformats.org/drawingml/2006/main" prst="line">
            <a:avLst/>
          </a:prstGeom>
          <a:ln xmlns:a="http://schemas.openxmlformats.org/drawingml/2006/main" w="15875">
            <a:solidFill>
              <a:srgbClr val="505050"/>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28" name="Rounded Rectangle 27">
            <a:extLst xmlns:a="http://schemas.openxmlformats.org/drawingml/2006/main">
              <a:ext uri="{FF2B5EF4-FFF2-40B4-BE49-F238E27FC236}">
                <a16:creationId xmlns:a16="http://schemas.microsoft.com/office/drawing/2014/main" id="{9FCEDAC9-0147-4FE9-97D1-E772C0C5646C}"/>
              </a:ext>
            </a:extLst>
          </p:cNvPr>
          <p:cNvSpPr>
            <a:spLocks xmlns:a="http://schemas.openxmlformats.org/drawingml/2006/main" noGrp="1"/>
          </p:cNvSpPr>
          <p:nvPr/>
        </p:nvSpPr>
        <p:spPr>
          <a:xfrm xmlns:a="http://schemas.openxmlformats.org/drawingml/2006/main">
            <a:off x="731520" y="4900000"/>
            <a:ext cx="3200000" cy="83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TextBox 28">
            <a:extLst xmlns:a="http://schemas.openxmlformats.org/drawingml/2006/main">
              <a:ext uri="{FF2B5EF4-FFF2-40B4-BE49-F238E27FC236}">
                <a16:creationId xmlns:a16="http://schemas.microsoft.com/office/drawing/2014/main" id="{3A681414-A136-4BE3-BDDC-254D8CFEF241}"/>
              </a:ext>
            </a:extLst>
          </p:cNvPr>
          <p:cNvSpPr>
            <a:spLocks xmlns:a="http://schemas.openxmlformats.org/drawingml/2006/main" noGrp="1"/>
          </p:cNvSpPr>
          <p:nvPr/>
        </p:nvSpPr>
        <p:spPr>
          <a:xfrm xmlns:a="http://schemas.openxmlformats.org/drawingml/2006/main">
            <a:off x="731520" y="496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Xem các đơn gợi ý và chọn đơn mong muốn</a:t>
            </a:r>
          </a:p>
        </p:txBody>
      </p:sp>
      <p:sp>
        <p:nvSpPr>
          <p:cNvPr id="30" name="Rounded Rectangle 29">
            <a:extLst xmlns:a="http://schemas.openxmlformats.org/drawingml/2006/main">
              <a:ext uri="{FF2B5EF4-FFF2-40B4-BE49-F238E27FC236}">
                <a16:creationId xmlns:a16="http://schemas.microsoft.com/office/drawing/2014/main" id="{1247D9CF-92F7-4C61-9C87-00B1DEDF7047}"/>
              </a:ext>
            </a:extLst>
          </p:cNvPr>
          <p:cNvSpPr>
            <a:spLocks xmlns:a="http://schemas.openxmlformats.org/drawingml/2006/main" noGrp="1"/>
          </p:cNvSpPr>
          <p:nvPr/>
        </p:nvSpPr>
        <p:spPr>
          <a:xfrm xmlns:a="http://schemas.openxmlformats.org/drawingml/2006/main">
            <a:off x="4100000" y="4900000"/>
            <a:ext cx="3200000" cy="83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TextBox 30">
            <a:extLst xmlns:a="http://schemas.openxmlformats.org/drawingml/2006/main">
              <a:ext uri="{FF2B5EF4-FFF2-40B4-BE49-F238E27FC236}">
                <a16:creationId xmlns:a16="http://schemas.microsoft.com/office/drawing/2014/main" id="{2644F848-3F82-4099-9C2B-012ED7DAF8BD}"/>
              </a:ext>
            </a:extLst>
          </p:cNvPr>
          <p:cNvSpPr>
            <a:spLocks xmlns:a="http://schemas.openxmlformats.org/drawingml/2006/main" noGrp="1"/>
          </p:cNvSpPr>
          <p:nvPr/>
        </p:nvSpPr>
        <p:spPr>
          <a:xfrm xmlns:a="http://schemas.openxmlformats.org/drawingml/2006/main">
            <a:off x="4100000" y="496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Đối chiếu hồ sơ, giải thích kết quả và hỏi xác nhận đăng ký</a:t>
            </a:r>
          </a:p>
        </p:txBody>
      </p:sp>
      <p:sp>
        <p:nvSpPr>
          <p:cNvPr id="32" name="Rounded Rectangle 31">
            <a:extLst xmlns:a="http://schemas.openxmlformats.org/drawingml/2006/main">
              <a:ext uri="{FF2B5EF4-FFF2-40B4-BE49-F238E27FC236}">
                <a16:creationId xmlns:a16="http://schemas.microsoft.com/office/drawing/2014/main" id="{73EFE06C-FCF1-4322-B117-100305960665}"/>
              </a:ext>
            </a:extLst>
          </p:cNvPr>
          <p:cNvSpPr>
            <a:spLocks xmlns:a="http://schemas.openxmlformats.org/drawingml/2006/main" noGrp="1"/>
          </p:cNvSpPr>
          <p:nvPr/>
        </p:nvSpPr>
        <p:spPr>
          <a:xfrm xmlns:a="http://schemas.openxmlformats.org/drawingml/2006/main">
            <a:off x="7500000" y="4900000"/>
            <a:ext cx="3950000" cy="83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FE920168-D7F9-4A52-8F84-882C565BE8EA}"/>
              </a:ext>
            </a:extLst>
          </p:cNvPr>
          <p:cNvSpPr>
            <a:spLocks xmlns:a="http://schemas.openxmlformats.org/drawingml/2006/main" noGrp="1"/>
          </p:cNvSpPr>
          <p:nvPr/>
        </p:nvSpPr>
        <p:spPr>
          <a:xfrm xmlns:a="http://schemas.openxmlformats.org/drawingml/2006/main">
            <a:off x="7500000" y="4960000"/>
            <a:ext cx="395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 Đơn chính do ứng viên lựa chọn và xác nhận</a:t>
            </a:r>
          </a:p>
        </p:txBody>
      </p:sp>
      <p:sp>
        <p:nvSpPr>
          <p:cNvPr id="34" name="Connector 33">
            <a:extLst xmlns:a="http://schemas.openxmlformats.org/drawingml/2006/main">
              <a:ext uri="{FF2B5EF4-FFF2-40B4-BE49-F238E27FC236}">
                <a16:creationId xmlns:a16="http://schemas.microsoft.com/office/drawing/2014/main" id="{FE4BCBA4-507A-4A8F-ABE8-0934C6BE80F7}"/>
              </a:ext>
            </a:extLst>
          </p:cNvPr>
          <p:cNvSpPr>
            <a:spLocks xmlns:a="http://schemas.openxmlformats.org/drawingml/2006/main" noGrp="1"/>
          </p:cNvSpPr>
          <p:nvPr/>
        </p:nvSpPr>
        <p:spPr>
          <a:xfrm xmlns:a="http://schemas.openxmlformats.org/drawingml/2006/main">
            <a:off x="2331520" y="5730000"/>
            <a:ext cx="0" cy="110000"/>
          </a:xfrm>
          <a:prstGeom xmlns:a="http://schemas.openxmlformats.org/drawingml/2006/main" prst="line">
            <a:avLst/>
          </a:prstGeom>
          <a:ln xmlns:a="http://schemas.openxmlformats.org/drawingml/2006/main" w="15875">
            <a:solidFill>
              <a:srgbClr val="505050"/>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35" name="Rounded Rectangle 34">
            <a:extLst xmlns:a="http://schemas.openxmlformats.org/drawingml/2006/main">
              <a:ext uri="{FF2B5EF4-FFF2-40B4-BE49-F238E27FC236}">
                <a16:creationId xmlns:a16="http://schemas.microsoft.com/office/drawing/2014/main" id="{A26BAA71-53F4-47A8-A726-3E8C8D7D0931}"/>
              </a:ext>
            </a:extLst>
          </p:cNvPr>
          <p:cNvSpPr>
            <a:spLocks xmlns:a="http://schemas.openxmlformats.org/drawingml/2006/main" noGrp="1"/>
          </p:cNvSpPr>
          <p:nvPr/>
        </p:nvSpPr>
        <p:spPr>
          <a:xfrm xmlns:a="http://schemas.openxmlformats.org/drawingml/2006/main">
            <a:off x="731520" y="5840000"/>
            <a:ext cx="3200000" cy="83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TextBox 35">
            <a:extLst xmlns:a="http://schemas.openxmlformats.org/drawingml/2006/main">
              <a:ext uri="{FF2B5EF4-FFF2-40B4-BE49-F238E27FC236}">
                <a16:creationId xmlns:a16="http://schemas.microsoft.com/office/drawing/2014/main" id="{C98F4CB9-BCE7-4D5B-B3DD-34313A64F36D}"/>
              </a:ext>
            </a:extLst>
          </p:cNvPr>
          <p:cNvSpPr>
            <a:spLocks xmlns:a="http://schemas.openxmlformats.org/drawingml/2006/main" noGrp="1"/>
          </p:cNvSpPr>
          <p:nvPr/>
        </p:nvSpPr>
        <p:spPr>
          <a:xfrm xmlns:a="http://schemas.openxmlformats.org/drawingml/2006/main">
            <a:off x="731520" y="590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Chọn khung giờ muốn được gọi lại</a:t>
            </a:r>
          </a:p>
        </p:txBody>
      </p:sp>
      <p:sp>
        <p:nvSpPr>
          <p:cNvPr id="37" name="Rounded Rectangle 36">
            <a:extLst xmlns:a="http://schemas.openxmlformats.org/drawingml/2006/main">
              <a:ext uri="{FF2B5EF4-FFF2-40B4-BE49-F238E27FC236}">
                <a16:creationId xmlns:a16="http://schemas.microsoft.com/office/drawing/2014/main" id="{AB8996C8-27F3-4B13-A50A-283D00F50F86}"/>
              </a:ext>
            </a:extLst>
          </p:cNvPr>
          <p:cNvSpPr>
            <a:spLocks xmlns:a="http://schemas.openxmlformats.org/drawingml/2006/main" noGrp="1"/>
          </p:cNvSpPr>
          <p:nvPr/>
        </p:nvSpPr>
        <p:spPr>
          <a:xfrm xmlns:a="http://schemas.openxmlformats.org/drawingml/2006/main">
            <a:off x="4100000" y="5840000"/>
            <a:ext cx="3200000" cy="83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TextBox 37">
            <a:extLst xmlns:a="http://schemas.openxmlformats.org/drawingml/2006/main">
              <a:ext uri="{FF2B5EF4-FFF2-40B4-BE49-F238E27FC236}">
                <a16:creationId xmlns:a16="http://schemas.microsoft.com/office/drawing/2014/main" id="{EE0F5442-816F-4A59-BDAA-EA5A00E1C915}"/>
              </a:ext>
            </a:extLst>
          </p:cNvPr>
          <p:cNvSpPr>
            <a:spLocks xmlns:a="http://schemas.openxmlformats.org/drawingml/2006/main" noGrp="1"/>
          </p:cNvSpPr>
          <p:nvPr/>
        </p:nvSpPr>
        <p:spPr>
          <a:xfrm xmlns:a="http://schemas.openxmlformats.org/drawingml/2006/main">
            <a:off x="4100000" y="5900000"/>
            <a:ext cx="320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Tạo đăng ký sơ bộ, phiếu tóm tắt và lịch hẹn gọi lại</a:t>
            </a:r>
          </a:p>
        </p:txBody>
      </p:sp>
      <p:sp>
        <p:nvSpPr>
          <p:cNvPr id="39" name="Rounded Rectangle 38">
            <a:extLst xmlns:a="http://schemas.openxmlformats.org/drawingml/2006/main">
              <a:ext uri="{FF2B5EF4-FFF2-40B4-BE49-F238E27FC236}">
                <a16:creationId xmlns:a16="http://schemas.microsoft.com/office/drawing/2014/main" id="{573EC404-70AE-41D0-B874-7850D84A7E9E}"/>
              </a:ext>
            </a:extLst>
          </p:cNvPr>
          <p:cNvSpPr>
            <a:spLocks xmlns:a="http://schemas.openxmlformats.org/drawingml/2006/main" noGrp="1"/>
          </p:cNvSpPr>
          <p:nvPr/>
        </p:nvSpPr>
        <p:spPr>
          <a:xfrm xmlns:a="http://schemas.openxmlformats.org/drawingml/2006/main">
            <a:off x="7500000" y="5840000"/>
            <a:ext cx="3950000" cy="83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9813C614-06B9-49FD-AD53-82AC8A690FD0}"/>
              </a:ext>
            </a:extLst>
          </p:cNvPr>
          <p:cNvSpPr>
            <a:spLocks xmlns:a="http://schemas.openxmlformats.org/drawingml/2006/main" noGrp="1"/>
          </p:cNvSpPr>
          <p:nvPr/>
        </p:nvSpPr>
        <p:spPr>
          <a:xfrm xmlns:a="http://schemas.openxmlformats.org/drawingml/2006/main">
            <a:off x="7500000" y="5900000"/>
            <a:ext cx="3950000" cy="83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 Phiếu vào hàng đợi Chờ tiếp nhận</a:t>
            </a:r>
          </a:p>
        </p:txBody>
      </p:sp>
    </p:spTree>
    <p:extLst>
      <p:ext uri="{BB962C8B-B14F-4D97-AF65-F5344CB8AC3E}">
        <p14:creationId xmlns:p14="http://schemas.microsoft.com/office/powerpoint/2010/main" val="70102068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24EA24F-B881-4A9B-B3C0-A854C69F83D2}"/>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0F4C81"/>
                </a:solidFill>
                <a:latin typeface="Times New Roman"/>
                <a:ea typeface="Times New Roman"/>
                <a:cs typeface="Times New Roman"/>
              </a:defRPr>
            </a:pPr>
            <a:r>
              <a:rPr>
                <a:latin typeface="Times New Roman"/>
                <a:ea typeface="Times New Roman"/>
                <a:cs typeface="Times New Roman"/>
              </a:rPr>
              <a:t>Sơ đồ mô tả luồng xử lý của hệ thống (System Flow)</a:t>
            </a:r>
          </a:p>
        </p:txBody>
      </p:sp>
      <p:sp>
        <p:nvSpPr>
          <p:cNvPr id="3" name="Rounded Rectangle 2">
            <a:extLst xmlns:a="http://schemas.openxmlformats.org/drawingml/2006/main">
              <a:ext uri="{FF2B5EF4-FFF2-40B4-BE49-F238E27FC236}">
                <a16:creationId xmlns:a16="http://schemas.microsoft.com/office/drawing/2014/main" id="{F93CE085-B967-44A8-9C0D-506EC53E4738}"/>
              </a:ext>
            </a:extLst>
          </p:cNvPr>
          <p:cNvSpPr>
            <a:spLocks xmlns:a="http://schemas.openxmlformats.org/drawingml/2006/main" noGrp="1"/>
          </p:cNvSpPr>
          <p:nvPr/>
        </p:nvSpPr>
        <p:spPr>
          <a:xfrm xmlns:a="http://schemas.openxmlformats.org/drawingml/2006/main">
            <a:off x="731520" y="1280160"/>
            <a:ext cx="1645920" cy="1371600"/>
          </a:xfrm>
          <a:prstGeom xmlns:a="http://schemas.openxmlformats.org/drawingml/2006/main" prst="roundRect">
            <a:avLst/>
          </a:prstGeom>
          <a:solidFill xmlns:a="http://schemas.openxmlformats.org/drawingml/2006/main">
            <a:srgbClr val="F0F4F8"/>
          </a:solidFill>
          <a:ln xmlns:a="http://schemas.openxmlformats.org/drawingml/2006/main">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defRPr sz="1300" b="1">
                <a:solidFill>
                  <a:srgbClr val="0F4C81"/>
                </a:solidFill>
                <a:latin typeface="Times New Roman"/>
                <a:ea typeface="Times New Roman"/>
                <a:cs typeface="Times New Roman"/>
              </a:defRPr>
            </a:pPr>
            <a:r>
              <a:rPr>
                <a:latin typeface="Times New Roman"/>
                <a:ea typeface="Times New Roman"/>
                <a:cs typeface="Times New Roman"/>
              </a:rPr>
              <a:t>Ứng viên</a:t>
            </a:r>
            <a:br/>
          </a:p>
          <a:p xmlns:a="http://schemas.openxmlformats.org/drawingml/2006/main">
            <a:pPr algn="ctr">
              <a:buNone/>
              <a:defRPr sz="1100">
                <a:solidFill>
                  <a:srgbClr val="505050"/>
                </a:solidFill>
                <a:latin typeface="Times New Roman"/>
                <a:ea typeface="Times New Roman"/>
                <a:cs typeface="Times New Roman"/>
              </a:defRPr>
            </a:pPr>
            <a:r>
              <a:rPr>
                <a:latin typeface="Times New Roman"/>
                <a:ea typeface="Times New Roman"/>
                <a:cs typeface="Times New Roman"/>
              </a:rPr>
              <a:t>Nhắn tin hoặc gửi CV</a:t>
            </a:r>
          </a:p>
        </p:txBody>
      </p:sp>
      <p:sp>
        <p:nvSpPr>
          <p:cNvPr id="4" name="Rounded Rectangle 3">
            <a:extLst xmlns:a="http://schemas.openxmlformats.org/drawingml/2006/main">
              <a:ext uri="{FF2B5EF4-FFF2-40B4-BE49-F238E27FC236}">
                <a16:creationId xmlns:a16="http://schemas.microsoft.com/office/drawing/2014/main" id="{728261E8-056F-4623-8CA5-E891CDA66A82}"/>
              </a:ext>
            </a:extLst>
          </p:cNvPr>
          <p:cNvSpPr>
            <a:spLocks xmlns:a="http://schemas.openxmlformats.org/drawingml/2006/main" noGrp="1"/>
          </p:cNvSpPr>
          <p:nvPr/>
        </p:nvSpPr>
        <p:spPr>
          <a:xfrm xmlns:a="http://schemas.openxmlformats.org/drawingml/2006/main">
            <a:off x="2542032" y="1280160"/>
            <a:ext cx="1645920" cy="1371600"/>
          </a:xfrm>
          <a:prstGeom xmlns:a="http://schemas.openxmlformats.org/drawingml/2006/main" prst="roundRect">
            <a:avLst/>
          </a:prstGeom>
          <a:solidFill xmlns:a="http://schemas.openxmlformats.org/drawingml/2006/main">
            <a:srgbClr val="F0F4F8"/>
          </a:solidFill>
          <a:ln xmlns:a="http://schemas.openxmlformats.org/drawingml/2006/main">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defRPr sz="1300" b="1">
                <a:solidFill>
                  <a:srgbClr val="0F4C81"/>
                </a:solidFill>
                <a:latin typeface="Times New Roman"/>
                <a:ea typeface="Times New Roman"/>
                <a:cs typeface="Times New Roman"/>
              </a:defRPr>
            </a:pPr>
            <a:r>
              <a:rPr>
                <a:latin typeface="Times New Roman"/>
                <a:ea typeface="Times New Roman"/>
                <a:cs typeface="Times New Roman"/>
              </a:rPr>
              <a:t>Tiếp nhận</a:t>
            </a:r>
            <a:br/>
          </a:p>
          <a:p xmlns:a="http://schemas.openxmlformats.org/drawingml/2006/main">
            <a:pPr algn="ctr">
              <a:buNone/>
              <a:defRPr sz="1100">
                <a:solidFill>
                  <a:srgbClr val="505050"/>
                </a:solidFill>
                <a:latin typeface="Times New Roman"/>
                <a:ea typeface="Times New Roman"/>
                <a:cs typeface="Times New Roman"/>
              </a:defRPr>
            </a:pPr>
            <a:r>
              <a:rPr>
                <a:latin typeface="Times New Roman"/>
                <a:ea typeface="Times New Roman"/>
                <a:cs typeface="Times New Roman"/>
              </a:rPr>
              <a:t>Gắn vào đúng cuộc trò chuyện</a:t>
            </a:r>
          </a:p>
        </p:txBody>
      </p:sp>
      <p:sp>
        <p:nvSpPr>
          <p:cNvPr id="5" name="Rounded Rectangle 4">
            <a:extLst xmlns:a="http://schemas.openxmlformats.org/drawingml/2006/main">
              <a:ext uri="{FF2B5EF4-FFF2-40B4-BE49-F238E27FC236}">
                <a16:creationId xmlns:a16="http://schemas.microsoft.com/office/drawing/2014/main" id="{0F5BD6B0-9916-4264-A60C-12F3BA72569F}"/>
              </a:ext>
            </a:extLst>
          </p:cNvPr>
          <p:cNvSpPr>
            <a:spLocks xmlns:a="http://schemas.openxmlformats.org/drawingml/2006/main" noGrp="1"/>
          </p:cNvSpPr>
          <p:nvPr/>
        </p:nvSpPr>
        <p:spPr>
          <a:xfrm xmlns:a="http://schemas.openxmlformats.org/drawingml/2006/main">
            <a:off x="4352544" y="1280160"/>
            <a:ext cx="1645920" cy="1371600"/>
          </a:xfrm>
          <a:prstGeom xmlns:a="http://schemas.openxmlformats.org/drawingml/2006/main" prst="roundRect">
            <a:avLst/>
          </a:prstGeom>
          <a:solidFill xmlns:a="http://schemas.openxmlformats.org/drawingml/2006/main">
            <a:srgbClr val="F0F4F8"/>
          </a:solidFill>
          <a:ln xmlns:a="http://schemas.openxmlformats.org/drawingml/2006/main">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defRPr sz="1300" b="1">
                <a:solidFill>
                  <a:srgbClr val="0F4C81"/>
                </a:solidFill>
                <a:latin typeface="Times New Roman"/>
                <a:ea typeface="Times New Roman"/>
                <a:cs typeface="Times New Roman"/>
              </a:defRPr>
            </a:pPr>
            <a:r>
              <a:rPr>
                <a:latin typeface="Times New Roman"/>
                <a:ea typeface="Times New Roman"/>
                <a:cs typeface="Times New Roman"/>
              </a:rPr>
              <a:t>Hiểu yêu cầu</a:t>
            </a:r>
            <a:br/>
          </a:p>
          <a:p xmlns:a="http://schemas.openxmlformats.org/drawingml/2006/main">
            <a:pPr algn="ctr">
              <a:buNone/>
              <a:defRPr sz="1100">
                <a:solidFill>
                  <a:srgbClr val="505050"/>
                </a:solidFill>
                <a:latin typeface="Times New Roman"/>
                <a:ea typeface="Times New Roman"/>
                <a:cs typeface="Times New Roman"/>
              </a:defRPr>
            </a:pPr>
            <a:r>
              <a:rPr>
                <a:latin typeface="Times New Roman"/>
                <a:ea typeface="Times New Roman"/>
                <a:cs typeface="Times New Roman"/>
              </a:rPr>
              <a:t>Nhận ra ứng viên đang cần gì</a:t>
            </a:r>
          </a:p>
        </p:txBody>
      </p:sp>
      <p:sp>
        <p:nvSpPr>
          <p:cNvPr id="6" name="Rounded Rectangle 5">
            <a:extLst xmlns:a="http://schemas.openxmlformats.org/drawingml/2006/main">
              <a:ext uri="{FF2B5EF4-FFF2-40B4-BE49-F238E27FC236}">
                <a16:creationId xmlns:a16="http://schemas.microsoft.com/office/drawing/2014/main" id="{D40AA948-2B25-4310-9FF3-03081A9AB516}"/>
              </a:ext>
            </a:extLst>
          </p:cNvPr>
          <p:cNvSpPr>
            <a:spLocks xmlns:a="http://schemas.openxmlformats.org/drawingml/2006/main" noGrp="1"/>
          </p:cNvSpPr>
          <p:nvPr/>
        </p:nvSpPr>
        <p:spPr>
          <a:xfrm xmlns:a="http://schemas.openxmlformats.org/drawingml/2006/main">
            <a:off x="6163056" y="1280160"/>
            <a:ext cx="1645920" cy="1371600"/>
          </a:xfrm>
          <a:prstGeom xmlns:a="http://schemas.openxmlformats.org/drawingml/2006/main" prst="roundRect">
            <a:avLst/>
          </a:prstGeom>
          <a:solidFill xmlns:a="http://schemas.openxmlformats.org/drawingml/2006/main">
            <a:srgbClr val="F0F4F8"/>
          </a:solidFill>
          <a:ln xmlns:a="http://schemas.openxmlformats.org/drawingml/2006/main">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defRPr sz="1300" b="1">
                <a:solidFill>
                  <a:srgbClr val="0F4C81"/>
                </a:solidFill>
                <a:latin typeface="Times New Roman"/>
                <a:ea typeface="Times New Roman"/>
                <a:cs typeface="Times New Roman"/>
              </a:defRPr>
            </a:pPr>
            <a:r>
              <a:rPr>
                <a:latin typeface="Times New Roman"/>
                <a:ea typeface="Times New Roman"/>
                <a:cs typeface="Times New Roman"/>
              </a:rPr>
              <a:t>Tra cứu</a:t>
            </a:r>
            <a:br/>
          </a:p>
          <a:p xmlns:a="http://schemas.openxmlformats.org/drawingml/2006/main">
            <a:pPr algn="ctr">
              <a:buNone/>
              <a:defRPr sz="1100">
                <a:solidFill>
                  <a:srgbClr val="505050"/>
                </a:solidFill>
                <a:latin typeface="Times New Roman"/>
                <a:ea typeface="Times New Roman"/>
                <a:cs typeface="Times New Roman"/>
              </a:defRPr>
            </a:pPr>
            <a:r>
              <a:rPr>
                <a:latin typeface="Times New Roman"/>
                <a:ea typeface="Times New Roman"/>
                <a:cs typeface="Times New Roman"/>
              </a:rPr>
              <a:t>Tìm trong tài liệu công ty</a:t>
            </a:r>
          </a:p>
        </p:txBody>
      </p:sp>
      <p:sp>
        <p:nvSpPr>
          <p:cNvPr id="7" name="Rounded Rectangle 6">
            <a:extLst xmlns:a="http://schemas.openxmlformats.org/drawingml/2006/main">
              <a:ext uri="{FF2B5EF4-FFF2-40B4-BE49-F238E27FC236}">
                <a16:creationId xmlns:a16="http://schemas.microsoft.com/office/drawing/2014/main" id="{31219891-CE8A-485B-841C-4A7CF700FB54}"/>
              </a:ext>
            </a:extLst>
          </p:cNvPr>
          <p:cNvSpPr>
            <a:spLocks xmlns:a="http://schemas.openxmlformats.org/drawingml/2006/main" noGrp="1"/>
          </p:cNvSpPr>
          <p:nvPr/>
        </p:nvSpPr>
        <p:spPr>
          <a:xfrm xmlns:a="http://schemas.openxmlformats.org/drawingml/2006/main">
            <a:off x="7973568" y="1280160"/>
            <a:ext cx="1645920" cy="1371600"/>
          </a:xfrm>
          <a:prstGeom xmlns:a="http://schemas.openxmlformats.org/drawingml/2006/main" prst="roundRect">
            <a:avLst/>
          </a:prstGeom>
          <a:solidFill xmlns:a="http://schemas.openxmlformats.org/drawingml/2006/main">
            <a:srgbClr val="F0F4F8"/>
          </a:solidFill>
          <a:ln xmlns:a="http://schemas.openxmlformats.org/drawingml/2006/main">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defRPr sz="1300" b="1">
                <a:solidFill>
                  <a:srgbClr val="0F4C81"/>
                </a:solidFill>
                <a:latin typeface="Times New Roman"/>
                <a:ea typeface="Times New Roman"/>
                <a:cs typeface="Times New Roman"/>
              </a:defRPr>
            </a:pPr>
            <a:r>
              <a:rPr>
                <a:latin typeface="Times New Roman"/>
                <a:ea typeface="Times New Roman"/>
                <a:cs typeface="Times New Roman"/>
              </a:rPr>
              <a:t>Soạn câu trả lời</a:t>
            </a:r>
            <a:br/>
          </a:p>
          <a:p xmlns:a="http://schemas.openxmlformats.org/drawingml/2006/main">
            <a:pPr algn="ctr">
              <a:buNone/>
              <a:defRPr sz="1100">
                <a:solidFill>
                  <a:srgbClr val="505050"/>
                </a:solidFill>
                <a:latin typeface="Times New Roman"/>
                <a:ea typeface="Times New Roman"/>
                <a:cs typeface="Times New Roman"/>
              </a:defRPr>
            </a:pPr>
            <a:r>
              <a:rPr>
                <a:latin typeface="Times New Roman"/>
                <a:ea typeface="Times New Roman"/>
                <a:cs typeface="Times New Roman"/>
              </a:rPr>
              <a:t>Diễn đạt lại cho dễ hiểu</a:t>
            </a:r>
          </a:p>
        </p:txBody>
      </p:sp>
      <p:sp>
        <p:nvSpPr>
          <p:cNvPr id="8" name="Rounded Rectangle 7">
            <a:extLst xmlns:a="http://schemas.openxmlformats.org/drawingml/2006/main">
              <a:ext uri="{FF2B5EF4-FFF2-40B4-BE49-F238E27FC236}">
                <a16:creationId xmlns:a16="http://schemas.microsoft.com/office/drawing/2014/main" id="{49D4EB99-DE38-4325-85D5-895B2886CD2D}"/>
              </a:ext>
            </a:extLst>
          </p:cNvPr>
          <p:cNvSpPr>
            <a:spLocks xmlns:a="http://schemas.openxmlformats.org/drawingml/2006/main" noGrp="1"/>
          </p:cNvSpPr>
          <p:nvPr/>
        </p:nvSpPr>
        <p:spPr>
          <a:xfrm xmlns:a="http://schemas.openxmlformats.org/drawingml/2006/main">
            <a:off x="9784080" y="1280160"/>
            <a:ext cx="1645920" cy="1371600"/>
          </a:xfrm>
          <a:prstGeom xmlns:a="http://schemas.openxmlformats.org/drawingml/2006/main" prst="roundRect">
            <a:avLst/>
          </a:prstGeom>
          <a:solidFill xmlns:a="http://schemas.openxmlformats.org/drawingml/2006/main">
            <a:srgbClr val="F0F4F8"/>
          </a:solidFill>
          <a:ln xmlns:a="http://schemas.openxmlformats.org/drawingml/2006/main">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defRPr sz="1300" b="1">
                <a:solidFill>
                  <a:srgbClr val="0F4C81"/>
                </a:solidFill>
                <a:latin typeface="Times New Roman"/>
                <a:ea typeface="Times New Roman"/>
                <a:cs typeface="Times New Roman"/>
              </a:defRPr>
            </a:pPr>
            <a:r>
              <a:rPr>
                <a:latin typeface="Times New Roman"/>
                <a:ea typeface="Times New Roman"/>
                <a:cs typeface="Times New Roman"/>
              </a:rPr>
              <a:t>Kiểm chứng và bàn giao</a:t>
            </a:r>
            <a:br/>
          </a:p>
          <a:p xmlns:a="http://schemas.openxmlformats.org/drawingml/2006/main">
            <a:pPr algn="ctr">
              <a:buNone/>
              <a:defRPr sz="1100">
                <a:solidFill>
                  <a:srgbClr val="505050"/>
                </a:solidFill>
                <a:latin typeface="Times New Roman"/>
                <a:ea typeface="Times New Roman"/>
                <a:cs typeface="Times New Roman"/>
              </a:defRPr>
            </a:pPr>
            <a:r>
              <a:rPr>
                <a:latin typeface="Times New Roman"/>
                <a:ea typeface="Times New Roman"/>
                <a:cs typeface="Times New Roman"/>
              </a:rPr>
              <a:t>Trả lời hoặc chuyển nhân viên</a:t>
            </a:r>
          </a:p>
        </p:txBody>
      </p:sp>
      <p:sp>
        <p:nvSpPr>
          <p:cNvPr id="9" name="TextBox 8">
            <a:extLst xmlns:a="http://schemas.openxmlformats.org/drawingml/2006/main">
              <a:ext uri="{FF2B5EF4-FFF2-40B4-BE49-F238E27FC236}">
                <a16:creationId xmlns:a16="http://schemas.microsoft.com/office/drawing/2014/main" id="{AC4A1DE1-D482-48E6-BBA7-D4CE267E9092}"/>
              </a:ext>
            </a:extLst>
          </p:cNvPr>
          <p:cNvSpPr>
            <a:spLocks xmlns:a="http://schemas.openxmlformats.org/drawingml/2006/main" noGrp="1"/>
          </p:cNvSpPr>
          <p:nvPr/>
        </p:nvSpPr>
        <p:spPr>
          <a:xfrm xmlns:a="http://schemas.openxmlformats.org/drawingml/2006/main">
            <a:off x="731520" y="3750000"/>
            <a:ext cx="10698480" cy="2286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 xmlns:a="http://schemas.openxmlformats.org/drawingml/2006/main">
            <a:pPr>
              <a:spcAft>
                <a:spcPts val="600"/>
              </a:spcAft>
              <a:buNone/>
            </a:pPr>
            <a:r>
              <a:rPr sz="1300" b="1">
                <a:solidFill>
                  <a:srgbClr val="0F4C81"/>
                </a:solidFill>
                <a:latin typeface="Times New Roman"/>
                <a:ea typeface="Times New Roman"/>
                <a:cs typeface="Times New Roman"/>
              </a:rPr>
              <a:t>• Nhánh hồ sơ: ứng viên gửi CV → hệ thống lập hồ sơ, cho xác nhận lại, đối chiếu danh mục đơn hàng và giới thiệu kèm lý do.</a:t>
            </a:r>
          </a:p>
          <a:p xmlns:a="http://schemas.openxmlformats.org/drawingml/2006/main">
            <a:pPr>
              <a:spcAft>
                <a:spcPts val="600"/>
              </a:spcAft>
              <a:buNone/>
            </a:pPr>
            <a:r>
              <a:rPr sz="1300" b="1">
                <a:solidFill>
                  <a:srgbClr val="0F4C81"/>
                </a:solidFill>
                <a:latin typeface="Times New Roman"/>
                <a:ea typeface="Times New Roman"/>
                <a:cs typeface="Times New Roman"/>
              </a:rPr>
              <a:t>• Nhánh chuyển người thật: không đủ căn cứ hoặc ứng viên muốn gặp nhân viên → nói rõ, mời đặt lịch và tạo Phiếu tóm tắt tư vấn cho nhân viên.</a:t>
            </a:r>
          </a:p>
          <a:p xmlns:a="http://schemas.openxmlformats.org/drawingml/2006/main">
            <a:pPr>
              <a:spcAft>
                <a:spcPts val="600"/>
              </a:spcAft>
              <a:buNone/>
            </a:pPr>
            <a:r>
              <a:rPr sz="1300" b="1">
                <a:solidFill>
                  <a:srgbClr val="0F4C81"/>
                </a:solidFill>
                <a:latin typeface="Times New Roman"/>
                <a:ea typeface="Times New Roman"/>
                <a:cs typeface="Times New Roman"/>
              </a:rPr>
              <a:t>• Human Handoff bất đồng bộ:</a:t>
            </a:r>
            <a:r>
              <a:rPr sz="1300">
                <a:latin typeface="Times New Roman"/>
                <a:ea typeface="Times New Roman"/>
                <a:cs typeface="Times New Roman"/>
              </a:rPr>
              <a:t> Độ tin cậy thấp hoặc khách muốn gặp người thật -&gt; Thông báo lịch sự và chuyển Lead sang trạng thái NEED_CONTACT/URGENT trên Admin Dashboard.</a:t>
            </a:r>
          </a:p>
        </p:txBody>
      </p:sp>
      <p:sp>
        <p:nvSpPr>
          <p:cNvPr id="10" name="Connector 9">
            <a:extLst xmlns:a="http://schemas.openxmlformats.org/drawingml/2006/main">
              <a:ext uri="{FF2B5EF4-FFF2-40B4-BE49-F238E27FC236}">
                <a16:creationId xmlns:a16="http://schemas.microsoft.com/office/drawing/2014/main" id="{57ED1F3C-9EBB-4205-B563-F3D3B626651E}"/>
              </a:ext>
            </a:extLst>
          </p:cNvPr>
          <p:cNvSpPr>
            <a:spLocks xmlns:a="http://schemas.openxmlformats.org/drawingml/2006/main" noGrp="1"/>
          </p:cNvSpPr>
          <p:nvPr/>
        </p:nvSpPr>
        <p:spPr>
          <a:xfrm xmlns:a="http://schemas.openxmlformats.org/drawingml/2006/main">
            <a:off x="2377440" y="1965960"/>
            <a:ext cx="164592" cy="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1" name="Connector 10">
            <a:extLst xmlns:a="http://schemas.openxmlformats.org/drawingml/2006/main">
              <a:ext uri="{FF2B5EF4-FFF2-40B4-BE49-F238E27FC236}">
                <a16:creationId xmlns:a16="http://schemas.microsoft.com/office/drawing/2014/main" id="{8AAE43C5-6E82-4000-BBB2-D669A8711413}"/>
              </a:ext>
            </a:extLst>
          </p:cNvPr>
          <p:cNvSpPr>
            <a:spLocks xmlns:a="http://schemas.openxmlformats.org/drawingml/2006/main" noGrp="1"/>
          </p:cNvSpPr>
          <p:nvPr/>
        </p:nvSpPr>
        <p:spPr>
          <a:xfrm xmlns:a="http://schemas.openxmlformats.org/drawingml/2006/main">
            <a:off x="4187952" y="1965960"/>
            <a:ext cx="164592" cy="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2" name="Connector 11">
            <a:extLst xmlns:a="http://schemas.openxmlformats.org/drawingml/2006/main">
              <a:ext uri="{FF2B5EF4-FFF2-40B4-BE49-F238E27FC236}">
                <a16:creationId xmlns:a16="http://schemas.microsoft.com/office/drawing/2014/main" id="{5510848A-E1CA-4753-A04C-DC382B11B64A}"/>
              </a:ext>
            </a:extLst>
          </p:cNvPr>
          <p:cNvSpPr>
            <a:spLocks xmlns:a="http://schemas.openxmlformats.org/drawingml/2006/main" noGrp="1"/>
          </p:cNvSpPr>
          <p:nvPr/>
        </p:nvSpPr>
        <p:spPr>
          <a:xfrm xmlns:a="http://schemas.openxmlformats.org/drawingml/2006/main">
            <a:off x="5998464" y="1965960"/>
            <a:ext cx="164592" cy="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3" name="Connector 12">
            <a:extLst xmlns:a="http://schemas.openxmlformats.org/drawingml/2006/main">
              <a:ext uri="{FF2B5EF4-FFF2-40B4-BE49-F238E27FC236}">
                <a16:creationId xmlns:a16="http://schemas.microsoft.com/office/drawing/2014/main" id="{CC50AA05-E324-45D5-86D3-29980A1E9BFA}"/>
              </a:ext>
            </a:extLst>
          </p:cNvPr>
          <p:cNvSpPr>
            <a:spLocks xmlns:a="http://schemas.openxmlformats.org/drawingml/2006/main" noGrp="1"/>
          </p:cNvSpPr>
          <p:nvPr/>
        </p:nvSpPr>
        <p:spPr>
          <a:xfrm xmlns:a="http://schemas.openxmlformats.org/drawingml/2006/main">
            <a:off x="7808976" y="1965960"/>
            <a:ext cx="164592" cy="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4" name="Connector 13">
            <a:extLst xmlns:a="http://schemas.openxmlformats.org/drawingml/2006/main">
              <a:ext uri="{FF2B5EF4-FFF2-40B4-BE49-F238E27FC236}">
                <a16:creationId xmlns:a16="http://schemas.microsoft.com/office/drawing/2014/main" id="{63BE4D05-EC61-4D27-8C1A-A797F02269CD}"/>
              </a:ext>
            </a:extLst>
          </p:cNvPr>
          <p:cNvSpPr>
            <a:spLocks xmlns:a="http://schemas.openxmlformats.org/drawingml/2006/main" noGrp="1"/>
          </p:cNvSpPr>
          <p:nvPr/>
        </p:nvSpPr>
        <p:spPr>
          <a:xfrm xmlns:a="http://schemas.openxmlformats.org/drawingml/2006/main">
            <a:off x="9619488" y="1965960"/>
            <a:ext cx="164592" cy="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5" name="Diamond 14">
            <a:extLst xmlns:a="http://schemas.openxmlformats.org/drawingml/2006/main">
              <a:ext uri="{FF2B5EF4-FFF2-40B4-BE49-F238E27FC236}">
                <a16:creationId xmlns:a16="http://schemas.microsoft.com/office/drawing/2014/main" id="{F66C7E2A-5FAA-4091-B0C1-18C05AB03069}"/>
              </a:ext>
            </a:extLst>
          </p:cNvPr>
          <p:cNvSpPr>
            <a:spLocks xmlns:a="http://schemas.openxmlformats.org/drawingml/2006/main" noGrp="1"/>
          </p:cNvSpPr>
          <p:nvPr/>
        </p:nvSpPr>
        <p:spPr>
          <a:xfrm xmlns:a="http://schemas.openxmlformats.org/drawingml/2006/main">
            <a:off x="5863056" y="2820000"/>
            <a:ext cx="2245920" cy="820000"/>
          </a:xfrm>
          <a:prstGeom xmlns:a="http://schemas.openxmlformats.org/drawingml/2006/main" prst="diamond">
            <a:avLst/>
          </a:prstGeom>
          <a:solidFill xmlns:a="http://schemas.openxmlformats.org/drawingml/2006/main">
            <a:srgbClr val="FDF3E3"/>
          </a:solidFill>
          <a:ln xmlns:a="http://schemas.openxmlformats.org/drawingml/2006/main" w="1905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200" b="1">
                <a:solidFill>
                  <a:srgbClr val="C06A00"/>
                </a:solidFill>
                <a:latin typeface="Times New Roman"/>
                <a:ea typeface="Times New Roman"/>
                <a:cs typeface="Times New Roman"/>
              </a:rPr>
              <a:t>Có đủ căn cứ trong tài liệu?</a:t>
            </a:r>
          </a:p>
        </p:txBody>
      </p:sp>
      <p:sp>
        <p:nvSpPr>
          <p:cNvPr id="16" name="Connector 15">
            <a:extLst xmlns:a="http://schemas.openxmlformats.org/drawingml/2006/main">
              <a:ext uri="{FF2B5EF4-FFF2-40B4-BE49-F238E27FC236}">
                <a16:creationId xmlns:a16="http://schemas.microsoft.com/office/drawing/2014/main" id="{0AFBFBF3-491C-4262-AB98-280A0A86E993}"/>
              </a:ext>
            </a:extLst>
          </p:cNvPr>
          <p:cNvSpPr>
            <a:spLocks xmlns:a="http://schemas.openxmlformats.org/drawingml/2006/main" noGrp="1"/>
          </p:cNvSpPr>
          <p:nvPr/>
        </p:nvSpPr>
        <p:spPr>
          <a:xfrm xmlns:a="http://schemas.openxmlformats.org/drawingml/2006/main">
            <a:off x="6986016" y="2651760"/>
            <a:ext cx="0" cy="16824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7" name="Connector 16">
            <a:extLst xmlns:a="http://schemas.openxmlformats.org/drawingml/2006/main">
              <a:ext uri="{FF2B5EF4-FFF2-40B4-BE49-F238E27FC236}">
                <a16:creationId xmlns:a16="http://schemas.microsoft.com/office/drawing/2014/main" id="{EE1CA4F7-1A4B-450C-8D8E-44321E1A26F3}"/>
              </a:ext>
            </a:extLst>
          </p:cNvPr>
          <p:cNvSpPr>
            <a:spLocks xmlns:a="http://schemas.openxmlformats.org/drawingml/2006/main" noGrp="1"/>
          </p:cNvSpPr>
          <p:nvPr/>
        </p:nvSpPr>
        <p:spPr>
          <a:xfrm xmlns:a="http://schemas.openxmlformats.org/drawingml/2006/main" flipV="1">
            <a:off x="8108976" y="2651760"/>
            <a:ext cx="687552" cy="57824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8" name="Rounded Rectangle 17">
            <a:extLst xmlns:a="http://schemas.openxmlformats.org/drawingml/2006/main">
              <a:ext uri="{FF2B5EF4-FFF2-40B4-BE49-F238E27FC236}">
                <a16:creationId xmlns:a16="http://schemas.microsoft.com/office/drawing/2014/main" id="{05EFD7A8-3528-45F5-8C60-E844F42E890C}"/>
              </a:ext>
            </a:extLst>
          </p:cNvPr>
          <p:cNvSpPr>
            <a:spLocks xmlns:a="http://schemas.openxmlformats.org/drawingml/2006/main" noGrp="1"/>
          </p:cNvSpPr>
          <p:nvPr/>
        </p:nvSpPr>
        <p:spPr>
          <a:xfrm xmlns:a="http://schemas.openxmlformats.org/drawingml/2006/main">
            <a:off x="3364592" y="2820000"/>
            <a:ext cx="2098464" cy="820000"/>
          </a:xfrm>
          <a:prstGeom xmlns:a="http://schemas.openxmlformats.org/drawingml/2006/main" prst="roundRect">
            <a:avLst/>
          </a:prstGeom>
          <a:solidFill xmlns:a="http://schemas.openxmlformats.org/drawingml/2006/main">
            <a:srgbClr val="FDECEC"/>
          </a:solidFill>
          <a:ln xmlns:a="http://schemas.openxmlformats.org/drawingml/2006/main" w="1905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200" b="1">
                <a:solidFill>
                  <a:srgbClr val="B32D2D"/>
                </a:solidFill>
                <a:latin typeface="Times New Roman"/>
                <a:ea typeface="Times New Roman"/>
                <a:cs typeface="Times New Roman"/>
              </a:rPr>
              <a:t>KHÔNG → chuyển nhân viên</a:t>
            </a:r>
          </a:p>
          <a:p xmlns:a="http://schemas.openxmlformats.org/drawingml/2006/main">
            <a:pPr algn="ctr">
              <a:buNone/>
            </a:pPr>
            <a:r>
              <a:rPr sz="1000" b="0">
                <a:solidFill>
                  <a:srgbClr val="505050"/>
                </a:solidFill>
                <a:latin typeface="Times New Roman"/>
                <a:ea typeface="Times New Roman"/>
                <a:cs typeface="Times New Roman"/>
              </a:rPr>
              <a:t>Nói rõ chưa có thông tin</a:t>
            </a:r>
          </a:p>
        </p:txBody>
      </p:sp>
      <p:sp>
        <p:nvSpPr>
          <p:cNvPr id="19" name="Connector 18">
            <a:extLst xmlns:a="http://schemas.openxmlformats.org/drawingml/2006/main">
              <a:ext uri="{FF2B5EF4-FFF2-40B4-BE49-F238E27FC236}">
                <a16:creationId xmlns:a16="http://schemas.microsoft.com/office/drawing/2014/main" id="{55D222EB-9760-42F5-8E3E-299BE88A9CD3}"/>
              </a:ext>
            </a:extLst>
          </p:cNvPr>
          <p:cNvSpPr>
            <a:spLocks xmlns:a="http://schemas.openxmlformats.org/drawingml/2006/main" noGrp="1"/>
          </p:cNvSpPr>
          <p:nvPr/>
        </p:nvSpPr>
        <p:spPr>
          <a:xfrm xmlns:a="http://schemas.openxmlformats.org/drawingml/2006/main" flipH="1">
            <a:off x="5463056" y="3230000"/>
            <a:ext cx="400000" cy="0"/>
          </a:xfrm>
          <a:prstGeom xmlns:a="http://schemas.openxmlformats.org/drawingml/2006/main" prst="line">
            <a:avLst/>
          </a:prstGeom>
          <a:ln xmlns:a="http://schemas.openxmlformats.org/drawingml/2006/main" w="19050">
            <a:solidFill>
              <a:srgbClr val="B32D2D"/>
            </a:solidFill>
            <a:prstDash val="dash"/>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20" name="TextBox 19">
            <a:extLst xmlns:a="http://schemas.openxmlformats.org/drawingml/2006/main">
              <a:ext uri="{FF2B5EF4-FFF2-40B4-BE49-F238E27FC236}">
                <a16:creationId xmlns:a16="http://schemas.microsoft.com/office/drawing/2014/main" id="{5DDFA1F5-63DD-4398-9624-D18C6020CB75}"/>
              </a:ext>
            </a:extLst>
          </p:cNvPr>
          <p:cNvSpPr>
            <a:spLocks xmlns:a="http://schemas.openxmlformats.org/drawingml/2006/main" noGrp="1"/>
          </p:cNvSpPr>
          <p:nvPr/>
        </p:nvSpPr>
        <p:spPr>
          <a:xfrm xmlns:a="http://schemas.openxmlformats.org/drawingml/2006/main">
            <a:off x="8168976" y="2780000"/>
            <a:ext cx="900000" cy="26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1E7A3C"/>
                </a:solidFill>
                <a:latin typeface="Times New Roman"/>
                <a:ea typeface="Times New Roman"/>
                <a:cs typeface="Times New Roman"/>
              </a:rPr>
              <a:t>CÓ</a:t>
            </a:r>
          </a:p>
        </p:txBody>
      </p:sp>
      <p:sp>
        <p:nvSpPr>
          <p:cNvPr id="21" name="TextBox 20">
            <a:extLst xmlns:a="http://schemas.openxmlformats.org/drawingml/2006/main">
              <a:ext uri="{FF2B5EF4-FFF2-40B4-BE49-F238E27FC236}">
                <a16:creationId xmlns:a16="http://schemas.microsoft.com/office/drawing/2014/main" id="{D63E9F69-286E-45E1-822C-D49C0550D9FA}"/>
              </a:ext>
            </a:extLst>
          </p:cNvPr>
          <p:cNvSpPr>
            <a:spLocks xmlns:a="http://schemas.openxmlformats.org/drawingml/2006/main" noGrp="1"/>
          </p:cNvSpPr>
          <p:nvPr/>
        </p:nvSpPr>
        <p:spPr>
          <a:xfrm xmlns:a="http://schemas.openxmlformats.org/drawingml/2006/main">
            <a:off x="9534080" y="2880000"/>
            <a:ext cx="1895920" cy="7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100" b="1" i="0">
                <a:solidFill>
                  <a:srgbClr val="0F4C81"/>
                </a:solidFill>
                <a:latin typeface="Times New Roman"/>
                <a:ea typeface="Times New Roman"/>
                <a:cs typeface="Times New Roman"/>
              </a:rPr>
              <a:t>Lưu lại toàn bộ</a:t>
            </a:r>
          </a:p>
          <a:p xmlns:a="http://schemas.openxmlformats.org/drawingml/2006/main">
            <a:pPr algn="ctr">
              <a:spcBef>
                <a:spcPts val="100"/>
              </a:spcBef>
              <a:buNone/>
            </a:pPr>
            <a:r>
              <a:rPr sz="1000" b="0" i="0">
                <a:solidFill>
                  <a:srgbClr val="505050"/>
                </a:solidFill>
                <a:latin typeface="Times New Roman"/>
                <a:ea typeface="Times New Roman"/>
                <a:cs typeface="Times New Roman"/>
              </a:rPr>
              <a:t>Hồ sơ · khách tiềm năng · hội thoại</a:t>
            </a:r>
          </a:p>
          <a:p xmlns:a="http://schemas.openxmlformats.org/drawingml/2006/main">
            <a:pPr algn="ctr">
              <a:spcBef>
                <a:spcPts val="100"/>
              </a:spcBef>
              <a:buNone/>
            </a:pPr>
            <a:r>
              <a:rPr sz="1000" b="0" i="0">
                <a:solidFill>
                  <a:srgbClr val="505050"/>
                </a:solidFill>
                <a:latin typeface="Times New Roman"/>
                <a:ea typeface="Times New Roman"/>
                <a:cs typeface="Times New Roman"/>
              </a:rPr>
              <a:t>Đơn hàng · lịch hẹn · nhật ký</a:t>
            </a:r>
          </a:p>
        </p:txBody>
      </p:sp>
    </p:spTree>
    <p:extLst>
      <p:ext uri="{BB962C8B-B14F-4D97-AF65-F5344CB8AC3E}">
        <p14:creationId xmlns:p14="http://schemas.microsoft.com/office/powerpoint/2010/main" val="70692711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537289F7-E765-4B6C-9A81-07993FAD4AE0}"/>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Đơn tuyển dụng và quy trình giới thiệu việc làm</a:t>
            </a:r>
          </a:p>
        </p:txBody>
      </p:sp>
      <p:sp>
        <p:nvSpPr>
          <p:cNvPr id="3" name="Rounded Rectangle 2">
            <a:extLst xmlns:a="http://schemas.openxmlformats.org/drawingml/2006/main">
              <a:ext uri="{FF2B5EF4-FFF2-40B4-BE49-F238E27FC236}">
                <a16:creationId xmlns:a16="http://schemas.microsoft.com/office/drawing/2014/main" id="{BB85D796-B7E9-4AA5-91E0-212A4479CFBF}"/>
              </a:ext>
            </a:extLst>
          </p:cNvPr>
          <p:cNvSpPr>
            <a:spLocks xmlns:a="http://schemas.openxmlformats.org/drawingml/2006/main" noGrp="1"/>
          </p:cNvSpPr>
          <p:nvPr/>
        </p:nvSpPr>
        <p:spPr>
          <a:xfrm xmlns:a="http://schemas.openxmlformats.org/drawingml/2006/main">
            <a:off x="731520" y="1150000"/>
            <a:ext cx="560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Một đơn hàng gồm những thông tin gì</a:t>
            </a:r>
          </a:p>
        </p:txBody>
      </p:sp>
      <p:sp>
        <p:nvSpPr>
          <p:cNvPr id="4" name="Rounded Rectangle 3">
            <a:extLst xmlns:a="http://schemas.openxmlformats.org/drawingml/2006/main">
              <a:ext uri="{FF2B5EF4-FFF2-40B4-BE49-F238E27FC236}">
                <a16:creationId xmlns:a16="http://schemas.microsoft.com/office/drawing/2014/main" id="{C5838D2E-17C8-4B1E-95E5-F247271D5296}"/>
              </a:ext>
            </a:extLst>
          </p:cNvPr>
          <p:cNvSpPr>
            <a:spLocks xmlns:a="http://schemas.openxmlformats.org/drawingml/2006/main" noGrp="1"/>
          </p:cNvSpPr>
          <p:nvPr/>
        </p:nvSpPr>
        <p:spPr>
          <a:xfrm xmlns:a="http://schemas.openxmlformats.org/drawingml/2006/main">
            <a:off x="731520" y="1650000"/>
            <a:ext cx="5600000" cy="178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A7D0A9A-8BA4-42A2-95EA-A89DBCCB05ED}"/>
              </a:ext>
            </a:extLst>
          </p:cNvPr>
          <p:cNvSpPr>
            <a:spLocks xmlns:a="http://schemas.openxmlformats.org/drawingml/2006/main" noGrp="1"/>
          </p:cNvSpPr>
          <p:nvPr/>
        </p:nvSpPr>
        <p:spPr>
          <a:xfrm xmlns:a="http://schemas.openxmlformats.org/drawingml/2006/main">
            <a:off x="731520" y="1730000"/>
            <a:ext cx="5600000" cy="17526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Nhận diện. Mã đơn, tên cơ sở tiếp nhận, loại hình cơ sở, diện chương trình, tỉnh và vùng tại Nhật.</a:t>
            </a:r>
          </a:p>
          <a:p xmlns:a="http://schemas.openxmlformats.org/drawingml/2006/main">
            <a:pPr algn="l">
              <a:spcBef>
                <a:spcPts val="1000"/>
              </a:spcBef>
              <a:buNone/>
            </a:pPr>
            <a:r>
              <a:rPr sz="1200" b="1" i="0">
                <a:solidFill>
                  <a:srgbClr val="B32D2D"/>
                </a:solidFill>
                <a:latin typeface="Times New Roman"/>
                <a:ea typeface="Times New Roman"/>
                <a:cs typeface="Times New Roman"/>
              </a:rPr>
              <a:t>Điều kiện bắt buộc. Trình độ tiếng Nhật, bằng cấp chuyên ngành, kinh nghiệm tối thiểu, khoảng tuổi, hạn nộp hồ sơ.</a:t>
            </a:r>
          </a:p>
          <a:p xmlns:a="http://schemas.openxmlformats.org/drawingml/2006/main">
            <a:pPr algn="l">
              <a:spcBef>
                <a:spcPts val="1000"/>
              </a:spcBef>
              <a:buNone/>
            </a:pPr>
            <a:r>
              <a:rPr sz="1200" b="1" i="0">
                <a:solidFill>
                  <a:srgbClr val="1E7A3C"/>
                </a:solidFill>
                <a:latin typeface="Times New Roman"/>
                <a:ea typeface="Times New Roman"/>
                <a:cs typeface="Times New Roman"/>
              </a:rPr>
              <a:t>Thông tin tham khảo. Mức lương, phụ cấp, chi phí ước tính, dự kiến phỏng vấn, dự kiến xuất cảnh.</a:t>
            </a:r>
          </a:p>
          <a:p xmlns:a="http://schemas.openxmlformats.org/drawingml/2006/main">
            <a:pPr algn="l">
              <a:spcBef>
                <a:spcPts val="1000"/>
              </a:spcBef>
              <a:buNone/>
            </a:pPr>
            <a:r>
              <a:rPr sz="1200" b="1" i="0">
                <a:solidFill>
                  <a:srgbClr val="1E7A3C"/>
                </a:solidFill>
                <a:latin typeface="Times New Roman"/>
                <a:ea typeface="Times New Roman"/>
                <a:cs typeface="Times New Roman"/>
              </a:rPr>
              <a:t>Trạng thái. Nháp, Đang tuyển, Tạm dừng, Đủ số lượng, Hết hạn hoặc Đã đóng.</a:t>
            </a:r>
          </a:p>
        </p:txBody>
      </p:sp>
      <p:sp>
        <p:nvSpPr>
          <p:cNvPr id="6" name="Rounded Rectangle 5">
            <a:extLst xmlns:a="http://schemas.openxmlformats.org/drawingml/2006/main">
              <a:ext uri="{FF2B5EF4-FFF2-40B4-BE49-F238E27FC236}">
                <a16:creationId xmlns:a16="http://schemas.microsoft.com/office/drawing/2014/main" id="{4EE8E631-A425-4AF9-91F3-713524846E98}"/>
              </a:ext>
            </a:extLst>
          </p:cNvPr>
          <p:cNvSpPr>
            <a:spLocks xmlns:a="http://schemas.openxmlformats.org/drawingml/2006/main" noGrp="1"/>
          </p:cNvSpPr>
          <p:nvPr/>
        </p:nvSpPr>
        <p:spPr>
          <a:xfrm xmlns:a="http://schemas.openxmlformats.org/drawingml/2006/main">
            <a:off x="731520" y="3540000"/>
            <a:ext cx="5600000" cy="118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298B5E8-9B62-4BF8-9754-9E1C40114CE5}"/>
              </a:ext>
            </a:extLst>
          </p:cNvPr>
          <p:cNvSpPr>
            <a:spLocks xmlns:a="http://schemas.openxmlformats.org/drawingml/2006/main" noGrp="1"/>
          </p:cNvSpPr>
          <p:nvPr/>
        </p:nvSpPr>
        <p:spPr>
          <a:xfrm xmlns:a="http://schemas.openxmlformats.org/drawingml/2006/main">
            <a:off x="731520" y="3620000"/>
            <a:ext cx="5600000" cy="11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C06A00"/>
                </a:solidFill>
                <a:latin typeface="Times New Roman"/>
                <a:ea typeface="Times New Roman"/>
                <a:cs typeface="Times New Roman"/>
              </a:rPr>
              <a:t>Vì sao phải tách bạch ngay từ lúc nhập liệu?</a:t>
            </a:r>
          </a:p>
          <a:p xmlns:a="http://schemas.openxmlformats.org/drawingml/2006/main">
            <a:pPr algn="l">
              <a:spcBef>
                <a:spcPts val="600"/>
              </a:spcBef>
              <a:buNone/>
            </a:pPr>
            <a:r>
              <a:rPr sz="1100" b="0" i="0">
                <a:solidFill>
                  <a:srgbClr val="505050"/>
                </a:solidFill>
                <a:latin typeface="Times New Roman"/>
                <a:ea typeface="Times New Roman"/>
                <a:cs typeface="Times New Roman"/>
              </a:rPr>
              <a:t>Vì mỗi điều kiện bắt buộc sẽ sinh ra đúng một dòng “đạt” hoặc “không đạt” khi đối chiếu. Nhờ vậy hệ thống giải thích được vì sao giới thiệu đơn này mà không giới thiệu đơn kia.</a:t>
            </a:r>
          </a:p>
        </p:txBody>
      </p:sp>
      <p:sp>
        <p:nvSpPr>
          <p:cNvPr id="8" name="Rounded Rectangle 7">
            <a:extLst xmlns:a="http://schemas.openxmlformats.org/drawingml/2006/main">
              <a:ext uri="{FF2B5EF4-FFF2-40B4-BE49-F238E27FC236}">
                <a16:creationId xmlns:a16="http://schemas.microsoft.com/office/drawing/2014/main" id="{AACCC87A-D258-4C04-AD02-9B25D74DCAD8}"/>
              </a:ext>
            </a:extLst>
          </p:cNvPr>
          <p:cNvSpPr>
            <a:spLocks xmlns:a="http://schemas.openxmlformats.org/drawingml/2006/main" noGrp="1"/>
          </p:cNvSpPr>
          <p:nvPr/>
        </p:nvSpPr>
        <p:spPr>
          <a:xfrm xmlns:a="http://schemas.openxmlformats.org/drawingml/2006/main">
            <a:off x="731520" y="4830000"/>
            <a:ext cx="560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Nguồn dữ liệu đơn hàng</a:t>
            </a:r>
          </a:p>
        </p:txBody>
      </p:sp>
      <p:sp>
        <p:nvSpPr>
          <p:cNvPr id="9" name="TextBox 8">
            <a:extLst xmlns:a="http://schemas.openxmlformats.org/drawingml/2006/main">
              <a:ext uri="{FF2B5EF4-FFF2-40B4-BE49-F238E27FC236}">
                <a16:creationId xmlns:a16="http://schemas.microsoft.com/office/drawing/2014/main" id="{E5FB867A-8481-43A4-A7FD-BE7D8FEA310F}"/>
              </a:ext>
            </a:extLst>
          </p:cNvPr>
          <p:cNvSpPr>
            <a:spLocks xmlns:a="http://schemas.openxmlformats.org/drawingml/2006/main" noGrp="1"/>
          </p:cNvSpPr>
          <p:nvPr/>
        </p:nvSpPr>
        <p:spPr>
          <a:xfrm xmlns:a="http://schemas.openxmlformats.org/drawingml/2006/main">
            <a:off x="731520" y="5330000"/>
            <a:ext cx="5600000" cy="11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0" i="0">
                <a:solidFill>
                  <a:srgbClr val="505050"/>
                </a:solidFill>
                <a:latin typeface="Times New Roman"/>
                <a:ea typeface="Times New Roman"/>
                <a:cs typeface="Times New Roman"/>
              </a:rPr>
              <a:t>① Nhân viên nghiệp vụ nhập trực tiếp trên màn hình quản trị.</a:t>
            </a:r>
          </a:p>
          <a:p xmlns:a="http://schemas.openxmlformats.org/drawingml/2006/main">
            <a:pPr algn="l">
              <a:spcBef>
                <a:spcPts val="700"/>
              </a:spcBef>
              <a:buNone/>
            </a:pPr>
            <a:r>
              <a:rPr sz="1150" b="0" i="0">
                <a:solidFill>
                  <a:srgbClr val="505050"/>
                </a:solidFill>
                <a:latin typeface="Times New Roman"/>
                <a:ea typeface="Times New Roman"/>
                <a:cs typeface="Times New Roman"/>
              </a:rPr>
              <a:t>② Nhập hàng loạt từ file danh sách đơn hàng công ty đang dùng.</a:t>
            </a:r>
          </a:p>
          <a:p xmlns:a="http://schemas.openxmlformats.org/drawingml/2006/main">
            <a:pPr algn="l">
              <a:spcBef>
                <a:spcPts val="700"/>
              </a:spcBef>
              <a:buNone/>
            </a:pPr>
            <a:r>
              <a:rPr sz="1150" b="0" i="0">
                <a:solidFill>
                  <a:srgbClr val="505050"/>
                </a:solidFill>
                <a:latin typeface="Times New Roman"/>
                <a:ea typeface="Times New Roman"/>
                <a:cs typeface="Times New Roman"/>
              </a:rPr>
              <a:t>③ Đồng bộ tự động từ đối tác Nhật Bản — ngoài phạm vi đồ án.</a:t>
            </a:r>
          </a:p>
        </p:txBody>
      </p:sp>
      <p:sp>
        <p:nvSpPr>
          <p:cNvPr id="10" name="Rounded Rectangle 9">
            <a:extLst xmlns:a="http://schemas.openxmlformats.org/drawingml/2006/main">
              <a:ext uri="{FF2B5EF4-FFF2-40B4-BE49-F238E27FC236}">
                <a16:creationId xmlns:a16="http://schemas.microsoft.com/office/drawing/2014/main" id="{B674E841-E2CA-488D-B183-A2A90DF837B7}"/>
              </a:ext>
            </a:extLst>
          </p:cNvPr>
          <p:cNvSpPr>
            <a:spLocks xmlns:a="http://schemas.openxmlformats.org/drawingml/2006/main" noGrp="1"/>
          </p:cNvSpPr>
          <p:nvPr/>
        </p:nvSpPr>
        <p:spPr>
          <a:xfrm xmlns:a="http://schemas.openxmlformats.org/drawingml/2006/main">
            <a:off x="6560000" y="1150000"/>
            <a:ext cx="487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Ba bước giới thiệu việc làm</a:t>
            </a:r>
          </a:p>
        </p:txBody>
      </p:sp>
      <p:sp>
        <p:nvSpPr>
          <p:cNvPr id="11" name="Rounded Rectangle 10">
            <a:extLst xmlns:a="http://schemas.openxmlformats.org/drawingml/2006/main">
              <a:ext uri="{FF2B5EF4-FFF2-40B4-BE49-F238E27FC236}">
                <a16:creationId xmlns:a16="http://schemas.microsoft.com/office/drawing/2014/main" id="{2623445A-E52C-4D21-B862-CACA6D59C37B}"/>
              </a:ext>
            </a:extLst>
          </p:cNvPr>
          <p:cNvSpPr>
            <a:spLocks xmlns:a="http://schemas.openxmlformats.org/drawingml/2006/main" noGrp="1"/>
          </p:cNvSpPr>
          <p:nvPr/>
        </p:nvSpPr>
        <p:spPr>
          <a:xfrm xmlns:a="http://schemas.openxmlformats.org/drawingml/2006/main">
            <a:off x="6560000" y="1650000"/>
            <a:ext cx="4870000" cy="118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7059C3FA-9BC6-40AE-941E-7B68158C818F}"/>
              </a:ext>
            </a:extLst>
          </p:cNvPr>
          <p:cNvSpPr>
            <a:spLocks xmlns:a="http://schemas.openxmlformats.org/drawingml/2006/main" noGrp="1"/>
          </p:cNvSpPr>
          <p:nvPr/>
        </p:nvSpPr>
        <p:spPr>
          <a:xfrm xmlns:a="http://schemas.openxmlformats.org/drawingml/2006/main">
            <a:off x="6560000" y="1730000"/>
            <a:ext cx="4870000" cy="11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B32D2D"/>
                </a:solidFill>
                <a:latin typeface="Times New Roman"/>
                <a:ea typeface="Times New Roman"/>
                <a:cs typeface="Times New Roman"/>
              </a:rPr>
              <a:t>Bước 1 — Loại trừ</a:t>
            </a:r>
          </a:p>
          <a:p xmlns:a="http://schemas.openxmlformats.org/drawingml/2006/main">
            <a:pPr algn="l">
              <a:spcBef>
                <a:spcPts val="500"/>
              </a:spcBef>
              <a:buNone/>
            </a:pPr>
            <a:r>
              <a:rPr sz="1100" b="0" i="0">
                <a:solidFill>
                  <a:srgbClr val="505050"/>
                </a:solidFill>
                <a:latin typeface="Times New Roman"/>
                <a:ea typeface="Times New Roman"/>
                <a:cs typeface="Times New Roman"/>
              </a:rPr>
              <a:t>Bỏ những đơn ứng viên chắc chắn không đủ điều kiện. Sai một điều kiện bắt buộc là loại, không có ngoại lệ.</a:t>
            </a:r>
          </a:p>
        </p:txBody>
      </p:sp>
      <p:sp>
        <p:nvSpPr>
          <p:cNvPr id="13" name="Connector 12">
            <a:extLst xmlns:a="http://schemas.openxmlformats.org/drawingml/2006/main">
              <a:ext uri="{FF2B5EF4-FFF2-40B4-BE49-F238E27FC236}">
                <a16:creationId xmlns:a16="http://schemas.microsoft.com/office/drawing/2014/main" id="{DA6058AF-F90F-44C2-9CED-1DED4774721C}"/>
              </a:ext>
            </a:extLst>
          </p:cNvPr>
          <p:cNvSpPr>
            <a:spLocks xmlns:a="http://schemas.openxmlformats.org/drawingml/2006/main" noGrp="1"/>
          </p:cNvSpPr>
          <p:nvPr/>
        </p:nvSpPr>
        <p:spPr>
          <a:xfrm xmlns:a="http://schemas.openxmlformats.org/drawingml/2006/main">
            <a:off x="8995000" y="2830000"/>
            <a:ext cx="0" cy="170000"/>
          </a:xfrm>
          <a:prstGeom xmlns:a="http://schemas.openxmlformats.org/drawingml/2006/main" prst="line">
            <a:avLst/>
          </a:prstGeom>
          <a:ln xmlns:a="http://schemas.openxmlformats.org/drawingml/2006/main" w="15875">
            <a:solidFill>
              <a:srgbClr val="505050"/>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4" name="Rounded Rectangle 13">
            <a:extLst xmlns:a="http://schemas.openxmlformats.org/drawingml/2006/main">
              <a:ext uri="{FF2B5EF4-FFF2-40B4-BE49-F238E27FC236}">
                <a16:creationId xmlns:a16="http://schemas.microsoft.com/office/drawing/2014/main" id="{9573BF49-842D-4A95-BAA0-B908AB9C3C7D}"/>
              </a:ext>
            </a:extLst>
          </p:cNvPr>
          <p:cNvSpPr>
            <a:spLocks xmlns:a="http://schemas.openxmlformats.org/drawingml/2006/main" noGrp="1"/>
          </p:cNvSpPr>
          <p:nvPr/>
        </p:nvSpPr>
        <p:spPr>
          <a:xfrm xmlns:a="http://schemas.openxmlformats.org/drawingml/2006/main">
            <a:off x="6560000" y="3000000"/>
            <a:ext cx="4870000" cy="118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6F8C0F5F-EF53-4080-9834-7921E8F8BFB3}"/>
              </a:ext>
            </a:extLst>
          </p:cNvPr>
          <p:cNvSpPr>
            <a:spLocks xmlns:a="http://schemas.openxmlformats.org/drawingml/2006/main" noGrp="1"/>
          </p:cNvSpPr>
          <p:nvPr/>
        </p:nvSpPr>
        <p:spPr>
          <a:xfrm xmlns:a="http://schemas.openxmlformats.org/drawingml/2006/main">
            <a:off x="6560000" y="3080000"/>
            <a:ext cx="4870000" cy="11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Bước 2 — Sắp xếp</a:t>
            </a:r>
          </a:p>
          <a:p xmlns:a="http://schemas.openxmlformats.org/drawingml/2006/main">
            <a:pPr algn="l">
              <a:spcBef>
                <a:spcPts val="500"/>
              </a:spcBef>
              <a:buNone/>
            </a:pPr>
            <a:r>
              <a:rPr sz="1100" b="0" i="0">
                <a:solidFill>
                  <a:srgbClr val="505050"/>
                </a:solidFill>
                <a:latin typeface="Times New Roman"/>
                <a:ea typeface="Times New Roman"/>
                <a:cs typeface="Times New Roman"/>
              </a:rPr>
              <a:t>Các đơn còn lại được xếp theo mức độ khớp với nguyện vọng ứng viên đã nói: khu vực, loại hình cơ sở, mức lương mong muốn.</a:t>
            </a:r>
          </a:p>
        </p:txBody>
      </p:sp>
      <p:sp>
        <p:nvSpPr>
          <p:cNvPr id="16" name="Connector 15">
            <a:extLst xmlns:a="http://schemas.openxmlformats.org/drawingml/2006/main">
              <a:ext uri="{FF2B5EF4-FFF2-40B4-BE49-F238E27FC236}">
                <a16:creationId xmlns:a16="http://schemas.microsoft.com/office/drawing/2014/main" id="{BC63740C-3FD1-4172-B55D-9904B29B738B}"/>
              </a:ext>
            </a:extLst>
          </p:cNvPr>
          <p:cNvSpPr>
            <a:spLocks xmlns:a="http://schemas.openxmlformats.org/drawingml/2006/main" noGrp="1"/>
          </p:cNvSpPr>
          <p:nvPr/>
        </p:nvSpPr>
        <p:spPr>
          <a:xfrm xmlns:a="http://schemas.openxmlformats.org/drawingml/2006/main">
            <a:off x="8995000" y="4180000"/>
            <a:ext cx="0" cy="170000"/>
          </a:xfrm>
          <a:prstGeom xmlns:a="http://schemas.openxmlformats.org/drawingml/2006/main" prst="line">
            <a:avLst/>
          </a:prstGeom>
          <a:ln xmlns:a="http://schemas.openxmlformats.org/drawingml/2006/main" w="15875">
            <a:solidFill>
              <a:srgbClr val="505050"/>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7" name="Rounded Rectangle 16">
            <a:extLst xmlns:a="http://schemas.openxmlformats.org/drawingml/2006/main">
              <a:ext uri="{FF2B5EF4-FFF2-40B4-BE49-F238E27FC236}">
                <a16:creationId xmlns:a16="http://schemas.microsoft.com/office/drawing/2014/main" id="{E895082B-7098-46EC-9A7F-04E4A9490477}"/>
              </a:ext>
            </a:extLst>
          </p:cNvPr>
          <p:cNvSpPr>
            <a:spLocks xmlns:a="http://schemas.openxmlformats.org/drawingml/2006/main" noGrp="1"/>
          </p:cNvSpPr>
          <p:nvPr/>
        </p:nvSpPr>
        <p:spPr>
          <a:xfrm xmlns:a="http://schemas.openxmlformats.org/drawingml/2006/main">
            <a:off x="6560000" y="4350000"/>
            <a:ext cx="4870000" cy="118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8263950A-686B-4E10-84D6-826C7B6BC91D}"/>
              </a:ext>
            </a:extLst>
          </p:cNvPr>
          <p:cNvSpPr>
            <a:spLocks xmlns:a="http://schemas.openxmlformats.org/drawingml/2006/main" noGrp="1"/>
          </p:cNvSpPr>
          <p:nvPr/>
        </p:nvSpPr>
        <p:spPr>
          <a:xfrm xmlns:a="http://schemas.openxmlformats.org/drawingml/2006/main">
            <a:off x="6560000" y="4430000"/>
            <a:ext cx="4870000" cy="11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1E7A3C"/>
                </a:solidFill>
                <a:latin typeface="Times New Roman"/>
                <a:ea typeface="Times New Roman"/>
                <a:cs typeface="Times New Roman"/>
              </a:rPr>
              <a:t>Bước 3 — Giải thích</a:t>
            </a:r>
          </a:p>
          <a:p xmlns:a="http://schemas.openxmlformats.org/drawingml/2006/main">
            <a:pPr algn="l">
              <a:spcBef>
                <a:spcPts val="500"/>
              </a:spcBef>
              <a:buNone/>
            </a:pPr>
            <a:r>
              <a:rPr sz="1100" b="0" i="0">
                <a:solidFill>
                  <a:srgbClr val="505050"/>
                </a:solidFill>
                <a:latin typeface="Times New Roman"/>
                <a:ea typeface="Times New Roman"/>
                <a:cs typeface="Times New Roman"/>
              </a:rPr>
              <a:t>Với mỗi đơn được giới thiệu, ghi rõ từng tiêu chí đạt hay chưa đạt, và ứng viên còn thiếu điểm nào.</a:t>
            </a:r>
          </a:p>
        </p:txBody>
      </p:sp>
      <p:sp>
        <p:nvSpPr>
          <p:cNvPr id="19" name="Rounded Rectangle 18">
            <a:extLst xmlns:a="http://schemas.openxmlformats.org/drawingml/2006/main">
              <a:ext uri="{FF2B5EF4-FFF2-40B4-BE49-F238E27FC236}">
                <a16:creationId xmlns:a16="http://schemas.microsoft.com/office/drawing/2014/main" id="{7690091B-5A48-4BAB-B88C-386AD94F39A0}"/>
              </a:ext>
            </a:extLst>
          </p:cNvPr>
          <p:cNvSpPr>
            <a:spLocks xmlns:a="http://schemas.openxmlformats.org/drawingml/2006/main" noGrp="1"/>
          </p:cNvSpPr>
          <p:nvPr/>
        </p:nvSpPr>
        <p:spPr>
          <a:xfrm xmlns:a="http://schemas.openxmlformats.org/drawingml/2006/main">
            <a:off x="6560000" y="5830000"/>
            <a:ext cx="4870000" cy="60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FE06E8C7-DBCE-4F09-BA1E-B0ECB19B118C}"/>
              </a:ext>
            </a:extLst>
          </p:cNvPr>
          <p:cNvSpPr>
            <a:spLocks xmlns:a="http://schemas.openxmlformats.org/drawingml/2006/main" noGrp="1"/>
          </p:cNvSpPr>
          <p:nvPr/>
        </p:nvSpPr>
        <p:spPr>
          <a:xfrm xmlns:a="http://schemas.openxmlformats.org/drawingml/2006/main">
            <a:off x="6560000" y="5900000"/>
            <a:ext cx="4870000" cy="54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100" b="0" i="1">
                <a:solidFill>
                  <a:srgbClr val="505050"/>
                </a:solidFill>
                <a:latin typeface="Times New Roman"/>
                <a:ea typeface="Times New Roman"/>
                <a:cs typeface="Times New Roman"/>
              </a:rPr>
              <a:t>Hệ thống gợi ý và giải thích. Ứng viên chọn đơn muốn đăng ký; AI không tự thay đổi nguyện vọng của khách.</a:t>
            </a:r>
          </a:p>
        </p:txBody>
      </p:sp>
    </p:spTree>
    <p:extLst>
      <p:ext uri="{BB962C8B-B14F-4D97-AF65-F5344CB8AC3E}">
        <p14:creationId xmlns:p14="http://schemas.microsoft.com/office/powerpoint/2010/main" val="72741102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6A64DC88-6339-4197-8234-C19044DA60D3}"/>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Bàn giao cho nhân viên — Phiếu tóm tắt tư vấn</a:t>
            </a:r>
          </a:p>
        </p:txBody>
      </p:sp>
      <p:sp>
        <p:nvSpPr>
          <p:cNvPr id="3" name="Rounded Rectangle 2">
            <a:extLst xmlns:a="http://schemas.openxmlformats.org/drawingml/2006/main">
              <a:ext uri="{FF2B5EF4-FFF2-40B4-BE49-F238E27FC236}">
                <a16:creationId xmlns:a16="http://schemas.microsoft.com/office/drawing/2014/main" id="{9447A6AB-ECAA-443A-B4AF-38C9E799D5B4}"/>
              </a:ext>
            </a:extLst>
          </p:cNvPr>
          <p:cNvSpPr>
            <a:spLocks xmlns:a="http://schemas.openxmlformats.org/drawingml/2006/main" noGrp="1"/>
          </p:cNvSpPr>
          <p:nvPr/>
        </p:nvSpPr>
        <p:spPr>
          <a:xfrm xmlns:a="http://schemas.openxmlformats.org/drawingml/2006/main">
            <a:off x="731520" y="1150000"/>
            <a:ext cx="560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Quy tắc thu thập thông tin khách</a:t>
            </a:r>
          </a:p>
        </p:txBody>
      </p:sp>
      <p:sp>
        <p:nvSpPr>
          <p:cNvPr id="4" name="Rounded Rectangle 3">
            <a:extLst xmlns:a="http://schemas.openxmlformats.org/drawingml/2006/main">
              <a:ext uri="{FF2B5EF4-FFF2-40B4-BE49-F238E27FC236}">
                <a16:creationId xmlns:a16="http://schemas.microsoft.com/office/drawing/2014/main" id="{CA8A968E-98B9-4EFA-B82F-927529E0C199}"/>
              </a:ext>
            </a:extLst>
          </p:cNvPr>
          <p:cNvSpPr>
            <a:spLocks xmlns:a="http://schemas.openxmlformats.org/drawingml/2006/main" noGrp="1"/>
          </p:cNvSpPr>
          <p:nvPr/>
        </p:nvSpPr>
        <p:spPr>
          <a:xfrm xmlns:a="http://schemas.openxmlformats.org/drawingml/2006/main">
            <a:off x="731520" y="1650000"/>
            <a:ext cx="5600000" cy="26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5C7D0B4-5152-485C-8FDE-AFD10799901A}"/>
              </a:ext>
            </a:extLst>
          </p:cNvPr>
          <p:cNvSpPr>
            <a:spLocks xmlns:a="http://schemas.openxmlformats.org/drawingml/2006/main" noGrp="1"/>
          </p:cNvSpPr>
          <p:nvPr/>
        </p:nvSpPr>
        <p:spPr>
          <a:xfrm xmlns:a="http://schemas.openxmlformats.org/drawingml/2006/main">
            <a:off x="731520" y="1730000"/>
            <a:ext cx="5600000" cy="257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Ưu tiên nhận từ lời nói. </a:t>
            </a:r>
            <a:r>
              <a:rPr sz="1100" b="0" i="0">
                <a:solidFill>
                  <a:srgbClr val="505050"/>
                </a:solidFill>
                <a:latin typeface="Times New Roman"/>
                <a:ea typeface="Times New Roman"/>
                <a:cs typeface="Times New Roman"/>
              </a:rPr>
              <a:t>Hệ thống nhận diện thông tin ngay trong câu ứng viên viết hoặc trong file CV, không bắt điền biểu mẫu ngay từ đầu.</a:t>
            </a:r>
          </a:p>
          <a:p xmlns:a="http://schemas.openxmlformats.org/drawingml/2006/main">
            <a:pPr algn="l">
              <a:spcBef>
                <a:spcPts val="1300"/>
              </a:spcBef>
              <a:buNone/>
            </a:pPr>
            <a:r>
              <a:rPr sz="1200" b="1" i="0">
                <a:solidFill>
                  <a:srgbClr val="0F4C81"/>
                </a:solidFill>
                <a:latin typeface="Times New Roman"/>
                <a:ea typeface="Times New Roman"/>
                <a:cs typeface="Times New Roman"/>
              </a:rPr>
              <a:t>Thiếu thì mới hỏi. </a:t>
            </a:r>
            <a:r>
              <a:rPr sz="1100" b="0" i="0">
                <a:solidFill>
                  <a:srgbClr val="505050"/>
                </a:solidFill>
                <a:latin typeface="Times New Roman"/>
                <a:ea typeface="Times New Roman"/>
                <a:cs typeface="Times New Roman"/>
              </a:rPr>
              <a:t>Chỉ khi thiếu thông tin bắt buộc mới hỏi thêm, tránh làm phiền ứng viên.</a:t>
            </a:r>
          </a:p>
          <a:p xmlns:a="http://schemas.openxmlformats.org/drawingml/2006/main">
            <a:pPr algn="l">
              <a:spcBef>
                <a:spcPts val="1300"/>
              </a:spcBef>
              <a:buNone/>
            </a:pPr>
            <a:r>
              <a:rPr sz="1200" b="1" i="0">
                <a:solidFill>
                  <a:srgbClr val="0F4C81"/>
                </a:solidFill>
                <a:latin typeface="Times New Roman"/>
                <a:ea typeface="Times New Roman"/>
                <a:cs typeface="Times New Roman"/>
              </a:rPr>
              <a:t>Không chắc thì hỏi lại. </a:t>
            </a:r>
            <a:r>
              <a:rPr sz="1100" b="0" i="0">
                <a:solidFill>
                  <a:srgbClr val="505050"/>
                </a:solidFill>
                <a:latin typeface="Times New Roman"/>
                <a:ea typeface="Times New Roman"/>
                <a:cs typeface="Times New Roman"/>
              </a:rPr>
              <a:t>Thông tin chưa rõ ràng thì xác nhận với ứng viên, không tự suy đoán.</a:t>
            </a:r>
          </a:p>
          <a:p xmlns:a="http://schemas.openxmlformats.org/drawingml/2006/main">
            <a:pPr algn="l">
              <a:spcBef>
                <a:spcPts val="1300"/>
              </a:spcBef>
              <a:buNone/>
            </a:pPr>
            <a:r>
              <a:rPr sz="1200" b="1" i="0">
                <a:solidFill>
                  <a:srgbClr val="0F4C81"/>
                </a:solidFill>
                <a:latin typeface="Times New Roman"/>
                <a:ea typeface="Times New Roman"/>
                <a:cs typeface="Times New Roman"/>
              </a:rPr>
              <a:t>Luôn kèm ngữ cảnh. </a:t>
            </a:r>
            <a:r>
              <a:rPr sz="1100" b="0" i="0">
                <a:solidFill>
                  <a:srgbClr val="505050"/>
                </a:solidFill>
                <a:latin typeface="Times New Roman"/>
                <a:ea typeface="Times New Roman"/>
                <a:cs typeface="Times New Roman"/>
              </a:rPr>
              <a:t>Mỗi khách được lưu cùng toàn bộ cuộc trò chuyện để nhân viên đọc lại khi cần.</a:t>
            </a:r>
          </a:p>
        </p:txBody>
      </p:sp>
      <p:sp>
        <p:nvSpPr>
          <p:cNvPr id="6" name="Rounded Rectangle 5">
            <a:extLst xmlns:a="http://schemas.openxmlformats.org/drawingml/2006/main">
              <a:ext uri="{FF2B5EF4-FFF2-40B4-BE49-F238E27FC236}">
                <a16:creationId xmlns:a16="http://schemas.microsoft.com/office/drawing/2014/main" id="{F07A1D1E-24CD-4E4D-BDBE-CD40E4B2C8D5}"/>
              </a:ext>
            </a:extLst>
          </p:cNvPr>
          <p:cNvSpPr>
            <a:spLocks xmlns:a="http://schemas.openxmlformats.org/drawingml/2006/main" noGrp="1"/>
          </p:cNvSpPr>
          <p:nvPr/>
        </p:nvSpPr>
        <p:spPr>
          <a:xfrm xmlns:a="http://schemas.openxmlformats.org/drawingml/2006/main">
            <a:off x="731520" y="4420000"/>
            <a:ext cx="5600000" cy="198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2691336D-B228-45E5-B8F1-87123A37D2A0}"/>
              </a:ext>
            </a:extLst>
          </p:cNvPr>
          <p:cNvSpPr>
            <a:spLocks xmlns:a="http://schemas.openxmlformats.org/drawingml/2006/main" noGrp="1"/>
          </p:cNvSpPr>
          <p:nvPr/>
        </p:nvSpPr>
        <p:spPr>
          <a:xfrm xmlns:a="http://schemas.openxmlformats.org/drawingml/2006/main">
            <a:off x="731520" y="4500000"/>
            <a:ext cx="5600000" cy="19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1E7A3C"/>
                </a:solidFill>
                <a:latin typeface="Times New Roman"/>
                <a:ea typeface="Times New Roman"/>
                <a:cs typeface="Times New Roman"/>
              </a:rPr>
              <a:t>Vai trò của Phiếu tóm tắt tư vấn</a:t>
            </a:r>
          </a:p>
          <a:p xmlns:a="http://schemas.openxmlformats.org/drawingml/2006/main">
            <a:pPr algn="l">
              <a:spcBef>
                <a:spcPts val="800"/>
              </a:spcBef>
              <a:buNone/>
            </a:pPr>
            <a:r>
              <a:rPr sz="1100" b="0" i="0">
                <a:solidFill>
                  <a:srgbClr val="505050"/>
                </a:solidFill>
                <a:latin typeface="Times New Roman"/>
                <a:ea typeface="Times New Roman"/>
                <a:cs typeface="Times New Roman"/>
              </a:rPr>
              <a:t>Tóm tắt cuộc trò chuyện để nhân viên nắm nhanh bối cảnh. CV và hội thoại gốc luôn đi kèm để đối chiếu.</a:t>
            </a:r>
          </a:p>
          <a:p xmlns:a="http://schemas.openxmlformats.org/drawingml/2006/main">
            <a:pPr algn="l">
              <a:spcBef>
                <a:spcPts val="800"/>
              </a:spcBef>
              <a:buNone/>
            </a:pPr>
            <a:r>
              <a:rPr sz="1100" b="0" i="0">
                <a:solidFill>
                  <a:srgbClr val="505050"/>
                </a:solidFill>
                <a:latin typeface="Times New Roman"/>
                <a:ea typeface="Times New Roman"/>
                <a:cs typeface="Times New Roman"/>
              </a:rPr>
              <a:t>Sau khi khách xác nhận đơn, phiếu được đưa vào hàng đợi Chờ tiếp nhận; nhân viên nhận hồ sơ và tiếp tục xử lý.</a:t>
            </a:r>
          </a:p>
        </p:txBody>
      </p:sp>
      <p:sp>
        <p:nvSpPr>
          <p:cNvPr id="8" name="Rounded Rectangle 7">
            <a:extLst xmlns:a="http://schemas.openxmlformats.org/drawingml/2006/main">
              <a:ext uri="{FF2B5EF4-FFF2-40B4-BE49-F238E27FC236}">
                <a16:creationId xmlns:a16="http://schemas.microsoft.com/office/drawing/2014/main" id="{8504F47B-674E-4794-8E17-A0077467EAF1}"/>
              </a:ext>
            </a:extLst>
          </p:cNvPr>
          <p:cNvSpPr>
            <a:spLocks xmlns:a="http://schemas.openxmlformats.org/drawingml/2006/main" noGrp="1"/>
          </p:cNvSpPr>
          <p:nvPr/>
        </p:nvSpPr>
        <p:spPr>
          <a:xfrm xmlns:a="http://schemas.openxmlformats.org/drawingml/2006/main">
            <a:off x="6560000" y="1150000"/>
            <a:ext cx="4870000" cy="400000"/>
          </a:xfrm>
          <a:prstGeom xmlns:a="http://schemas.openxmlformats.org/drawingml/2006/main" prst="roundRect">
            <a:avLst/>
          </a:prstGeom>
          <a:solidFill xmlns:a="http://schemas.openxmlformats.org/drawingml/2006/main">
            <a:srgbClr val="C06A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Nội dung một Phiếu tóm tắt tư vấn</a:t>
            </a:r>
          </a:p>
        </p:txBody>
      </p:sp>
      <p:sp>
        <p:nvSpPr>
          <p:cNvPr id="9" name="Rounded Rectangle 8">
            <a:extLst xmlns:a="http://schemas.openxmlformats.org/drawingml/2006/main">
              <a:ext uri="{FF2B5EF4-FFF2-40B4-BE49-F238E27FC236}">
                <a16:creationId xmlns:a16="http://schemas.microsoft.com/office/drawing/2014/main" id="{503E9543-3F6A-4577-A8DC-D4A06767A07B}"/>
              </a:ext>
            </a:extLst>
          </p:cNvPr>
          <p:cNvSpPr>
            <a:spLocks xmlns:a="http://schemas.openxmlformats.org/drawingml/2006/main" noGrp="1"/>
          </p:cNvSpPr>
          <p:nvPr/>
        </p:nvSpPr>
        <p:spPr>
          <a:xfrm xmlns:a="http://schemas.openxmlformats.org/drawingml/2006/main">
            <a:off x="6560000" y="1650000"/>
            <a:ext cx="4870000" cy="475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09F799D2-43C5-41E6-BB9F-8D2C0913176E}"/>
              </a:ext>
            </a:extLst>
          </p:cNvPr>
          <p:cNvSpPr>
            <a:spLocks xmlns:a="http://schemas.openxmlformats.org/drawingml/2006/main" noGrp="1"/>
          </p:cNvSpPr>
          <p:nvPr/>
        </p:nvSpPr>
        <p:spPr>
          <a:xfrm xmlns:a="http://schemas.openxmlformats.org/drawingml/2006/main">
            <a:off x="6560000" y="1740000"/>
            <a:ext cx="4870000" cy="46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1" i="0">
                <a:solidFill>
                  <a:srgbClr val="C06A00"/>
                </a:solidFill>
                <a:latin typeface="Times New Roman"/>
                <a:ea typeface="Times New Roman"/>
                <a:cs typeface="Times New Roman"/>
              </a:rPr>
              <a:t>Liên hệ  ·  họ tên, số điện thoại, thời điểm tạo</a:t>
            </a:r>
          </a:p>
          <a:p xmlns:a="http://schemas.openxmlformats.org/drawingml/2006/main">
            <a:pPr algn="l">
              <a:spcBef>
                <a:spcPts val="1300"/>
              </a:spcBef>
              <a:buNone/>
            </a:pPr>
            <a:r>
              <a:rPr sz="1150" b="1" i="0">
                <a:solidFill>
                  <a:srgbClr val="C06A00"/>
                </a:solidFill>
                <a:latin typeface="Times New Roman"/>
                <a:ea typeface="Times New Roman"/>
                <a:cs typeface="Times New Roman"/>
              </a:rPr>
              <a:t>Hồ sơ  ·  bằng cấp, tiếng Nhật, kinh nghiệm và nguồn dữ liệu</a:t>
            </a:r>
          </a:p>
          <a:p xmlns:a="http://schemas.openxmlformats.org/drawingml/2006/main">
            <a:pPr algn="l">
              <a:spcBef>
                <a:spcPts val="1300"/>
              </a:spcBef>
              <a:buNone/>
            </a:pPr>
            <a:r>
              <a:rPr sz="1150" b="1" i="0">
                <a:solidFill>
                  <a:srgbClr val="C06A00"/>
                </a:solidFill>
                <a:latin typeface="Times New Roman"/>
                <a:ea typeface="Times New Roman"/>
                <a:cs typeface="Times New Roman"/>
              </a:rPr>
              <a:t>Nguyện vọng  ·  khu vực, loại hình cơ sở, mức lương mong muốn</a:t>
            </a:r>
          </a:p>
          <a:p xmlns:a="http://schemas.openxmlformats.org/drawingml/2006/main">
            <a:pPr algn="l">
              <a:spcBef>
                <a:spcPts val="1300"/>
              </a:spcBef>
              <a:buNone/>
            </a:pPr>
            <a:r>
              <a:rPr sz="1150" b="1" i="0">
                <a:solidFill>
                  <a:srgbClr val="C06A00"/>
                </a:solidFill>
                <a:latin typeface="Times New Roman"/>
                <a:ea typeface="Times New Roman"/>
                <a:cs typeface="Times New Roman"/>
              </a:rPr>
              <a:t>Đơn đã chọn  ·  mã đơn, tên đơn và xác nhận của ứng viên</a:t>
            </a:r>
          </a:p>
          <a:p xmlns:a="http://schemas.openxmlformats.org/drawingml/2006/main">
            <a:pPr algn="l">
              <a:spcBef>
                <a:spcPts val="1300"/>
              </a:spcBef>
              <a:buNone/>
            </a:pPr>
            <a:r>
              <a:rPr sz="1150" b="1" i="0">
                <a:solidFill>
                  <a:srgbClr val="C06A00"/>
                </a:solidFill>
                <a:latin typeface="Times New Roman"/>
                <a:ea typeface="Times New Roman"/>
                <a:cs typeface="Times New Roman"/>
              </a:rPr>
              <a:t>Đối chiếu  ·  tiêu chí đạt, chưa đạt và thông tin còn thiếu</a:t>
            </a:r>
          </a:p>
          <a:p xmlns:a="http://schemas.openxmlformats.org/drawingml/2006/main">
            <a:pPr algn="l">
              <a:spcBef>
                <a:spcPts val="1300"/>
              </a:spcBef>
              <a:buNone/>
            </a:pPr>
            <a:r>
              <a:rPr sz="1150" b="1" i="0">
                <a:solidFill>
                  <a:srgbClr val="C06A00"/>
                </a:solidFill>
                <a:latin typeface="Times New Roman"/>
                <a:ea typeface="Times New Roman"/>
                <a:cs typeface="Times New Roman"/>
              </a:rPr>
              <a:t>Tài liệu gốc  ·  CV và liên kết tới toàn bộ hội thoại</a:t>
            </a:r>
          </a:p>
          <a:p xmlns:a="http://schemas.openxmlformats.org/drawingml/2006/main">
            <a:pPr algn="l">
              <a:spcBef>
                <a:spcPts val="1300"/>
              </a:spcBef>
              <a:buNone/>
            </a:pPr>
            <a:r>
              <a:rPr sz="1150" b="1" i="0">
                <a:solidFill>
                  <a:srgbClr val="C06A00"/>
                </a:solidFill>
                <a:latin typeface="Times New Roman"/>
                <a:ea typeface="Times New Roman"/>
                <a:cs typeface="Times New Roman"/>
              </a:rPr>
              <a:t>Lịch hẹn  ·  khung giờ gọi lại đã xác nhận</a:t>
            </a:r>
          </a:p>
          <a:p xmlns:a="http://schemas.openxmlformats.org/drawingml/2006/main">
            <a:pPr algn="l">
              <a:spcBef>
                <a:spcPts val="1300"/>
              </a:spcBef>
              <a:buNone/>
            </a:pPr>
            <a:r>
              <a:rPr sz="1150" b="1" i="0">
                <a:solidFill>
                  <a:srgbClr val="C06A00"/>
                </a:solidFill>
                <a:latin typeface="Times New Roman"/>
                <a:ea typeface="Times New Roman"/>
                <a:cs typeface="Times New Roman"/>
              </a:rPr>
              <a:t>Xử lý tiếp  ·  trạng thái hiện tại và hành động đề xuất</a:t>
            </a:r>
          </a:p>
        </p:txBody>
      </p:sp>
    </p:spTree>
    <p:extLst>
      <p:ext uri="{BB962C8B-B14F-4D97-AF65-F5344CB8AC3E}">
        <p14:creationId xmlns:p14="http://schemas.microsoft.com/office/powerpoint/2010/main" val="5518131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8" name="title">
            <a:extLst xmlns:a="http://schemas.openxmlformats.org/drawingml/2006/main">
              <a:ext uri="{FF2B5EF4-FFF2-40B4-BE49-F238E27FC236}">
                <a16:creationId xmlns:a16="http://schemas.microsoft.com/office/drawing/2014/main" id="{BBA2A763-CD07-4AFF-96F8-E5AFF38DE399}"/>
              </a:ext>
            </a:extLst>
          </p:cNvPr>
          <p:cNvSpPr>
            <a:spLocks xmlns:a="http://schemas.openxmlformats.org/drawingml/2006/main" noGrp="1"/>
          </p:cNvSpPr>
          <p:nvPr/>
        </p:nvSpPr>
        <p:spPr>
          <a:xfrm xmlns:a="http://schemas.openxmlformats.org/drawingml/2006/main">
            <a:off x="731520" y="348615"/>
            <a:ext cx="10698480" cy="69723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400" b="1">
                <a:solidFill>
                  <a:srgbClr val="0F4C81"/>
                </a:solidFill>
                <a:latin typeface="Times New Roman"/>
                <a:ea typeface="Times New Roman"/>
                <a:cs typeface="Times New Roman"/>
              </a:defRPr>
            </a:pPr>
            <a:r>
              <a:rPr sz="2400" b="1">
                <a:solidFill>
                  <a:srgbClr val="0F4C81"/>
                </a:solidFill>
                <a:latin typeface="Times New Roman"/>
                <a:ea typeface="Times New Roman"/>
                <a:cs typeface="Times New Roman"/>
              </a:rPr>
              <a:t>Hệ thống nhân viên tiếp nhận và xử lý hồ sơ</a:t>
            </a:r>
          </a:p>
        </p:txBody>
      </p:sp>
      <p:sp>
        <p:nvSpPr>
          <p:cNvPr id="2" name="employee-subtitle">
            <a:extLst xmlns:a="http://schemas.openxmlformats.org/drawingml/2006/main">
              <a:ext uri="{FF2B5EF4-FFF2-40B4-BE49-F238E27FC236}">
                <a16:creationId xmlns:a16="http://schemas.microsoft.com/office/drawing/2014/main" id="{9442CBAF-576F-4B29-893F-43EDC8766391}"/>
              </a:ext>
            </a:extLst>
          </p:cNvPr>
          <p:cNvSpPr>
            <a:spLocks xmlns:a="http://schemas.openxmlformats.org/drawingml/2006/main" noGrp="1"/>
          </p:cNvSpPr>
          <p:nvPr/>
        </p:nvSpPr>
        <p:spPr>
          <a:xfrm xmlns:a="http://schemas.openxmlformats.org/drawingml/2006/main">
            <a:off x="731520" y="1066800"/>
            <a:ext cx="1069848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505050"/>
                </a:solidFill>
                <a:latin typeface="Times New Roman"/>
                <a:ea typeface="Times New Roman"/>
                <a:cs typeface="Times New Roman"/>
              </a:defRPr>
            </a:pPr>
            <a:r>
              <a:rPr sz="1350" b="0">
                <a:solidFill>
                  <a:srgbClr val="505050"/>
                </a:solidFill>
                <a:latin typeface="Times New Roman"/>
                <a:ea typeface="Times New Roman"/>
                <a:cs typeface="Times New Roman"/>
              </a:rPr>
              <a:t>Phiếu mới đi vào một hàng đợi chung. Người nhận hồ sơ chịu trách nhiệm theo dõi cho đến khi chuyển giao hoặc kết thúc.</a:t>
            </a:r>
          </a:p>
        </p:txBody>
      </p:sp>
      <p:sp>
        <p:nvSpPr>
          <p:cNvPr id="3" name="employee-step-1">
            <a:extLst xmlns:a="http://schemas.openxmlformats.org/drawingml/2006/main">
              <a:ext uri="{FF2B5EF4-FFF2-40B4-BE49-F238E27FC236}">
                <a16:creationId xmlns:a16="http://schemas.microsoft.com/office/drawing/2014/main" id="{220F56CC-502D-4959-AE28-CF9113C9D27C}"/>
              </a:ext>
            </a:extLst>
          </p:cNvPr>
          <p:cNvSpPr>
            <a:spLocks xmlns:a="http://schemas.openxmlformats.org/drawingml/2006/main" noGrp="1"/>
          </p:cNvSpPr>
          <p:nvPr/>
        </p:nvSpPr>
        <p:spPr>
          <a:xfrm xmlns:a="http://schemas.openxmlformats.org/drawingml/2006/main">
            <a:off x="731520" y="1695450"/>
            <a:ext cx="514350" cy="666750"/>
          </a:xfrm>
          <a:prstGeom xmlns:a="http://schemas.openxmlformats.org/drawingml/2006/main" prst="roundRect">
            <a:avLst>
              <a:gd name="adj" fmla="val 18519"/>
            </a:avLst>
          </a:prstGeom>
          <a:solidFill xmlns:a="http://schemas.openxmlformats.org/drawingml/2006/main">
            <a:srgbClr val="0F4C81"/>
          </a:solidFill>
          <a:ln xmlns:a="http://schemas.openxmlformats.org/drawingml/2006/main" w="9525">
            <a:solidFill>
              <a:srgbClr val="0F4C81"/>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ctr">
              <a:buNone/>
              <a:defRPr sz="1800" b="1">
                <a:solidFill>
                  <a:srgbClr val="FFFFFF"/>
                </a:solidFill>
                <a:latin typeface="Times New Roman"/>
                <a:ea typeface="Times New Roman"/>
                <a:cs typeface="Times New Roman"/>
              </a:defRPr>
            </a:pPr>
            <a:r>
              <a:rPr sz="1800" b="1">
                <a:solidFill>
                  <a:srgbClr val="FFFFFF"/>
                </a:solidFill>
                <a:latin typeface="Times New Roman"/>
                <a:ea typeface="Times New Roman"/>
                <a:cs typeface="Times New Roman"/>
              </a:rPr>
              <a:t>1</a:t>
            </a:r>
          </a:p>
        </p:txBody>
      </p:sp>
      <p:sp>
        <p:nvSpPr>
          <p:cNvPr id="4" name="employee-heading-1">
            <a:extLst xmlns:a="http://schemas.openxmlformats.org/drawingml/2006/main">
              <a:ext uri="{FF2B5EF4-FFF2-40B4-BE49-F238E27FC236}">
                <a16:creationId xmlns:a16="http://schemas.microsoft.com/office/drawing/2014/main" id="{26F0F58F-AD8A-425A-85F4-E6C4EEC30E2F}"/>
              </a:ext>
            </a:extLst>
          </p:cNvPr>
          <p:cNvSpPr>
            <a:spLocks xmlns:a="http://schemas.openxmlformats.org/drawingml/2006/main" noGrp="1"/>
          </p:cNvSpPr>
          <p:nvPr/>
        </p:nvSpPr>
        <p:spPr>
          <a:xfrm xmlns:a="http://schemas.openxmlformats.org/drawingml/2006/main">
            <a:off x="1409700" y="1695450"/>
            <a:ext cx="2476500" cy="66675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425" b="1">
                <a:solidFill>
                  <a:srgbClr val="0F4C81"/>
                </a:solidFill>
                <a:latin typeface="Times New Roman"/>
                <a:ea typeface="Times New Roman"/>
                <a:cs typeface="Times New Roman"/>
              </a:defRPr>
            </a:pPr>
            <a:r>
              <a:rPr sz="1425" b="1">
                <a:solidFill>
                  <a:srgbClr val="0F4C81"/>
                </a:solidFill>
                <a:latin typeface="Times New Roman"/>
                <a:ea typeface="Times New Roman"/>
                <a:cs typeface="Times New Roman"/>
              </a:rPr>
              <a:t>Phiếu vào hàng đợi</a:t>
            </a:r>
          </a:p>
        </p:txBody>
      </p:sp>
      <p:sp>
        <p:nvSpPr>
          <p:cNvPr id="5" name="employee-body-1">
            <a:extLst xmlns:a="http://schemas.openxmlformats.org/drawingml/2006/main">
              <a:ext uri="{FF2B5EF4-FFF2-40B4-BE49-F238E27FC236}">
                <a16:creationId xmlns:a16="http://schemas.microsoft.com/office/drawing/2014/main" id="{E7CABA90-C03C-4507-8A34-9E5F3932644F}"/>
              </a:ext>
            </a:extLst>
          </p:cNvPr>
          <p:cNvSpPr>
            <a:spLocks xmlns:a="http://schemas.openxmlformats.org/drawingml/2006/main" noGrp="1"/>
          </p:cNvSpPr>
          <p:nvPr/>
        </p:nvSpPr>
        <p:spPr>
          <a:xfrm xmlns:a="http://schemas.openxmlformats.org/drawingml/2006/main">
            <a:off x="4000500" y="1695450"/>
            <a:ext cx="7429500" cy="66675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275" b="0">
                <a:solidFill>
                  <a:srgbClr val="505050"/>
                </a:solidFill>
                <a:latin typeface="Times New Roman"/>
                <a:ea typeface="Times New Roman"/>
                <a:cs typeface="Times New Roman"/>
              </a:defRPr>
            </a:pPr>
            <a:r>
              <a:rPr sz="1275" b="0">
                <a:solidFill>
                  <a:srgbClr val="505050"/>
                </a:solidFill>
                <a:latin typeface="Times New Roman"/>
                <a:ea typeface="Times New Roman"/>
                <a:cs typeface="Times New Roman"/>
              </a:rPr>
              <a:t>Hồ sơ ở trạng thái Chờ tiếp nhận, kèm số điện thoại, CV, hội thoại, đơn khách chọn và lịch hẹn.</a:t>
            </a:r>
          </a:p>
        </p:txBody>
      </p:sp>
      <p:sp>
        <p:nvSpPr>
          <p:cNvPr id="6" name="employee-step-2">
            <a:extLst xmlns:a="http://schemas.openxmlformats.org/drawingml/2006/main">
              <a:ext uri="{FF2B5EF4-FFF2-40B4-BE49-F238E27FC236}">
                <a16:creationId xmlns:a16="http://schemas.microsoft.com/office/drawing/2014/main" id="{839DDFD8-DD44-4EFD-8960-49C8312F3430}"/>
              </a:ext>
            </a:extLst>
          </p:cNvPr>
          <p:cNvSpPr>
            <a:spLocks xmlns:a="http://schemas.openxmlformats.org/drawingml/2006/main" noGrp="1"/>
          </p:cNvSpPr>
          <p:nvPr/>
        </p:nvSpPr>
        <p:spPr>
          <a:xfrm xmlns:a="http://schemas.openxmlformats.org/drawingml/2006/main">
            <a:off x="731520" y="2609850"/>
            <a:ext cx="514350" cy="666750"/>
          </a:xfrm>
          <a:prstGeom xmlns:a="http://schemas.openxmlformats.org/drawingml/2006/main" prst="roundRect">
            <a:avLst>
              <a:gd name="adj" fmla="val 18519"/>
            </a:avLst>
          </a:prstGeom>
          <a:solidFill xmlns:a="http://schemas.openxmlformats.org/drawingml/2006/main">
            <a:srgbClr val="0F4C81"/>
          </a:solidFill>
          <a:ln xmlns:a="http://schemas.openxmlformats.org/drawingml/2006/main" w="9525">
            <a:solidFill>
              <a:srgbClr val="0F4C81"/>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ctr">
              <a:buNone/>
              <a:defRPr sz="1800" b="1">
                <a:solidFill>
                  <a:srgbClr val="FFFFFF"/>
                </a:solidFill>
                <a:latin typeface="Times New Roman"/>
                <a:ea typeface="Times New Roman"/>
                <a:cs typeface="Times New Roman"/>
              </a:defRPr>
            </a:pPr>
            <a:r>
              <a:rPr sz="1800" b="1">
                <a:solidFill>
                  <a:srgbClr val="FFFFFF"/>
                </a:solidFill>
                <a:latin typeface="Times New Roman"/>
                <a:ea typeface="Times New Roman"/>
                <a:cs typeface="Times New Roman"/>
              </a:rPr>
              <a:t>2</a:t>
            </a:r>
          </a:p>
        </p:txBody>
      </p:sp>
      <p:sp>
        <p:nvSpPr>
          <p:cNvPr id="7" name="employee-heading-2">
            <a:extLst xmlns:a="http://schemas.openxmlformats.org/drawingml/2006/main">
              <a:ext uri="{FF2B5EF4-FFF2-40B4-BE49-F238E27FC236}">
                <a16:creationId xmlns:a16="http://schemas.microsoft.com/office/drawing/2014/main" id="{F434828C-AB1C-4D05-9381-D35A56877C2B}"/>
              </a:ext>
            </a:extLst>
          </p:cNvPr>
          <p:cNvSpPr>
            <a:spLocks xmlns:a="http://schemas.openxmlformats.org/drawingml/2006/main" noGrp="1"/>
          </p:cNvSpPr>
          <p:nvPr/>
        </p:nvSpPr>
        <p:spPr>
          <a:xfrm xmlns:a="http://schemas.openxmlformats.org/drawingml/2006/main">
            <a:off x="1409700" y="2609850"/>
            <a:ext cx="2476500" cy="666750"/>
          </a:xfrm>
          <a:prstGeom xmlns:a="http://schemas.openxmlformats.org/drawingml/2006/main" prst="roundRect">
            <a:avLst>
              <a:gd name="adj" fmla="val 11429"/>
            </a:avLst>
          </a:prstGeom>
          <a:solidFill xmlns:a="http://schemas.openxmlformats.org/drawingml/2006/main">
            <a:srgbClr val="F0F4F8"/>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425" b="1">
                <a:solidFill>
                  <a:srgbClr val="0F4C81"/>
                </a:solidFill>
                <a:latin typeface="Times New Roman"/>
                <a:ea typeface="Times New Roman"/>
                <a:cs typeface="Times New Roman"/>
              </a:defRPr>
            </a:pPr>
            <a:r>
              <a:rPr sz="1425" b="1">
                <a:solidFill>
                  <a:srgbClr val="0F4C81"/>
                </a:solidFill>
                <a:latin typeface="Times New Roman"/>
                <a:ea typeface="Times New Roman"/>
                <a:cs typeface="Times New Roman"/>
              </a:rPr>
              <a:t>Nhân viên nhận xử lý</a:t>
            </a:r>
          </a:p>
        </p:txBody>
      </p:sp>
      <p:sp>
        <p:nvSpPr>
          <p:cNvPr id="8" name="employee-body-2">
            <a:extLst xmlns:a="http://schemas.openxmlformats.org/drawingml/2006/main">
              <a:ext uri="{FF2B5EF4-FFF2-40B4-BE49-F238E27FC236}">
                <a16:creationId xmlns:a16="http://schemas.microsoft.com/office/drawing/2014/main" id="{41EC5271-AD23-4003-BCB3-6CDE052720FF}"/>
              </a:ext>
            </a:extLst>
          </p:cNvPr>
          <p:cNvSpPr>
            <a:spLocks xmlns:a="http://schemas.openxmlformats.org/drawingml/2006/main" noGrp="1"/>
          </p:cNvSpPr>
          <p:nvPr/>
        </p:nvSpPr>
        <p:spPr>
          <a:xfrm xmlns:a="http://schemas.openxmlformats.org/drawingml/2006/main">
            <a:off x="4000500" y="2609850"/>
            <a:ext cx="7429500" cy="666750"/>
          </a:xfrm>
          <a:prstGeom xmlns:a="http://schemas.openxmlformats.org/drawingml/2006/main" prst="roundRect">
            <a:avLst>
              <a:gd name="adj" fmla="val 11429"/>
            </a:avLst>
          </a:prstGeom>
          <a:solidFill xmlns:a="http://schemas.openxmlformats.org/drawingml/2006/main">
            <a:srgbClr val="F0F4F8"/>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275" b="0">
                <a:solidFill>
                  <a:srgbClr val="505050"/>
                </a:solidFill>
                <a:latin typeface="Times New Roman"/>
                <a:ea typeface="Times New Roman"/>
                <a:cs typeface="Times New Roman"/>
              </a:defRPr>
            </a:pPr>
            <a:r>
              <a:rPr sz="1275" b="0">
                <a:solidFill>
                  <a:srgbClr val="505050"/>
                </a:solidFill>
                <a:latin typeface="Times New Roman"/>
                <a:ea typeface="Times New Roman"/>
                <a:cs typeface="Times New Roman"/>
              </a:rPr>
              <a:t>Hệ thống gán một người phụ trách tại một thời điểm để hai người không xử lý trùng.</a:t>
            </a:r>
          </a:p>
        </p:txBody>
      </p:sp>
      <p:sp>
        <p:nvSpPr>
          <p:cNvPr id="9" name="employee-step-3">
            <a:extLst xmlns:a="http://schemas.openxmlformats.org/drawingml/2006/main">
              <a:ext uri="{FF2B5EF4-FFF2-40B4-BE49-F238E27FC236}">
                <a16:creationId xmlns:a16="http://schemas.microsoft.com/office/drawing/2014/main" id="{BFE998DB-9744-4BC5-AC61-194FFE456BB5}"/>
              </a:ext>
            </a:extLst>
          </p:cNvPr>
          <p:cNvSpPr>
            <a:spLocks xmlns:a="http://schemas.openxmlformats.org/drawingml/2006/main" noGrp="1"/>
          </p:cNvSpPr>
          <p:nvPr/>
        </p:nvSpPr>
        <p:spPr>
          <a:xfrm xmlns:a="http://schemas.openxmlformats.org/drawingml/2006/main">
            <a:off x="731520" y="3524250"/>
            <a:ext cx="514350" cy="666750"/>
          </a:xfrm>
          <a:prstGeom xmlns:a="http://schemas.openxmlformats.org/drawingml/2006/main" prst="roundRect">
            <a:avLst>
              <a:gd name="adj" fmla="val 18519"/>
            </a:avLst>
          </a:prstGeom>
          <a:solidFill xmlns:a="http://schemas.openxmlformats.org/drawingml/2006/main">
            <a:srgbClr val="0F4C81"/>
          </a:solidFill>
          <a:ln xmlns:a="http://schemas.openxmlformats.org/drawingml/2006/main" w="9525">
            <a:solidFill>
              <a:srgbClr val="0F4C81"/>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ctr">
              <a:buNone/>
              <a:defRPr sz="1800" b="1">
                <a:solidFill>
                  <a:srgbClr val="FFFFFF"/>
                </a:solidFill>
                <a:latin typeface="Times New Roman"/>
                <a:ea typeface="Times New Roman"/>
                <a:cs typeface="Times New Roman"/>
              </a:defRPr>
            </a:pPr>
            <a:r>
              <a:rPr sz="1800" b="1">
                <a:solidFill>
                  <a:srgbClr val="FFFFFF"/>
                </a:solidFill>
                <a:latin typeface="Times New Roman"/>
                <a:ea typeface="Times New Roman"/>
                <a:cs typeface="Times New Roman"/>
              </a:rPr>
              <a:t>3</a:t>
            </a:r>
          </a:p>
        </p:txBody>
      </p:sp>
      <p:sp>
        <p:nvSpPr>
          <p:cNvPr id="10" name="employee-heading-3">
            <a:extLst xmlns:a="http://schemas.openxmlformats.org/drawingml/2006/main">
              <a:ext uri="{FF2B5EF4-FFF2-40B4-BE49-F238E27FC236}">
                <a16:creationId xmlns:a16="http://schemas.microsoft.com/office/drawing/2014/main" id="{E18DFEF3-4A76-42A2-878E-B17BF19C1A69}"/>
              </a:ext>
            </a:extLst>
          </p:cNvPr>
          <p:cNvSpPr>
            <a:spLocks xmlns:a="http://schemas.openxmlformats.org/drawingml/2006/main" noGrp="1"/>
          </p:cNvSpPr>
          <p:nvPr/>
        </p:nvSpPr>
        <p:spPr>
          <a:xfrm xmlns:a="http://schemas.openxmlformats.org/drawingml/2006/main">
            <a:off x="1409700" y="3524250"/>
            <a:ext cx="2476500" cy="66675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425" b="1">
                <a:solidFill>
                  <a:srgbClr val="0F4C81"/>
                </a:solidFill>
                <a:latin typeface="Times New Roman"/>
                <a:ea typeface="Times New Roman"/>
                <a:cs typeface="Times New Roman"/>
              </a:defRPr>
            </a:pPr>
            <a:r>
              <a:rPr sz="1425" b="1">
                <a:solidFill>
                  <a:srgbClr val="0F4C81"/>
                </a:solidFill>
                <a:latin typeface="Times New Roman"/>
                <a:ea typeface="Times New Roman"/>
                <a:cs typeface="Times New Roman"/>
              </a:rPr>
              <a:t>Liên hệ và cập nhật</a:t>
            </a:r>
          </a:p>
        </p:txBody>
      </p:sp>
      <p:sp>
        <p:nvSpPr>
          <p:cNvPr id="11" name="employee-body-3">
            <a:extLst xmlns:a="http://schemas.openxmlformats.org/drawingml/2006/main">
              <a:ext uri="{FF2B5EF4-FFF2-40B4-BE49-F238E27FC236}">
                <a16:creationId xmlns:a16="http://schemas.microsoft.com/office/drawing/2014/main" id="{2269E3BE-333C-4C41-B44E-088E6F3173B1}"/>
              </a:ext>
            </a:extLst>
          </p:cNvPr>
          <p:cNvSpPr>
            <a:spLocks xmlns:a="http://schemas.openxmlformats.org/drawingml/2006/main" noGrp="1"/>
          </p:cNvSpPr>
          <p:nvPr/>
        </p:nvSpPr>
        <p:spPr>
          <a:xfrm xmlns:a="http://schemas.openxmlformats.org/drawingml/2006/main">
            <a:off x="4000500" y="3524250"/>
            <a:ext cx="7429500" cy="66675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275" b="0">
                <a:solidFill>
                  <a:srgbClr val="505050"/>
                </a:solidFill>
                <a:latin typeface="Times New Roman"/>
                <a:ea typeface="Times New Roman"/>
                <a:cs typeface="Times New Roman"/>
              </a:defRPr>
            </a:pPr>
            <a:r>
              <a:rPr sz="1275" b="0">
                <a:solidFill>
                  <a:srgbClr val="505050"/>
                </a:solidFill>
                <a:latin typeface="Times New Roman"/>
                <a:ea typeface="Times New Roman"/>
                <a:cs typeface="Times New Roman"/>
              </a:rPr>
              <a:t>Nhân viên ghi kết quả gọi, thông tin còn thiếu, ghi chú nội bộ và trạng thái tiếp theo.</a:t>
            </a:r>
          </a:p>
        </p:txBody>
      </p:sp>
      <p:sp>
        <p:nvSpPr>
          <p:cNvPr id="12" name="employee-step-4">
            <a:extLst xmlns:a="http://schemas.openxmlformats.org/drawingml/2006/main">
              <a:ext uri="{FF2B5EF4-FFF2-40B4-BE49-F238E27FC236}">
                <a16:creationId xmlns:a16="http://schemas.microsoft.com/office/drawing/2014/main" id="{AE0C0221-14BE-441F-8158-545E8E3CFA63}"/>
              </a:ext>
            </a:extLst>
          </p:cNvPr>
          <p:cNvSpPr>
            <a:spLocks xmlns:a="http://schemas.openxmlformats.org/drawingml/2006/main" noGrp="1"/>
          </p:cNvSpPr>
          <p:nvPr/>
        </p:nvSpPr>
        <p:spPr>
          <a:xfrm xmlns:a="http://schemas.openxmlformats.org/drawingml/2006/main">
            <a:off x="731520" y="4438650"/>
            <a:ext cx="514350" cy="666750"/>
          </a:xfrm>
          <a:prstGeom xmlns:a="http://schemas.openxmlformats.org/drawingml/2006/main" prst="roundRect">
            <a:avLst>
              <a:gd name="adj" fmla="val 18519"/>
            </a:avLst>
          </a:prstGeom>
          <a:solidFill xmlns:a="http://schemas.openxmlformats.org/drawingml/2006/main">
            <a:srgbClr val="0F4C81"/>
          </a:solidFill>
          <a:ln xmlns:a="http://schemas.openxmlformats.org/drawingml/2006/main" w="9525">
            <a:solidFill>
              <a:srgbClr val="0F4C81"/>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ctr">
              <a:buNone/>
              <a:defRPr sz="1800" b="1">
                <a:solidFill>
                  <a:srgbClr val="FFFFFF"/>
                </a:solidFill>
                <a:latin typeface="Times New Roman"/>
                <a:ea typeface="Times New Roman"/>
                <a:cs typeface="Times New Roman"/>
              </a:defRPr>
            </a:pPr>
            <a:r>
              <a:rPr sz="1800" b="1">
                <a:solidFill>
                  <a:srgbClr val="FFFFFF"/>
                </a:solidFill>
                <a:latin typeface="Times New Roman"/>
                <a:ea typeface="Times New Roman"/>
                <a:cs typeface="Times New Roman"/>
              </a:rPr>
              <a:t>4</a:t>
            </a:r>
          </a:p>
        </p:txBody>
      </p:sp>
      <p:sp>
        <p:nvSpPr>
          <p:cNvPr id="13" name="employee-heading-4">
            <a:extLst xmlns:a="http://schemas.openxmlformats.org/drawingml/2006/main">
              <a:ext uri="{FF2B5EF4-FFF2-40B4-BE49-F238E27FC236}">
                <a16:creationId xmlns:a16="http://schemas.microsoft.com/office/drawing/2014/main" id="{1DB5986A-3859-4C2E-93E0-CB138DBA6A98}"/>
              </a:ext>
            </a:extLst>
          </p:cNvPr>
          <p:cNvSpPr>
            <a:spLocks xmlns:a="http://schemas.openxmlformats.org/drawingml/2006/main" noGrp="1"/>
          </p:cNvSpPr>
          <p:nvPr/>
        </p:nvSpPr>
        <p:spPr>
          <a:xfrm xmlns:a="http://schemas.openxmlformats.org/drawingml/2006/main">
            <a:off x="1409700" y="4438650"/>
            <a:ext cx="2476500" cy="666750"/>
          </a:xfrm>
          <a:prstGeom xmlns:a="http://schemas.openxmlformats.org/drawingml/2006/main" prst="roundRect">
            <a:avLst>
              <a:gd name="adj" fmla="val 11429"/>
            </a:avLst>
          </a:prstGeom>
          <a:solidFill xmlns:a="http://schemas.openxmlformats.org/drawingml/2006/main">
            <a:srgbClr val="F0F4F8"/>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425" b="1">
                <a:solidFill>
                  <a:srgbClr val="0F4C81"/>
                </a:solidFill>
                <a:latin typeface="Times New Roman"/>
                <a:ea typeface="Times New Roman"/>
                <a:cs typeface="Times New Roman"/>
              </a:defRPr>
            </a:pPr>
            <a:r>
              <a:rPr sz="1425" b="1">
                <a:solidFill>
                  <a:srgbClr val="0F4C81"/>
                </a:solidFill>
                <a:latin typeface="Times New Roman"/>
                <a:ea typeface="Times New Roman"/>
                <a:cs typeface="Times New Roman"/>
              </a:rPr>
              <a:t>Chuyển giao khi cần</a:t>
            </a:r>
          </a:p>
        </p:txBody>
      </p:sp>
      <p:sp>
        <p:nvSpPr>
          <p:cNvPr id="14" name="employee-body-4">
            <a:extLst xmlns:a="http://schemas.openxmlformats.org/drawingml/2006/main">
              <a:ext uri="{FF2B5EF4-FFF2-40B4-BE49-F238E27FC236}">
                <a16:creationId xmlns:a16="http://schemas.microsoft.com/office/drawing/2014/main" id="{A63897F3-05CA-4EDE-A4D5-2395BE4EB657}"/>
              </a:ext>
            </a:extLst>
          </p:cNvPr>
          <p:cNvSpPr>
            <a:spLocks xmlns:a="http://schemas.openxmlformats.org/drawingml/2006/main" noGrp="1"/>
          </p:cNvSpPr>
          <p:nvPr/>
        </p:nvSpPr>
        <p:spPr>
          <a:xfrm xmlns:a="http://schemas.openxmlformats.org/drawingml/2006/main">
            <a:off x="4000500" y="4438650"/>
            <a:ext cx="7429500" cy="666750"/>
          </a:xfrm>
          <a:prstGeom xmlns:a="http://schemas.openxmlformats.org/drawingml/2006/main" prst="roundRect">
            <a:avLst>
              <a:gd name="adj" fmla="val 11429"/>
            </a:avLst>
          </a:prstGeom>
          <a:solidFill xmlns:a="http://schemas.openxmlformats.org/drawingml/2006/main">
            <a:srgbClr val="F0F4F8"/>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275" b="0">
                <a:solidFill>
                  <a:srgbClr val="505050"/>
                </a:solidFill>
                <a:latin typeface="Times New Roman"/>
                <a:ea typeface="Times New Roman"/>
                <a:cs typeface="Times New Roman"/>
              </a:defRPr>
            </a:pPr>
            <a:r>
              <a:rPr sz="1275" b="0">
                <a:solidFill>
                  <a:srgbClr val="505050"/>
                </a:solidFill>
                <a:latin typeface="Times New Roman"/>
                <a:ea typeface="Times New Roman"/>
                <a:cs typeface="Times New Roman"/>
              </a:rPr>
              <a:t>Manager hoặc người có quyền chuyển hồ sơ; hệ thống giữ lịch sử người phụ trách và lý do.</a:t>
            </a:r>
          </a:p>
        </p:txBody>
      </p:sp>
      <p:sp>
        <p:nvSpPr>
          <p:cNvPr id="15" name="employee-step-5">
            <a:extLst xmlns:a="http://schemas.openxmlformats.org/drawingml/2006/main">
              <a:ext uri="{FF2B5EF4-FFF2-40B4-BE49-F238E27FC236}">
                <a16:creationId xmlns:a16="http://schemas.microsoft.com/office/drawing/2014/main" id="{8D45BB9A-6D79-4ABC-88F4-F8F403A2DAD2}"/>
              </a:ext>
            </a:extLst>
          </p:cNvPr>
          <p:cNvSpPr>
            <a:spLocks xmlns:a="http://schemas.openxmlformats.org/drawingml/2006/main" noGrp="1"/>
          </p:cNvSpPr>
          <p:nvPr/>
        </p:nvSpPr>
        <p:spPr>
          <a:xfrm xmlns:a="http://schemas.openxmlformats.org/drawingml/2006/main">
            <a:off x="731520" y="5353050"/>
            <a:ext cx="514350" cy="666750"/>
          </a:xfrm>
          <a:prstGeom xmlns:a="http://schemas.openxmlformats.org/drawingml/2006/main" prst="roundRect">
            <a:avLst>
              <a:gd name="adj" fmla="val 18519"/>
            </a:avLst>
          </a:prstGeom>
          <a:solidFill xmlns:a="http://schemas.openxmlformats.org/drawingml/2006/main">
            <a:srgbClr val="0F4C81"/>
          </a:solidFill>
          <a:ln xmlns:a="http://schemas.openxmlformats.org/drawingml/2006/main" w="9525">
            <a:solidFill>
              <a:srgbClr val="0F4C81"/>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ctr">
              <a:buNone/>
              <a:defRPr sz="1800" b="1">
                <a:solidFill>
                  <a:srgbClr val="FFFFFF"/>
                </a:solidFill>
                <a:latin typeface="Times New Roman"/>
                <a:ea typeface="Times New Roman"/>
                <a:cs typeface="Times New Roman"/>
              </a:defRPr>
            </a:pPr>
            <a:r>
              <a:rPr sz="1800" b="1">
                <a:solidFill>
                  <a:srgbClr val="FFFFFF"/>
                </a:solidFill>
                <a:latin typeface="Times New Roman"/>
                <a:ea typeface="Times New Roman"/>
                <a:cs typeface="Times New Roman"/>
              </a:rPr>
              <a:t>5</a:t>
            </a:r>
          </a:p>
        </p:txBody>
      </p:sp>
      <p:sp>
        <p:nvSpPr>
          <p:cNvPr id="16" name="employee-heading-5">
            <a:extLst xmlns:a="http://schemas.openxmlformats.org/drawingml/2006/main">
              <a:ext uri="{FF2B5EF4-FFF2-40B4-BE49-F238E27FC236}">
                <a16:creationId xmlns:a16="http://schemas.microsoft.com/office/drawing/2014/main" id="{FB7FDDFA-D005-495B-A865-805E5E2C3986}"/>
              </a:ext>
            </a:extLst>
          </p:cNvPr>
          <p:cNvSpPr>
            <a:spLocks xmlns:a="http://schemas.openxmlformats.org/drawingml/2006/main" noGrp="1"/>
          </p:cNvSpPr>
          <p:nvPr/>
        </p:nvSpPr>
        <p:spPr>
          <a:xfrm xmlns:a="http://schemas.openxmlformats.org/drawingml/2006/main">
            <a:off x="1409700" y="5353050"/>
            <a:ext cx="2476500" cy="66675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425" b="1">
                <a:solidFill>
                  <a:srgbClr val="0F4C81"/>
                </a:solidFill>
                <a:latin typeface="Times New Roman"/>
                <a:ea typeface="Times New Roman"/>
                <a:cs typeface="Times New Roman"/>
              </a:defRPr>
            </a:pPr>
            <a:r>
              <a:rPr sz="1425" b="1">
                <a:solidFill>
                  <a:srgbClr val="0F4C81"/>
                </a:solidFill>
                <a:latin typeface="Times New Roman"/>
                <a:ea typeface="Times New Roman"/>
                <a:cs typeface="Times New Roman"/>
              </a:rPr>
              <a:t>Kết thúc có căn cứ</a:t>
            </a:r>
          </a:p>
        </p:txBody>
      </p:sp>
      <p:sp>
        <p:nvSpPr>
          <p:cNvPr id="17" name="employee-body-5">
            <a:extLst xmlns:a="http://schemas.openxmlformats.org/drawingml/2006/main">
              <a:ext uri="{FF2B5EF4-FFF2-40B4-BE49-F238E27FC236}">
                <a16:creationId xmlns:a16="http://schemas.microsoft.com/office/drawing/2014/main" id="{623FE090-7432-473B-8EB6-160674770B36}"/>
              </a:ext>
            </a:extLst>
          </p:cNvPr>
          <p:cNvSpPr>
            <a:spLocks xmlns:a="http://schemas.openxmlformats.org/drawingml/2006/main" noGrp="1"/>
          </p:cNvSpPr>
          <p:nvPr/>
        </p:nvSpPr>
        <p:spPr>
          <a:xfrm xmlns:a="http://schemas.openxmlformats.org/drawingml/2006/main">
            <a:off x="4000500" y="5353050"/>
            <a:ext cx="7429500" cy="66675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9525">
            <a:solidFill>
              <a:srgbClr val="D5DEE7"/>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buNone/>
              <a:defRPr sz="1275" b="0">
                <a:solidFill>
                  <a:srgbClr val="505050"/>
                </a:solidFill>
                <a:latin typeface="Times New Roman"/>
                <a:ea typeface="Times New Roman"/>
                <a:cs typeface="Times New Roman"/>
              </a:defRPr>
            </a:pPr>
            <a:r>
              <a:rPr sz="1275" b="0">
                <a:solidFill>
                  <a:srgbClr val="505050"/>
                </a:solidFill>
                <a:latin typeface="Times New Roman"/>
                <a:ea typeface="Times New Roman"/>
                <a:cs typeface="Times New Roman"/>
              </a:rPr>
              <a:t>Hồ sơ kết thúc bằng kết quả tuyển dụng, không đủ điều kiện, không liên lạc được hoặc khách rút.</a:t>
            </a:r>
          </a:p>
        </p:txBody>
      </p:sp>
    </p:spTree>
    <p:extLst>
      <p:ext uri="{BB962C8B-B14F-4D97-AF65-F5344CB8AC3E}">
        <p14:creationId xmlns:p14="http://schemas.microsoft.com/office/powerpoint/2010/main" val="14458099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55F45A35-E5E4-4356-AD1C-C5956403D9D8}"/>
              </a:ext>
            </a:extLst>
          </p:cNvPr>
          <p:cNvSpPr>
            <a:spLocks xmlns:a="http://schemas.openxmlformats.org/drawingml/2006/main" noGrp="1"/>
          </p:cNvSpPr>
          <p:nvPr/>
        </p:nvSpPr>
        <p:spPr>
          <a:xfrm xmlns:a="http://schemas.openxmlformats.org/drawingml/2006/main">
            <a:off x="731520" y="348615"/>
            <a:ext cx="10698480" cy="69723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400" b="1">
                <a:solidFill>
                  <a:srgbClr val="0F4C81"/>
                </a:solidFill>
                <a:latin typeface="Times New Roman"/>
                <a:ea typeface="Times New Roman"/>
                <a:cs typeface="Times New Roman"/>
              </a:defRPr>
            </a:pPr>
            <a:r>
              <a:rPr sz="2400" b="1">
                <a:solidFill>
                  <a:srgbClr val="0F4C81"/>
                </a:solidFill>
                <a:latin typeface="Times New Roman"/>
                <a:ea typeface="Times New Roman"/>
                <a:cs typeface="Times New Roman"/>
              </a:rPr>
              <a:t>Trạng thái hồ sơ và quản lý hiệu suất nhân viên</a:t>
            </a:r>
          </a:p>
        </p:txBody>
      </p:sp>
      <p:sp>
        <p:nvSpPr>
          <p:cNvPr id="2" name="label-TRẠNG THÁI ĐƠN TUYỂN DỤNG">
            <a:extLst xmlns:a="http://schemas.openxmlformats.org/drawingml/2006/main">
              <a:ext uri="{FF2B5EF4-FFF2-40B4-BE49-F238E27FC236}">
                <a16:creationId xmlns:a16="http://schemas.microsoft.com/office/drawing/2014/main" id="{908BF162-A190-4F6D-B8BF-1C295D7F5EC7}"/>
              </a:ext>
            </a:extLst>
          </p:cNvPr>
          <p:cNvSpPr>
            <a:spLocks xmlns:a="http://schemas.openxmlformats.org/drawingml/2006/main" noGrp="1"/>
          </p:cNvSpPr>
          <p:nvPr/>
        </p:nvSpPr>
        <p:spPr>
          <a:xfrm xmlns:a="http://schemas.openxmlformats.org/drawingml/2006/main">
            <a:off x="731520" y="1190625"/>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0F4C81"/>
                </a:solidFill>
                <a:latin typeface="Times New Roman"/>
                <a:ea typeface="Times New Roman"/>
                <a:cs typeface="Times New Roman"/>
              </a:defRPr>
            </a:pPr>
            <a:r>
              <a:rPr sz="1350" b="1">
                <a:solidFill>
                  <a:srgbClr val="0F4C81"/>
                </a:solidFill>
                <a:latin typeface="Times New Roman"/>
                <a:ea typeface="Times New Roman"/>
                <a:cs typeface="Times New Roman"/>
              </a:rPr>
              <a:t>TRẠNG THÁI ĐƠN TUYỂN DỤNG</a:t>
            </a:r>
          </a:p>
        </p:txBody>
      </p:sp>
      <p:sp>
        <p:nvSpPr>
          <p:cNvPr id="3" name="job-order-status">
            <a:extLst xmlns:a="http://schemas.openxmlformats.org/drawingml/2006/main">
              <a:ext uri="{FF2B5EF4-FFF2-40B4-BE49-F238E27FC236}">
                <a16:creationId xmlns:a16="http://schemas.microsoft.com/office/drawing/2014/main" id="{DA86B46B-EB40-4373-82DF-BD9A06CA4806}"/>
              </a:ext>
            </a:extLst>
          </p:cNvPr>
          <p:cNvSpPr>
            <a:spLocks xmlns:a="http://schemas.openxmlformats.org/drawingml/2006/main" noGrp="1"/>
          </p:cNvSpPr>
          <p:nvPr/>
        </p:nvSpPr>
        <p:spPr>
          <a:xfrm xmlns:a="http://schemas.openxmlformats.org/drawingml/2006/main">
            <a:off x="731520" y="1619250"/>
            <a:ext cx="4953000" cy="2428875"/>
          </a:xfrm>
          <a:prstGeom xmlns:a="http://schemas.openxmlformats.org/drawingml/2006/main" prst="roundRect">
            <a:avLst>
              <a:gd name="adj" fmla="val 3922"/>
            </a:avLst>
          </a:prstGeom>
          <a:solidFill xmlns:a="http://schemas.openxmlformats.org/drawingml/2006/main">
            <a:srgbClr val="F0F4F8"/>
          </a:solidFill>
          <a:ln xmlns:a="http://schemas.openxmlformats.org/drawingml/2006/main" w="14288">
            <a:solidFill>
              <a:srgbClr val="0F4C81"/>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ctr">
              <a:buNone/>
              <a:defRPr sz="1500" b="1">
                <a:solidFill>
                  <a:srgbClr val="0F4C81"/>
                </a:solidFill>
                <a:latin typeface="Times New Roman"/>
                <a:ea typeface="Times New Roman"/>
                <a:cs typeface="Times New Roman"/>
              </a:defRPr>
            </a:pPr>
            <a:r>
              <a:rPr sz="1500" b="1">
                <a:solidFill>
                  <a:srgbClr val="0F4C81"/>
                </a:solidFill>
                <a:latin typeface="Times New Roman"/>
                <a:ea typeface="Times New Roman"/>
                <a:cs typeface="Times New Roman"/>
              </a:rPr>
              <a:t>Nháp</a:t>
            </a:r>
          </a:p>
          <a:p xmlns:a="http://schemas.openxmlformats.org/drawingml/2006/main">
            <a:pPr algn="ctr">
              <a:buNone/>
              <a:defRPr sz="1500" b="1">
                <a:solidFill>
                  <a:srgbClr val="0F4C81"/>
                </a:solidFill>
                <a:latin typeface="Times New Roman"/>
                <a:ea typeface="Times New Roman"/>
                <a:cs typeface="Times New Roman"/>
              </a:defRPr>
            </a:pPr>
            <a:r>
              <a:rPr sz="1500" b="1">
                <a:solidFill>
                  <a:srgbClr val="0F4C81"/>
                </a:solidFill>
                <a:latin typeface="Times New Roman"/>
                <a:ea typeface="Times New Roman"/>
                <a:cs typeface="Times New Roman"/>
              </a:rPr>
              <a:t>Đang tuyển</a:t>
            </a:r>
          </a:p>
          <a:p xmlns:a="http://schemas.openxmlformats.org/drawingml/2006/main">
            <a:pPr algn="ctr">
              <a:buNone/>
              <a:defRPr sz="1500" b="1">
                <a:solidFill>
                  <a:srgbClr val="0F4C81"/>
                </a:solidFill>
                <a:latin typeface="Times New Roman"/>
                <a:ea typeface="Times New Roman"/>
                <a:cs typeface="Times New Roman"/>
              </a:defRPr>
            </a:pPr>
            <a:r>
              <a:rPr sz="1500" b="1">
                <a:solidFill>
                  <a:srgbClr val="0F4C81"/>
                </a:solidFill>
                <a:latin typeface="Times New Roman"/>
                <a:ea typeface="Times New Roman"/>
                <a:cs typeface="Times New Roman"/>
              </a:rPr>
              <a:t>Tạm dừng</a:t>
            </a:r>
          </a:p>
          <a:p xmlns:a="http://schemas.openxmlformats.org/drawingml/2006/main">
            <a:pPr algn="ctr">
              <a:buNone/>
              <a:defRPr sz="1500" b="1">
                <a:solidFill>
                  <a:srgbClr val="0F4C81"/>
                </a:solidFill>
                <a:latin typeface="Times New Roman"/>
                <a:ea typeface="Times New Roman"/>
                <a:cs typeface="Times New Roman"/>
              </a:defRPr>
            </a:pPr>
            <a:r>
              <a:rPr sz="1500" b="1">
                <a:solidFill>
                  <a:srgbClr val="0F4C81"/>
                </a:solidFill>
                <a:latin typeface="Times New Roman"/>
                <a:ea typeface="Times New Roman"/>
                <a:cs typeface="Times New Roman"/>
              </a:rPr>
              <a:t>Đủ số lượng</a:t>
            </a:r>
          </a:p>
          <a:p xmlns:a="http://schemas.openxmlformats.org/drawingml/2006/main">
            <a:pPr algn="ctr">
              <a:buNone/>
              <a:defRPr sz="1500" b="1">
                <a:solidFill>
                  <a:srgbClr val="0F4C81"/>
                </a:solidFill>
                <a:latin typeface="Times New Roman"/>
                <a:ea typeface="Times New Roman"/>
                <a:cs typeface="Times New Roman"/>
              </a:defRPr>
            </a:pPr>
            <a:r>
              <a:rPr sz="1500" b="1">
                <a:solidFill>
                  <a:srgbClr val="0F4C81"/>
                </a:solidFill>
                <a:latin typeface="Times New Roman"/>
                <a:ea typeface="Times New Roman"/>
                <a:cs typeface="Times New Roman"/>
              </a:rPr>
              <a:t>Hết hạn</a:t>
            </a:r>
          </a:p>
          <a:p xmlns:a="http://schemas.openxmlformats.org/drawingml/2006/main">
            <a:pPr algn="ctr">
              <a:buNone/>
              <a:defRPr sz="1500" b="1">
                <a:solidFill>
                  <a:srgbClr val="0F4C81"/>
                </a:solidFill>
                <a:latin typeface="Times New Roman"/>
                <a:ea typeface="Times New Roman"/>
                <a:cs typeface="Times New Roman"/>
              </a:defRPr>
            </a:pPr>
            <a:r>
              <a:rPr sz="1500" b="1">
                <a:solidFill>
                  <a:srgbClr val="0F4C81"/>
                </a:solidFill>
                <a:latin typeface="Times New Roman"/>
                <a:ea typeface="Times New Roman"/>
                <a:cs typeface="Times New Roman"/>
              </a:rPr>
              <a:t>Đã đóng</a:t>
            </a:r>
          </a:p>
        </p:txBody>
      </p:sp>
      <p:sp>
        <p:nvSpPr>
          <p:cNvPr id="4" name="label-TRẠNG THÁI HỒ SƠ KHÁCH">
            <a:extLst xmlns:a="http://schemas.openxmlformats.org/drawingml/2006/main">
              <a:ext uri="{FF2B5EF4-FFF2-40B4-BE49-F238E27FC236}">
                <a16:creationId xmlns:a16="http://schemas.microsoft.com/office/drawing/2014/main" id="{1B8A4B48-BC70-4EC4-9F7C-0690CEEE48A9}"/>
              </a:ext>
            </a:extLst>
          </p:cNvPr>
          <p:cNvSpPr>
            <a:spLocks xmlns:a="http://schemas.openxmlformats.org/drawingml/2006/main" noGrp="1"/>
          </p:cNvSpPr>
          <p:nvPr/>
        </p:nvSpPr>
        <p:spPr>
          <a:xfrm xmlns:a="http://schemas.openxmlformats.org/drawingml/2006/main">
            <a:off x="5905500" y="1190625"/>
            <a:ext cx="552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C06A00"/>
                </a:solidFill>
                <a:latin typeface="Times New Roman"/>
                <a:ea typeface="Times New Roman"/>
                <a:cs typeface="Times New Roman"/>
              </a:defRPr>
            </a:pPr>
            <a:r>
              <a:rPr sz="1350" b="1">
                <a:solidFill>
                  <a:srgbClr val="C06A00"/>
                </a:solidFill>
                <a:latin typeface="Times New Roman"/>
                <a:ea typeface="Times New Roman"/>
                <a:cs typeface="Times New Roman"/>
              </a:rPr>
              <a:t>TRẠNG THÁI HỒ SƠ KHÁCH</a:t>
            </a:r>
          </a:p>
        </p:txBody>
      </p:sp>
      <p:sp>
        <p:nvSpPr>
          <p:cNvPr id="5" name="application-status">
            <a:extLst xmlns:a="http://schemas.openxmlformats.org/drawingml/2006/main">
              <a:ext uri="{FF2B5EF4-FFF2-40B4-BE49-F238E27FC236}">
                <a16:creationId xmlns:a16="http://schemas.microsoft.com/office/drawing/2014/main" id="{B5F262BC-C851-4A7E-B91D-5986483F651C}"/>
              </a:ext>
            </a:extLst>
          </p:cNvPr>
          <p:cNvSpPr>
            <a:spLocks xmlns:a="http://schemas.openxmlformats.org/drawingml/2006/main" noGrp="1"/>
          </p:cNvSpPr>
          <p:nvPr/>
        </p:nvSpPr>
        <p:spPr>
          <a:xfrm xmlns:a="http://schemas.openxmlformats.org/drawingml/2006/main">
            <a:off x="5905500" y="1619250"/>
            <a:ext cx="5524500" cy="2428875"/>
          </a:xfrm>
          <a:prstGeom xmlns:a="http://schemas.openxmlformats.org/drawingml/2006/main" prst="roundRect">
            <a:avLst>
              <a:gd name="adj" fmla="val 3922"/>
            </a:avLst>
          </a:prstGeom>
          <a:solidFill xmlns:a="http://schemas.openxmlformats.org/drawingml/2006/main">
            <a:srgbClr val="FDF3E3"/>
          </a:solidFill>
          <a:ln xmlns:a="http://schemas.openxmlformats.org/drawingml/2006/main" w="14288">
            <a:solidFill>
              <a:srgbClr val="C06A00"/>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ctr">
              <a:buNone/>
              <a:defRPr sz="1350" b="1">
                <a:solidFill>
                  <a:srgbClr val="C06A00"/>
                </a:solidFill>
                <a:latin typeface="Times New Roman"/>
                <a:ea typeface="Times New Roman"/>
                <a:cs typeface="Times New Roman"/>
              </a:defRPr>
            </a:pPr>
            <a:r>
              <a:rPr sz="1350" b="1">
                <a:solidFill>
                  <a:srgbClr val="C06A00"/>
                </a:solidFill>
                <a:latin typeface="Times New Roman"/>
                <a:ea typeface="Times New Roman"/>
                <a:cs typeface="Times New Roman"/>
              </a:rPr>
              <a:t>Chờ tiếp nhận</a:t>
            </a:r>
          </a:p>
          <a:p xmlns:a="http://schemas.openxmlformats.org/drawingml/2006/main">
            <a:pPr algn="ctr">
              <a:buNone/>
              <a:defRPr sz="1350" b="1">
                <a:solidFill>
                  <a:srgbClr val="C06A00"/>
                </a:solidFill>
                <a:latin typeface="Times New Roman"/>
                <a:ea typeface="Times New Roman"/>
                <a:cs typeface="Times New Roman"/>
              </a:defRPr>
            </a:pPr>
            <a:r>
              <a:rPr sz="1350" b="1">
                <a:solidFill>
                  <a:srgbClr val="C06A00"/>
                </a:solidFill>
                <a:latin typeface="Times New Roman"/>
                <a:ea typeface="Times New Roman"/>
                <a:cs typeface="Times New Roman"/>
              </a:rPr>
              <a:t>Đã tiếp nhận</a:t>
            </a:r>
          </a:p>
          <a:p xmlns:a="http://schemas.openxmlformats.org/drawingml/2006/main">
            <a:pPr algn="ctr">
              <a:buNone/>
              <a:defRPr sz="1350" b="1">
                <a:solidFill>
                  <a:srgbClr val="C06A00"/>
                </a:solidFill>
                <a:latin typeface="Times New Roman"/>
                <a:ea typeface="Times New Roman"/>
                <a:cs typeface="Times New Roman"/>
              </a:defRPr>
            </a:pPr>
            <a:r>
              <a:rPr sz="1350" b="1">
                <a:solidFill>
                  <a:srgbClr val="C06A00"/>
                </a:solidFill>
                <a:latin typeface="Times New Roman"/>
                <a:ea typeface="Times New Roman"/>
                <a:cs typeface="Times New Roman"/>
              </a:rPr>
              <a:t>Đã liên hệ</a:t>
            </a:r>
          </a:p>
          <a:p xmlns:a="http://schemas.openxmlformats.org/drawingml/2006/main">
            <a:pPr algn="ctr">
              <a:buNone/>
              <a:defRPr sz="1350" b="1">
                <a:solidFill>
                  <a:srgbClr val="C06A00"/>
                </a:solidFill>
                <a:latin typeface="Times New Roman"/>
                <a:ea typeface="Times New Roman"/>
                <a:cs typeface="Times New Roman"/>
              </a:defRPr>
            </a:pPr>
            <a:r>
              <a:rPr sz="1350" b="1">
                <a:solidFill>
                  <a:srgbClr val="C06A00"/>
                </a:solidFill>
                <a:latin typeface="Times New Roman"/>
                <a:ea typeface="Times New Roman"/>
                <a:cs typeface="Times New Roman"/>
              </a:rPr>
              <a:t>Đang bổ sung hồ sơ</a:t>
            </a:r>
          </a:p>
          <a:p xmlns:a="http://schemas.openxmlformats.org/drawingml/2006/main">
            <a:pPr algn="ctr">
              <a:buNone/>
              <a:defRPr sz="1350" b="1">
                <a:solidFill>
                  <a:srgbClr val="C06A00"/>
                </a:solidFill>
                <a:latin typeface="Times New Roman"/>
                <a:ea typeface="Times New Roman"/>
                <a:cs typeface="Times New Roman"/>
              </a:defRPr>
            </a:pPr>
            <a:r>
              <a:rPr sz="1350" b="1">
                <a:solidFill>
                  <a:srgbClr val="C06A00"/>
                </a:solidFill>
                <a:latin typeface="Times New Roman"/>
                <a:ea typeface="Times New Roman"/>
                <a:cs typeface="Times New Roman"/>
              </a:rPr>
              <a:t>Đủ điều kiện sơ bộ</a:t>
            </a:r>
          </a:p>
          <a:p xmlns:a="http://schemas.openxmlformats.org/drawingml/2006/main">
            <a:pPr algn="ctr">
              <a:buNone/>
              <a:defRPr sz="1350" b="1">
                <a:solidFill>
                  <a:srgbClr val="C06A00"/>
                </a:solidFill>
                <a:latin typeface="Times New Roman"/>
                <a:ea typeface="Times New Roman"/>
                <a:cs typeface="Times New Roman"/>
              </a:defRPr>
            </a:pPr>
            <a:r>
              <a:rPr sz="1350" b="1">
                <a:solidFill>
                  <a:srgbClr val="C06A00"/>
                </a:solidFill>
                <a:latin typeface="Times New Roman"/>
                <a:ea typeface="Times New Roman"/>
                <a:cs typeface="Times New Roman"/>
              </a:rPr>
              <a:t>Đã nộp đơn</a:t>
            </a:r>
          </a:p>
          <a:p xmlns:a="http://schemas.openxmlformats.org/drawingml/2006/main">
            <a:pPr algn="ctr">
              <a:buNone/>
              <a:defRPr sz="1350" b="1">
                <a:solidFill>
                  <a:srgbClr val="C06A00"/>
                </a:solidFill>
                <a:latin typeface="Times New Roman"/>
                <a:ea typeface="Times New Roman"/>
                <a:cs typeface="Times New Roman"/>
              </a:defRPr>
            </a:pPr>
            <a:r>
              <a:rPr sz="1350" b="1">
                <a:solidFill>
                  <a:srgbClr val="C06A00"/>
                </a:solidFill>
                <a:latin typeface="Times New Roman"/>
                <a:ea typeface="Times New Roman"/>
                <a:cs typeface="Times New Roman"/>
              </a:rPr>
              <a:t>Đang phỏng vấn</a:t>
            </a:r>
          </a:p>
          <a:p xmlns:a="http://schemas.openxmlformats.org/drawingml/2006/main">
            <a:pPr algn="ctr">
              <a:buNone/>
              <a:defRPr sz="1350" b="1">
                <a:solidFill>
                  <a:srgbClr val="C06A00"/>
                </a:solidFill>
                <a:latin typeface="Times New Roman"/>
                <a:ea typeface="Times New Roman"/>
                <a:cs typeface="Times New Roman"/>
              </a:defRPr>
            </a:pPr>
            <a:r>
              <a:rPr sz="1350" b="1">
                <a:solidFill>
                  <a:srgbClr val="C06A00"/>
                </a:solidFill>
                <a:latin typeface="Times New Roman"/>
                <a:ea typeface="Times New Roman"/>
                <a:cs typeface="Times New Roman"/>
              </a:rPr>
              <a:t>Trúng tuyển hoặc kết thúc với lý do</a:t>
            </a:r>
          </a:p>
        </p:txBody>
      </p:sp>
      <p:sp>
        <p:nvSpPr>
          <p:cNvPr id="6" name="label-ĐIỂM NHÂN VIÊN ĐƯỢC GHI THEO SỰ KIỆN">
            <a:extLst xmlns:a="http://schemas.openxmlformats.org/drawingml/2006/main">
              <a:ext uri="{FF2B5EF4-FFF2-40B4-BE49-F238E27FC236}">
                <a16:creationId xmlns:a16="http://schemas.microsoft.com/office/drawing/2014/main" id="{B1AB1664-61CF-415D-A3C8-0DBFD8D9FC5D}"/>
              </a:ext>
            </a:extLst>
          </p:cNvPr>
          <p:cNvSpPr>
            <a:spLocks xmlns:a="http://schemas.openxmlformats.org/drawingml/2006/main" noGrp="1"/>
          </p:cNvSpPr>
          <p:nvPr/>
        </p:nvSpPr>
        <p:spPr>
          <a:xfrm xmlns:a="http://schemas.openxmlformats.org/drawingml/2006/main">
            <a:off x="731520" y="4333875"/>
            <a:ext cx="1069848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E7A3C"/>
                </a:solidFill>
                <a:latin typeface="Times New Roman"/>
                <a:ea typeface="Times New Roman"/>
                <a:cs typeface="Times New Roman"/>
              </a:defRPr>
            </a:pPr>
            <a:r>
              <a:rPr sz="1350" b="1">
                <a:solidFill>
                  <a:srgbClr val="1E7A3C"/>
                </a:solidFill>
                <a:latin typeface="Times New Roman"/>
                <a:ea typeface="Times New Roman"/>
                <a:cs typeface="Times New Roman"/>
              </a:rPr>
              <a:t>ĐIỂM NHÂN VIÊN ĐƯỢC GHI THEO SỰ KIỆN</a:t>
            </a:r>
          </a:p>
        </p:txBody>
      </p:sp>
      <p:sp>
        <p:nvSpPr>
          <p:cNvPr id="7" name="score-events">
            <a:extLst xmlns:a="http://schemas.openxmlformats.org/drawingml/2006/main">
              <a:ext uri="{FF2B5EF4-FFF2-40B4-BE49-F238E27FC236}">
                <a16:creationId xmlns:a16="http://schemas.microsoft.com/office/drawing/2014/main" id="{062297A8-F03F-4328-91C8-AFA342F301EC}"/>
              </a:ext>
            </a:extLst>
          </p:cNvPr>
          <p:cNvSpPr>
            <a:spLocks xmlns:a="http://schemas.openxmlformats.org/drawingml/2006/main" noGrp="1"/>
          </p:cNvSpPr>
          <p:nvPr/>
        </p:nvSpPr>
        <p:spPr>
          <a:xfrm xmlns:a="http://schemas.openxmlformats.org/drawingml/2006/main">
            <a:off x="731520" y="4762500"/>
            <a:ext cx="10698480" cy="904875"/>
          </a:xfrm>
          <a:prstGeom xmlns:a="http://schemas.openxmlformats.org/drawingml/2006/main" prst="roundRect">
            <a:avLst>
              <a:gd name="adj" fmla="val 10526"/>
            </a:avLst>
          </a:prstGeom>
          <a:solidFill xmlns:a="http://schemas.openxmlformats.org/drawingml/2006/main">
            <a:srgbClr val="ECF7F0"/>
          </a:solidFill>
          <a:ln xmlns:a="http://schemas.openxmlformats.org/drawingml/2006/main" w="14288">
            <a:solidFill>
              <a:srgbClr val="1E7A3C"/>
            </a:solid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ctr">
              <a:buNone/>
              <a:defRPr sz="1425" b="0">
                <a:solidFill>
                  <a:srgbClr val="1E7A3C"/>
                </a:solidFill>
                <a:latin typeface="Times New Roman"/>
                <a:ea typeface="Times New Roman"/>
                <a:cs typeface="Times New Roman"/>
              </a:defRPr>
            </a:pPr>
            <a:r>
              <a:rPr sz="1425" b="0">
                <a:solidFill>
                  <a:srgbClr val="1E7A3C"/>
                </a:solidFill>
                <a:latin typeface="Times New Roman"/>
                <a:ea typeface="Times New Roman"/>
                <a:cs typeface="Times New Roman"/>
              </a:rPr>
              <a:t>Nhận hồ sơ và phản hồi đúng hạn, liên hệ thành công, hoàn thiện hồ sơ</a:t>
            </a:r>
          </a:p>
          <a:p xmlns:a="http://schemas.openxmlformats.org/drawingml/2006/main">
            <a:pPr algn="ctr">
              <a:buNone/>
              <a:defRPr sz="1425" b="0">
                <a:solidFill>
                  <a:srgbClr val="1E7A3C"/>
                </a:solidFill>
                <a:latin typeface="Times New Roman"/>
                <a:ea typeface="Times New Roman"/>
                <a:cs typeface="Times New Roman"/>
              </a:defRPr>
            </a:pPr>
            <a:r>
              <a:rPr sz="1425" b="0">
                <a:solidFill>
                  <a:srgbClr val="1E7A3C"/>
                </a:solidFill>
                <a:latin typeface="Times New Roman"/>
                <a:ea typeface="Times New Roman"/>
                <a:cs typeface="Times New Roman"/>
              </a:rPr>
              <a:t>Khách nộp đơn hoặc trúng tuyển, hồ sơ quá hạn, Manager điều chỉnh có lý do</a:t>
            </a:r>
          </a:p>
        </p:txBody>
      </p:sp>
      <p:sp>
        <p:nvSpPr>
          <p:cNvPr id="8" name="score-note">
            <a:extLst xmlns:a="http://schemas.openxmlformats.org/drawingml/2006/main">
              <a:ext uri="{FF2B5EF4-FFF2-40B4-BE49-F238E27FC236}">
                <a16:creationId xmlns:a16="http://schemas.microsoft.com/office/drawing/2014/main" id="{DAE50EAD-0269-468F-A497-B3BF2F5887F2}"/>
              </a:ext>
            </a:extLst>
          </p:cNvPr>
          <p:cNvSpPr>
            <a:spLocks xmlns:a="http://schemas.openxmlformats.org/drawingml/2006/main" noGrp="1"/>
          </p:cNvSpPr>
          <p:nvPr/>
        </p:nvSpPr>
        <p:spPr>
          <a:xfrm xmlns:a="http://schemas.openxmlformats.org/drawingml/2006/main">
            <a:off x="731520" y="5810250"/>
            <a:ext cx="1069848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0">
                <a:solidFill>
                  <a:srgbClr val="505050"/>
                </a:solidFill>
                <a:latin typeface="Times New Roman"/>
                <a:ea typeface="Times New Roman"/>
                <a:cs typeface="Times New Roman"/>
              </a:defRPr>
            </a:pPr>
            <a:r>
              <a:rPr sz="1275" b="0">
                <a:solidFill>
                  <a:srgbClr val="505050"/>
                </a:solidFill>
                <a:latin typeface="Times New Roman"/>
                <a:ea typeface="Times New Roman"/>
                <a:cs typeface="Times New Roman"/>
              </a:rPr>
              <a:t>Điểm phục vụ theo dõi hiệu suất nội bộ. Mỗi lần cộng hoặc trừ đều tạo một bản ghi; hệ thống không chỉ lưu một con số tổng.</a:t>
            </a:r>
          </a:p>
        </p:txBody>
      </p:sp>
    </p:spTree>
    <p:extLst>
      <p:ext uri="{BB962C8B-B14F-4D97-AF65-F5344CB8AC3E}">
        <p14:creationId xmlns:p14="http://schemas.microsoft.com/office/powerpoint/2010/main" val="171733471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2054AEC5-1771-4568-9626-1BC230AB9926}"/>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Kiến trúc tổng quan — bốn khối trên ba mặt phẳng</a:t>
            </a:r>
          </a:p>
        </p:txBody>
      </p:sp>
      <p:sp>
        <p:nvSpPr>
          <p:cNvPr id="3" name="TextBox 2">
            <a:extLst xmlns:a="http://schemas.openxmlformats.org/drawingml/2006/main">
              <a:ext uri="{FF2B5EF4-FFF2-40B4-BE49-F238E27FC236}">
                <a16:creationId xmlns:a16="http://schemas.microsoft.com/office/drawing/2014/main" id="{3A24A4CE-2D81-48BF-A032-1905E68CDFDF}"/>
              </a:ext>
            </a:extLst>
          </p:cNvPr>
          <p:cNvSpPr>
            <a:spLocks xmlns:a="http://schemas.openxmlformats.org/drawingml/2006/main" noGrp="1"/>
          </p:cNvSpPr>
          <p:nvPr/>
        </p:nvSpPr>
        <p:spPr>
          <a:xfrm xmlns:a="http://schemas.openxmlformats.org/drawingml/2006/main">
            <a:off x="731520" y="1120000"/>
            <a:ext cx="1069848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300" b="0" i="1">
                <a:solidFill>
                  <a:srgbClr val="0F4C81"/>
                </a:solidFill>
                <a:latin typeface="Times New Roman"/>
                <a:ea typeface="Times New Roman"/>
                <a:cs typeface="Times New Roman"/>
              </a:rPr>
              <a:t>Ba mặt phẳng phân theo mức tin cậy. Bốn khối phân theo nhiệm vụ.</a:t>
            </a:r>
          </a:p>
        </p:txBody>
      </p:sp>
      <p:sp>
        <p:nvSpPr>
          <p:cNvPr id="4" name="Rounded Rectangle 3">
            <a:extLst xmlns:a="http://schemas.openxmlformats.org/drawingml/2006/main">
              <a:ext uri="{FF2B5EF4-FFF2-40B4-BE49-F238E27FC236}">
                <a16:creationId xmlns:a16="http://schemas.microsoft.com/office/drawing/2014/main" id="{17CDFCB7-B67D-4407-8B5D-414DE9D7D78A}"/>
              </a:ext>
            </a:extLst>
          </p:cNvPr>
          <p:cNvSpPr>
            <a:spLocks xmlns:a="http://schemas.openxmlformats.org/drawingml/2006/main" noGrp="1"/>
          </p:cNvSpPr>
          <p:nvPr/>
        </p:nvSpPr>
        <p:spPr>
          <a:xfrm xmlns:a="http://schemas.openxmlformats.org/drawingml/2006/main">
            <a:off x="731520" y="1620000"/>
            <a:ext cx="2600000" cy="112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200" b="1">
                <a:solidFill>
                  <a:srgbClr val="FFFFFF"/>
                </a:solidFill>
                <a:latin typeface="Times New Roman"/>
                <a:ea typeface="Times New Roman"/>
                <a:cs typeface="Times New Roman"/>
              </a:rPr>
              <a:t>MẶT PHẲNG ỨNG VIÊN</a:t>
            </a:r>
          </a:p>
        </p:txBody>
      </p:sp>
      <p:sp>
        <p:nvSpPr>
          <p:cNvPr id="5" name="TextBox 4">
            <a:extLst xmlns:a="http://schemas.openxmlformats.org/drawingml/2006/main">
              <a:ext uri="{FF2B5EF4-FFF2-40B4-BE49-F238E27FC236}">
                <a16:creationId xmlns:a16="http://schemas.microsoft.com/office/drawing/2014/main" id="{B3C14621-D975-4818-9DEA-4CFF76959BC0}"/>
              </a:ext>
            </a:extLst>
          </p:cNvPr>
          <p:cNvSpPr>
            <a:spLocks xmlns:a="http://schemas.openxmlformats.org/drawingml/2006/main" noGrp="1"/>
          </p:cNvSpPr>
          <p:nvPr/>
        </p:nvSpPr>
        <p:spPr>
          <a:xfrm xmlns:a="http://schemas.openxmlformats.org/drawingml/2006/main">
            <a:off x="731520" y="2320000"/>
            <a:ext cx="260000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000" b="0" i="1">
                <a:solidFill>
                  <a:srgbClr val="FFFFFF"/>
                </a:solidFill>
                <a:latin typeface="Times New Roman"/>
                <a:ea typeface="Times New Roman"/>
                <a:cs typeface="Times New Roman"/>
              </a:rPr>
              <a:t>công khai, không cần tài khoản</a:t>
            </a:r>
          </a:p>
        </p:txBody>
      </p:sp>
      <p:sp>
        <p:nvSpPr>
          <p:cNvPr id="6" name="Rounded Rectangle 5">
            <a:extLst xmlns:a="http://schemas.openxmlformats.org/drawingml/2006/main">
              <a:ext uri="{FF2B5EF4-FFF2-40B4-BE49-F238E27FC236}">
                <a16:creationId xmlns:a16="http://schemas.microsoft.com/office/drawing/2014/main" id="{B86A2334-ED12-446D-9E62-BAA37FD9A03D}"/>
              </a:ext>
            </a:extLst>
          </p:cNvPr>
          <p:cNvSpPr>
            <a:spLocks xmlns:a="http://schemas.openxmlformats.org/drawingml/2006/main" noGrp="1"/>
          </p:cNvSpPr>
          <p:nvPr/>
        </p:nvSpPr>
        <p:spPr>
          <a:xfrm xmlns:a="http://schemas.openxmlformats.org/drawingml/2006/main">
            <a:off x="3511520" y="1620000"/>
            <a:ext cx="7918480" cy="112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B66A21D-3BD8-48F7-B2C3-5EE3ED9C42F0}"/>
              </a:ext>
            </a:extLst>
          </p:cNvPr>
          <p:cNvSpPr>
            <a:spLocks xmlns:a="http://schemas.openxmlformats.org/drawingml/2006/main" noGrp="1"/>
          </p:cNvSpPr>
          <p:nvPr/>
        </p:nvSpPr>
        <p:spPr>
          <a:xfrm xmlns:a="http://schemas.openxmlformats.org/drawingml/2006/main">
            <a:off x="3511520" y="1710000"/>
            <a:ext cx="7918480" cy="11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KHỐI 1 — Kênh tiếp nhận</a:t>
            </a:r>
          </a:p>
          <a:p xmlns:a="http://schemas.openxmlformats.org/drawingml/2006/main">
            <a:pPr algn="l">
              <a:spcBef>
                <a:spcPts val="400"/>
              </a:spcBef>
              <a:buNone/>
            </a:pPr>
            <a:r>
              <a:rPr sz="1100" b="0" i="0">
                <a:solidFill>
                  <a:srgbClr val="505050"/>
                </a:solidFill>
                <a:latin typeface="Times New Roman"/>
                <a:ea typeface="Times New Roman"/>
                <a:cs typeface="Times New Roman"/>
              </a:rPr>
              <a:t>Kênh công khai kết nối chatbot. Cấu trúc website, vị trí chatbot và UI/UX chưa được thống nhất.</a:t>
            </a:r>
          </a:p>
        </p:txBody>
      </p:sp>
      <p:sp>
        <p:nvSpPr>
          <p:cNvPr id="8" name="Rounded Rectangle 7">
            <a:extLst xmlns:a="http://schemas.openxmlformats.org/drawingml/2006/main">
              <a:ext uri="{FF2B5EF4-FFF2-40B4-BE49-F238E27FC236}">
                <a16:creationId xmlns:a16="http://schemas.microsoft.com/office/drawing/2014/main" id="{633202D4-BC90-4D67-A156-5CD73C884248}"/>
              </a:ext>
            </a:extLst>
          </p:cNvPr>
          <p:cNvSpPr>
            <a:spLocks xmlns:a="http://schemas.openxmlformats.org/drawingml/2006/main" noGrp="1"/>
          </p:cNvSpPr>
          <p:nvPr/>
        </p:nvSpPr>
        <p:spPr>
          <a:xfrm xmlns:a="http://schemas.openxmlformats.org/drawingml/2006/main">
            <a:off x="731520" y="2870000"/>
            <a:ext cx="2600000" cy="1680000"/>
          </a:xfrm>
          <a:prstGeom xmlns:a="http://schemas.openxmlformats.org/drawingml/2006/main" prst="roundRect">
            <a:avLst/>
          </a:prstGeom>
          <a:solidFill xmlns:a="http://schemas.openxmlformats.org/drawingml/2006/main">
            <a:srgbClr val="1E7A3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200" b="1">
                <a:solidFill>
                  <a:srgbClr val="FFFFFF"/>
                </a:solidFill>
                <a:latin typeface="Times New Roman"/>
                <a:ea typeface="Times New Roman"/>
                <a:cs typeface="Times New Roman"/>
              </a:rPr>
              <a:t>MẶT PHẲNG XỬ LÝ</a:t>
            </a:r>
          </a:p>
        </p:txBody>
      </p:sp>
      <p:sp>
        <p:nvSpPr>
          <p:cNvPr id="9" name="TextBox 8">
            <a:extLst xmlns:a="http://schemas.openxmlformats.org/drawingml/2006/main">
              <a:ext uri="{FF2B5EF4-FFF2-40B4-BE49-F238E27FC236}">
                <a16:creationId xmlns:a16="http://schemas.microsoft.com/office/drawing/2014/main" id="{25758652-2F7C-4BEF-9136-D7BEAA6DBE72}"/>
              </a:ext>
            </a:extLst>
          </p:cNvPr>
          <p:cNvSpPr>
            <a:spLocks xmlns:a="http://schemas.openxmlformats.org/drawingml/2006/main" noGrp="1"/>
          </p:cNvSpPr>
          <p:nvPr/>
        </p:nvSpPr>
        <p:spPr>
          <a:xfrm xmlns:a="http://schemas.openxmlformats.org/drawingml/2006/main">
            <a:off x="731520" y="4130000"/>
            <a:ext cx="260000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000" b="0" i="1">
                <a:solidFill>
                  <a:srgbClr val="FFFFFF"/>
                </a:solidFill>
                <a:latin typeface="Times New Roman"/>
                <a:ea typeface="Times New Roman"/>
                <a:cs typeface="Times New Roman"/>
              </a:rPr>
              <a:t>chỉ hệ thống gọi tới</a:t>
            </a:r>
          </a:p>
        </p:txBody>
      </p:sp>
      <p:sp>
        <p:nvSpPr>
          <p:cNvPr id="10" name="Rounded Rectangle 9">
            <a:extLst xmlns:a="http://schemas.openxmlformats.org/drawingml/2006/main">
              <a:ext uri="{FF2B5EF4-FFF2-40B4-BE49-F238E27FC236}">
                <a16:creationId xmlns:a16="http://schemas.microsoft.com/office/drawing/2014/main" id="{713F5250-8E26-4AC3-84B0-2971969955B6}"/>
              </a:ext>
            </a:extLst>
          </p:cNvPr>
          <p:cNvSpPr>
            <a:spLocks xmlns:a="http://schemas.openxmlformats.org/drawingml/2006/main" noGrp="1"/>
          </p:cNvSpPr>
          <p:nvPr/>
        </p:nvSpPr>
        <p:spPr>
          <a:xfrm xmlns:a="http://schemas.openxmlformats.org/drawingml/2006/main">
            <a:off x="3511520" y="2870000"/>
            <a:ext cx="7918480" cy="795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7EBACF17-DD17-4657-A86E-4FD0CBDFFA9D}"/>
              </a:ext>
            </a:extLst>
          </p:cNvPr>
          <p:cNvSpPr>
            <a:spLocks xmlns:a="http://schemas.openxmlformats.org/drawingml/2006/main" noGrp="1"/>
          </p:cNvSpPr>
          <p:nvPr/>
        </p:nvSpPr>
        <p:spPr>
          <a:xfrm xmlns:a="http://schemas.openxmlformats.org/drawingml/2006/main">
            <a:off x="3511520" y="2960000"/>
            <a:ext cx="7918480" cy="795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1E7A3C"/>
                </a:solidFill>
                <a:latin typeface="Times New Roman"/>
                <a:ea typeface="Times New Roman"/>
                <a:cs typeface="Times New Roman"/>
              </a:rPr>
              <a:t>KHỐI 2 — Lõi xử lý</a:t>
            </a:r>
          </a:p>
          <a:p xmlns:a="http://schemas.openxmlformats.org/drawingml/2006/main">
            <a:pPr algn="l">
              <a:spcBef>
                <a:spcPts val="400"/>
              </a:spcBef>
              <a:buNone/>
            </a:pPr>
            <a:r>
              <a:rPr sz="1100" b="0" i="0">
                <a:solidFill>
                  <a:srgbClr val="505050"/>
                </a:solidFill>
                <a:latin typeface="Times New Roman"/>
                <a:ea typeface="Times New Roman"/>
                <a:cs typeface="Times New Roman"/>
              </a:rPr>
              <a:t>Tiếp nhận câu hỏi, đọc CV, đối chiếu đơn hàng, hỏi xác nhận, tạo đăng ký sơ bộ và sinh phiếu tóm tắt.</a:t>
            </a:r>
          </a:p>
        </p:txBody>
      </p:sp>
      <p:sp>
        <p:nvSpPr>
          <p:cNvPr id="12" name="Rounded Rectangle 11">
            <a:extLst xmlns:a="http://schemas.openxmlformats.org/drawingml/2006/main">
              <a:ext uri="{FF2B5EF4-FFF2-40B4-BE49-F238E27FC236}">
                <a16:creationId xmlns:a16="http://schemas.microsoft.com/office/drawing/2014/main" id="{34042A2B-B7FE-4F36-9548-92797B6A76A2}"/>
              </a:ext>
            </a:extLst>
          </p:cNvPr>
          <p:cNvSpPr>
            <a:spLocks xmlns:a="http://schemas.openxmlformats.org/drawingml/2006/main" noGrp="1"/>
          </p:cNvSpPr>
          <p:nvPr/>
        </p:nvSpPr>
        <p:spPr>
          <a:xfrm xmlns:a="http://schemas.openxmlformats.org/drawingml/2006/main">
            <a:off x="3511520" y="3755000"/>
            <a:ext cx="7918480" cy="795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26DC63A3-6DBB-42B8-8389-CD490C41939F}"/>
              </a:ext>
            </a:extLst>
          </p:cNvPr>
          <p:cNvSpPr>
            <a:spLocks xmlns:a="http://schemas.openxmlformats.org/drawingml/2006/main" noGrp="1"/>
          </p:cNvSpPr>
          <p:nvPr/>
        </p:nvSpPr>
        <p:spPr>
          <a:xfrm xmlns:a="http://schemas.openxmlformats.org/drawingml/2006/main">
            <a:off x="3511520" y="3845000"/>
            <a:ext cx="7918480" cy="795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1E7A3C"/>
                </a:solidFill>
                <a:latin typeface="Times New Roman"/>
                <a:ea typeface="Times New Roman"/>
                <a:cs typeface="Times New Roman"/>
              </a:rPr>
              <a:t>KHỐI 3 — Kho dữ liệu</a:t>
            </a:r>
          </a:p>
          <a:p xmlns:a="http://schemas.openxmlformats.org/drawingml/2006/main">
            <a:pPr algn="l">
              <a:spcBef>
                <a:spcPts val="400"/>
              </a:spcBef>
              <a:buNone/>
            </a:pPr>
            <a:r>
              <a:rPr sz="1100" b="0" i="0">
                <a:solidFill>
                  <a:srgbClr val="505050"/>
                </a:solidFill>
                <a:latin typeface="Times New Roman"/>
                <a:ea typeface="Times New Roman"/>
                <a:cs typeface="Times New Roman"/>
              </a:rPr>
              <a:t>Lead, hồ sơ ứng viên, đăng ký đơn, phân công, phiếu tóm tắt, điểm nhân viên, lịch hẹn, CV gốc và nhật ký.</a:t>
            </a:r>
          </a:p>
        </p:txBody>
      </p:sp>
      <p:sp>
        <p:nvSpPr>
          <p:cNvPr id="14" name="Rounded Rectangle 13">
            <a:extLst xmlns:a="http://schemas.openxmlformats.org/drawingml/2006/main">
              <a:ext uri="{FF2B5EF4-FFF2-40B4-BE49-F238E27FC236}">
                <a16:creationId xmlns:a16="http://schemas.microsoft.com/office/drawing/2014/main" id="{B0C33AA3-EE31-45AC-97CF-C074DF3AFBC9}"/>
              </a:ext>
            </a:extLst>
          </p:cNvPr>
          <p:cNvSpPr>
            <a:spLocks xmlns:a="http://schemas.openxmlformats.org/drawingml/2006/main" noGrp="1"/>
          </p:cNvSpPr>
          <p:nvPr/>
        </p:nvSpPr>
        <p:spPr>
          <a:xfrm xmlns:a="http://schemas.openxmlformats.org/drawingml/2006/main">
            <a:off x="731520" y="4680000"/>
            <a:ext cx="2600000" cy="1120000"/>
          </a:xfrm>
          <a:prstGeom xmlns:a="http://schemas.openxmlformats.org/drawingml/2006/main" prst="roundRect">
            <a:avLst/>
          </a:prstGeom>
          <a:solidFill xmlns:a="http://schemas.openxmlformats.org/drawingml/2006/main">
            <a:srgbClr val="C06A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200" b="1">
                <a:solidFill>
                  <a:srgbClr val="FFFFFF"/>
                </a:solidFill>
                <a:latin typeface="Times New Roman"/>
                <a:ea typeface="Times New Roman"/>
                <a:cs typeface="Times New Roman"/>
              </a:rPr>
              <a:t>MẶT PHẲNG QUẢN TRỊ</a:t>
            </a:r>
          </a:p>
        </p:txBody>
      </p:sp>
      <p:sp>
        <p:nvSpPr>
          <p:cNvPr id="15" name="TextBox 14">
            <a:extLst xmlns:a="http://schemas.openxmlformats.org/drawingml/2006/main">
              <a:ext uri="{FF2B5EF4-FFF2-40B4-BE49-F238E27FC236}">
                <a16:creationId xmlns:a16="http://schemas.microsoft.com/office/drawing/2014/main" id="{83CD98B6-EA6D-4C3E-BD7B-0D840FA6D6D0}"/>
              </a:ext>
            </a:extLst>
          </p:cNvPr>
          <p:cNvSpPr>
            <a:spLocks xmlns:a="http://schemas.openxmlformats.org/drawingml/2006/main" noGrp="1"/>
          </p:cNvSpPr>
          <p:nvPr/>
        </p:nvSpPr>
        <p:spPr>
          <a:xfrm xmlns:a="http://schemas.openxmlformats.org/drawingml/2006/main">
            <a:off x="731520" y="5380000"/>
            <a:ext cx="260000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000" b="0" i="1">
                <a:solidFill>
                  <a:srgbClr val="FFFFFF"/>
                </a:solidFill>
                <a:latin typeface="Times New Roman"/>
                <a:ea typeface="Times New Roman"/>
                <a:cs typeface="Times New Roman"/>
              </a:rPr>
              <a:t>nhân viên công ty, bắt buộc đăng nhập</a:t>
            </a:r>
          </a:p>
        </p:txBody>
      </p:sp>
      <p:sp>
        <p:nvSpPr>
          <p:cNvPr id="16" name="Rounded Rectangle 15">
            <a:extLst xmlns:a="http://schemas.openxmlformats.org/drawingml/2006/main">
              <a:ext uri="{FF2B5EF4-FFF2-40B4-BE49-F238E27FC236}">
                <a16:creationId xmlns:a16="http://schemas.microsoft.com/office/drawing/2014/main" id="{76633122-5CBA-429B-ADB9-757E39606518}"/>
              </a:ext>
            </a:extLst>
          </p:cNvPr>
          <p:cNvSpPr>
            <a:spLocks xmlns:a="http://schemas.openxmlformats.org/drawingml/2006/main" noGrp="1"/>
          </p:cNvSpPr>
          <p:nvPr/>
        </p:nvSpPr>
        <p:spPr>
          <a:xfrm xmlns:a="http://schemas.openxmlformats.org/drawingml/2006/main">
            <a:off x="3511520" y="4680000"/>
            <a:ext cx="7918480" cy="112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288CDAC8-8216-4830-BEB3-0024AE8A002A}"/>
              </a:ext>
            </a:extLst>
          </p:cNvPr>
          <p:cNvSpPr>
            <a:spLocks xmlns:a="http://schemas.openxmlformats.org/drawingml/2006/main" noGrp="1"/>
          </p:cNvSpPr>
          <p:nvPr/>
        </p:nvSpPr>
        <p:spPr>
          <a:xfrm xmlns:a="http://schemas.openxmlformats.org/drawingml/2006/main">
            <a:off x="3511520" y="4770000"/>
            <a:ext cx="7918480" cy="11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C06A00"/>
                </a:solidFill>
                <a:latin typeface="Times New Roman"/>
                <a:ea typeface="Times New Roman"/>
                <a:cs typeface="Times New Roman"/>
              </a:rPr>
              <a:t>KHỐI 4 — Phân hệ quản trị</a:t>
            </a:r>
          </a:p>
          <a:p xmlns:a="http://schemas.openxmlformats.org/drawingml/2006/main">
            <a:pPr algn="l">
              <a:spcBef>
                <a:spcPts val="400"/>
              </a:spcBef>
              <a:buNone/>
            </a:pPr>
            <a:r>
              <a:rPr sz="1100" b="0" i="0">
                <a:solidFill>
                  <a:srgbClr val="505050"/>
                </a:solidFill>
                <a:latin typeface="Times New Roman"/>
                <a:ea typeface="Times New Roman"/>
                <a:cs typeface="Times New Roman"/>
              </a:rPr>
              <a:t>Hàng đợi phiếu, hồ sơ tập trung, trạng thái xử lý, lịch hẹn, đơn tuyển dụng, nhân viên, điểm và nhật ký.</a:t>
            </a:r>
          </a:p>
        </p:txBody>
      </p:sp>
      <p:sp>
        <p:nvSpPr>
          <p:cNvPr id="18" name="Rounded Rectangle 17">
            <a:extLst xmlns:a="http://schemas.openxmlformats.org/drawingml/2006/main">
              <a:ext uri="{FF2B5EF4-FFF2-40B4-BE49-F238E27FC236}">
                <a16:creationId xmlns:a16="http://schemas.microsoft.com/office/drawing/2014/main" id="{19DBF711-4305-4FBE-B06B-07A25CE6CD66}"/>
              </a:ext>
            </a:extLst>
          </p:cNvPr>
          <p:cNvSpPr>
            <a:spLocks xmlns:a="http://schemas.openxmlformats.org/drawingml/2006/main" noGrp="1"/>
          </p:cNvSpPr>
          <p:nvPr/>
        </p:nvSpPr>
        <p:spPr>
          <a:xfrm xmlns:a="http://schemas.openxmlformats.org/drawingml/2006/main">
            <a:off x="731520" y="5990000"/>
            <a:ext cx="10698480" cy="78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EE3AC89-1EA1-436C-AFF3-FB6CA453D896}"/>
              </a:ext>
            </a:extLst>
          </p:cNvPr>
          <p:cNvSpPr>
            <a:spLocks xmlns:a="http://schemas.openxmlformats.org/drawingml/2006/main" noGrp="1"/>
          </p:cNvSpPr>
          <p:nvPr/>
        </p:nvSpPr>
        <p:spPr>
          <a:xfrm xmlns:a="http://schemas.openxmlformats.org/drawingml/2006/main">
            <a:off x="731520" y="6060000"/>
            <a:ext cx="10698480" cy="7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Ranh giới quan trọng nhất</a:t>
            </a:r>
          </a:p>
          <a:p xmlns:a="http://schemas.openxmlformats.org/drawingml/2006/main">
            <a:pPr algn="ctr">
              <a:spcBef>
                <a:spcPts val="400"/>
              </a:spcBef>
              <a:buNone/>
            </a:pPr>
            <a:r>
              <a:rPr sz="1150" b="0" i="0">
                <a:solidFill>
                  <a:srgbClr val="505050"/>
                </a:solidFill>
                <a:latin typeface="Times New Roman"/>
                <a:ea typeface="Times New Roman"/>
                <a:cs typeface="Times New Roman"/>
              </a:rPr>
              <a:t>Mặt phẳng ứng viên không có đường đi trực tiếp tới mặt phẳng quản trị. Dữ liệu chỉ chuyển giao gián tiếp qua kho dữ liệu — khung chat công khai không thể xem hay sửa dữ liệu nội bộ.</a:t>
            </a:r>
          </a:p>
        </p:txBody>
      </p:sp>
    </p:spTree>
    <p:extLst>
      <p:ext uri="{BB962C8B-B14F-4D97-AF65-F5344CB8AC3E}">
        <p14:creationId xmlns:p14="http://schemas.microsoft.com/office/powerpoint/2010/main" val="8833877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5E39CCD4-AAA7-434A-8FD7-8EC73275C5AA}"/>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Ranh giới chức năng giữa kênh khách hàng và hệ thống nội bộ</a:t>
            </a:r>
          </a:p>
        </p:txBody>
      </p:sp>
      <p:sp>
        <p:nvSpPr>
          <p:cNvPr id="3" name="TextBox 2">
            <a:extLst xmlns:a="http://schemas.openxmlformats.org/drawingml/2006/main">
              <a:ext uri="{FF2B5EF4-FFF2-40B4-BE49-F238E27FC236}">
                <a16:creationId xmlns:a16="http://schemas.microsoft.com/office/drawing/2014/main" id="{DD56C0C1-DCB6-4201-950D-C21C35C5E8EA}"/>
              </a:ext>
            </a:extLst>
          </p:cNvPr>
          <p:cNvSpPr>
            <a:spLocks xmlns:a="http://schemas.openxmlformats.org/drawingml/2006/main" noGrp="1"/>
          </p:cNvSpPr>
          <p:nvPr/>
        </p:nvSpPr>
        <p:spPr>
          <a:xfrm xmlns:a="http://schemas.openxmlformats.org/drawingml/2006/main">
            <a:off x="731520" y="1120000"/>
            <a:ext cx="1069848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300" b="0" i="1">
                <a:solidFill>
                  <a:srgbClr val="0F4C81"/>
                </a:solidFill>
                <a:latin typeface="Times New Roman"/>
                <a:ea typeface="Times New Roman"/>
                <a:cs typeface="Times New Roman"/>
              </a:rPr>
              <a:t>Slide này xác định quyền truy cập và dữ liệu bàn giao, chưa mô tả giao diện website.</a:t>
            </a:r>
          </a:p>
        </p:txBody>
      </p:sp>
      <p:sp>
        <p:nvSpPr>
          <p:cNvPr id="4" name="Rounded Rectangle 3">
            <a:extLst xmlns:a="http://schemas.openxmlformats.org/drawingml/2006/main">
              <a:ext uri="{FF2B5EF4-FFF2-40B4-BE49-F238E27FC236}">
                <a16:creationId xmlns:a16="http://schemas.microsoft.com/office/drawing/2014/main" id="{720BD344-631C-4740-A392-80E8F1154499}"/>
              </a:ext>
            </a:extLst>
          </p:cNvPr>
          <p:cNvSpPr>
            <a:spLocks xmlns:a="http://schemas.openxmlformats.org/drawingml/2006/main" noGrp="1"/>
          </p:cNvSpPr>
          <p:nvPr/>
        </p:nvSpPr>
        <p:spPr>
          <a:xfrm xmlns:a="http://schemas.openxmlformats.org/drawingml/2006/main">
            <a:off x="731520" y="1600000"/>
            <a:ext cx="5150000" cy="42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KÊNH KHÁCH HÀNG — CHƯA CHỐT UI/UX</a:t>
            </a:r>
          </a:p>
        </p:txBody>
      </p:sp>
      <p:sp>
        <p:nvSpPr>
          <p:cNvPr id="5" name="Rounded Rectangle 4">
            <a:extLst xmlns:a="http://schemas.openxmlformats.org/drawingml/2006/main">
              <a:ext uri="{FF2B5EF4-FFF2-40B4-BE49-F238E27FC236}">
                <a16:creationId xmlns:a16="http://schemas.microsoft.com/office/drawing/2014/main" id="{B1E89BED-98E7-4576-9009-50C477AA9D09}"/>
              </a:ext>
            </a:extLst>
          </p:cNvPr>
          <p:cNvSpPr>
            <a:spLocks xmlns:a="http://schemas.openxmlformats.org/drawingml/2006/main" noGrp="1"/>
          </p:cNvSpPr>
          <p:nvPr/>
        </p:nvSpPr>
        <p:spPr>
          <a:xfrm xmlns:a="http://schemas.openxmlformats.org/drawingml/2006/main">
            <a:off x="731520" y="2100000"/>
            <a:ext cx="5150000" cy="41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12BBA9D7-B402-40C7-858A-4188B944D0C8}"/>
              </a:ext>
            </a:extLst>
          </p:cNvPr>
          <p:cNvSpPr>
            <a:spLocks xmlns:a="http://schemas.openxmlformats.org/drawingml/2006/main" noGrp="1"/>
          </p:cNvSpPr>
          <p:nvPr/>
        </p:nvSpPr>
        <p:spPr>
          <a:xfrm xmlns:a="http://schemas.openxmlformats.org/drawingml/2006/main">
            <a:off x="731520" y="2180000"/>
            <a:ext cx="5150000" cy="40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1" i="0">
                <a:solidFill>
                  <a:srgbClr val="0F4C81"/>
                </a:solidFill>
                <a:latin typeface="Times New Roman"/>
                <a:ea typeface="Times New Roman"/>
                <a:cs typeface="Times New Roman"/>
              </a:rPr>
              <a:t>Nghiệp vụ đã thống nhất</a:t>
            </a:r>
          </a:p>
          <a:p xmlns:a="http://schemas.openxmlformats.org/drawingml/2006/main">
            <a:pPr algn="l">
              <a:spcBef>
                <a:spcPts val="900"/>
              </a:spcBef>
              <a:buNone/>
            </a:pPr>
            <a:r>
              <a:rPr sz="1150" b="1" i="0">
                <a:solidFill>
                  <a:srgbClr val="0F4C81"/>
                </a:solidFill>
                <a:latin typeface="Times New Roman"/>
                <a:ea typeface="Times New Roman"/>
                <a:cs typeface="Times New Roman"/>
              </a:rPr>
              <a:t>Khách trò chuyện mà không cần tài khoản.</a:t>
            </a:r>
          </a:p>
          <a:p xmlns:a="http://schemas.openxmlformats.org/drawingml/2006/main">
            <a:pPr algn="l">
              <a:spcBef>
                <a:spcPts val="900"/>
              </a:spcBef>
              <a:buNone/>
            </a:pPr>
            <a:r>
              <a:rPr sz="1150" b="1" i="0">
                <a:solidFill>
                  <a:srgbClr val="0F4C81"/>
                </a:solidFill>
                <a:latin typeface="Times New Roman"/>
                <a:ea typeface="Times New Roman"/>
                <a:cs typeface="Times New Roman"/>
              </a:rPr>
              <a:t>Khách gửi CV và xác nhận thông tin đã trích xuất.</a:t>
            </a:r>
          </a:p>
          <a:p xmlns:a="http://schemas.openxmlformats.org/drawingml/2006/main">
            <a:pPr algn="l">
              <a:spcBef>
                <a:spcPts val="900"/>
              </a:spcBef>
              <a:buNone/>
            </a:pPr>
            <a:r>
              <a:rPr sz="1150" b="1" i="0">
                <a:solidFill>
                  <a:srgbClr val="C06A00"/>
                </a:solidFill>
                <a:latin typeface="Times New Roman"/>
                <a:ea typeface="Times New Roman"/>
                <a:cs typeface="Times New Roman"/>
              </a:rPr>
              <a:t>Hệ thống gợi ý đơn và giải thích kết quả.</a:t>
            </a:r>
          </a:p>
          <a:p xmlns:a="http://schemas.openxmlformats.org/drawingml/2006/main">
            <a:pPr algn="l">
              <a:spcBef>
                <a:spcPts val="900"/>
              </a:spcBef>
              <a:buNone/>
            </a:pPr>
            <a:r>
              <a:rPr sz="1150" b="1" i="0">
                <a:solidFill>
                  <a:srgbClr val="C06A00"/>
                </a:solidFill>
                <a:latin typeface="Times New Roman"/>
                <a:ea typeface="Times New Roman"/>
                <a:cs typeface="Times New Roman"/>
              </a:rPr>
              <a:t>Khách tự chọn đơn mong muốn rồi xác nhận đăng ký.</a:t>
            </a:r>
          </a:p>
          <a:p xmlns:a="http://schemas.openxmlformats.org/drawingml/2006/main">
            <a:pPr algn="l">
              <a:spcBef>
                <a:spcPts val="900"/>
              </a:spcBef>
              <a:buNone/>
            </a:pPr>
            <a:r>
              <a:rPr sz="1150" b="1" i="0">
                <a:solidFill>
                  <a:srgbClr val="0F4C81"/>
                </a:solidFill>
                <a:latin typeface="Times New Roman"/>
                <a:ea typeface="Times New Roman"/>
                <a:cs typeface="Times New Roman"/>
              </a:rPr>
              <a:t>Hệ thống tạo lịch hẹn và phiếu tóm tắt bàn giao.</a:t>
            </a:r>
          </a:p>
          <a:p xmlns:a="http://schemas.openxmlformats.org/drawingml/2006/main">
            <a:pPr algn="l">
              <a:spcBef>
                <a:spcPts val="900"/>
              </a:spcBef>
              <a:buNone/>
            </a:pPr>
            <a:r>
              <a:rPr sz="1150" b="1" i="0">
                <a:solidFill>
                  <a:srgbClr val="C06A00"/>
                </a:solidFill>
                <a:latin typeface="Times New Roman"/>
                <a:ea typeface="Times New Roman"/>
                <a:cs typeface="Times New Roman"/>
              </a:rPr>
              <a:t/>
            </a:r>
          </a:p>
          <a:p xmlns:a="http://schemas.openxmlformats.org/drawingml/2006/main">
            <a:pPr algn="l">
              <a:spcBef>
                <a:spcPts val="900"/>
              </a:spcBef>
              <a:buNone/>
            </a:pPr>
            <a:r>
              <a:rPr sz="1150" b="1" i="0">
                <a:solidFill>
                  <a:srgbClr val="0F4C81"/>
                </a:solidFill>
                <a:latin typeface="Times New Roman"/>
                <a:ea typeface="Times New Roman"/>
                <a:cs typeface="Times New Roman"/>
              </a:rPr>
              <a:t>Chưa thống nhất</a:t>
            </a:r>
          </a:p>
          <a:p xmlns:a="http://schemas.openxmlformats.org/drawingml/2006/main">
            <a:pPr algn="l">
              <a:spcBef>
                <a:spcPts val="900"/>
              </a:spcBef>
              <a:buNone/>
            </a:pPr>
            <a:r>
              <a:rPr sz="1150" b="1" i="0">
                <a:solidFill>
                  <a:srgbClr val="0F4C81"/>
                </a:solidFill>
                <a:latin typeface="Times New Roman"/>
                <a:ea typeface="Times New Roman"/>
                <a:cs typeface="Times New Roman"/>
              </a:rPr>
              <a:t>Sơ đồ trang, bố cục, thương hiệu, điều hướng, thiết kế trên điện thoại và cách nhúng chatbot.</a:t>
            </a:r>
          </a:p>
        </p:txBody>
      </p:sp>
      <p:sp>
        <p:nvSpPr>
          <p:cNvPr id="7" name="Rounded Rectangle 6">
            <a:extLst xmlns:a="http://schemas.openxmlformats.org/drawingml/2006/main">
              <a:ext uri="{FF2B5EF4-FFF2-40B4-BE49-F238E27FC236}">
                <a16:creationId xmlns:a16="http://schemas.microsoft.com/office/drawing/2014/main" id="{871A88B6-2A33-4C51-8AC0-0142E6A178B3}"/>
              </a:ext>
            </a:extLst>
          </p:cNvPr>
          <p:cNvSpPr>
            <a:spLocks xmlns:a="http://schemas.openxmlformats.org/drawingml/2006/main" noGrp="1"/>
          </p:cNvSpPr>
          <p:nvPr/>
        </p:nvSpPr>
        <p:spPr>
          <a:xfrm xmlns:a="http://schemas.openxmlformats.org/drawingml/2006/main">
            <a:off x="6280000" y="1600000"/>
            <a:ext cx="5150000" cy="420000"/>
          </a:xfrm>
          <a:prstGeom xmlns:a="http://schemas.openxmlformats.org/drawingml/2006/main" prst="roundRect">
            <a:avLst/>
          </a:prstGeom>
          <a:solidFill xmlns:a="http://schemas.openxmlformats.org/drawingml/2006/main">
            <a:srgbClr val="C06A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HỆ THỐNG NỘI BỘ — sau đăng nhập</a:t>
            </a:r>
          </a:p>
        </p:txBody>
      </p:sp>
      <p:sp>
        <p:nvSpPr>
          <p:cNvPr id="8" name="Rounded Rectangle 7">
            <a:extLst xmlns:a="http://schemas.openxmlformats.org/drawingml/2006/main">
              <a:ext uri="{FF2B5EF4-FFF2-40B4-BE49-F238E27FC236}">
                <a16:creationId xmlns:a16="http://schemas.microsoft.com/office/drawing/2014/main" id="{B711ABCC-C6F2-400D-A3E4-2F17123E2892}"/>
              </a:ext>
            </a:extLst>
          </p:cNvPr>
          <p:cNvSpPr>
            <a:spLocks xmlns:a="http://schemas.openxmlformats.org/drawingml/2006/main" noGrp="1"/>
          </p:cNvSpPr>
          <p:nvPr/>
        </p:nvSpPr>
        <p:spPr>
          <a:xfrm xmlns:a="http://schemas.openxmlformats.org/drawingml/2006/main">
            <a:off x="6280000" y="2100000"/>
            <a:ext cx="5150000" cy="415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2F72E9EF-D032-459B-8C4D-7FE09A58D650}"/>
              </a:ext>
            </a:extLst>
          </p:cNvPr>
          <p:cNvSpPr>
            <a:spLocks xmlns:a="http://schemas.openxmlformats.org/drawingml/2006/main" noGrp="1"/>
          </p:cNvSpPr>
          <p:nvPr/>
        </p:nvSpPr>
        <p:spPr>
          <a:xfrm xmlns:a="http://schemas.openxmlformats.org/drawingml/2006/main">
            <a:off x="6280000" y="2180000"/>
            <a:ext cx="5150000" cy="40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1" i="0">
                <a:solidFill>
                  <a:srgbClr val="C06A00"/>
                </a:solidFill>
                <a:latin typeface="Times New Roman"/>
                <a:ea typeface="Times New Roman"/>
                <a:cs typeface="Times New Roman"/>
              </a:rPr>
              <a:t>Tổng quan. Phiếu mới, lịch hẹn hôm nay, hồ sơ quá hạn và việc cần xử lý.</a:t>
            </a:r>
          </a:p>
          <a:p xmlns:a="http://schemas.openxmlformats.org/drawingml/2006/main">
            <a:pPr algn="l">
              <a:spcBef>
                <a:spcPts val="900"/>
              </a:spcBef>
              <a:buNone/>
            </a:pPr>
            <a:r>
              <a:rPr sz="1150" b="1" i="0">
                <a:solidFill>
                  <a:srgbClr val="C06A00"/>
                </a:solidFill>
                <a:latin typeface="Times New Roman"/>
                <a:ea typeface="Times New Roman"/>
                <a:cs typeface="Times New Roman"/>
              </a:rPr>
              <a:t>Hàng đợi hồ sơ. Nhân viên nhận xử lý; hệ thống khóa một người phụ trách tại một thời điểm.</a:t>
            </a:r>
          </a:p>
          <a:p xmlns:a="http://schemas.openxmlformats.org/drawingml/2006/main">
            <a:pPr algn="l">
              <a:spcBef>
                <a:spcPts val="900"/>
              </a:spcBef>
              <a:buNone/>
            </a:pPr>
            <a:r>
              <a:rPr sz="1150" b="1" i="0">
                <a:solidFill>
                  <a:srgbClr val="C06A00"/>
                </a:solidFill>
                <a:latin typeface="Times New Roman"/>
                <a:ea typeface="Times New Roman"/>
                <a:cs typeface="Times New Roman"/>
              </a:rPr>
              <a:t>Hồ sơ ứng viên. Phiếu tóm tắt, CV gốc, hội thoại, yêu cầu, đơn đã chọn, lịch hẹn và lịch sử trạng thái.</a:t>
            </a:r>
          </a:p>
          <a:p xmlns:a="http://schemas.openxmlformats.org/drawingml/2006/main">
            <a:pPr algn="l">
              <a:spcBef>
                <a:spcPts val="900"/>
              </a:spcBef>
              <a:buNone/>
            </a:pPr>
            <a:r>
              <a:rPr sz="1150" b="1" i="0">
                <a:solidFill>
                  <a:srgbClr val="C06A00"/>
                </a:solidFill>
                <a:latin typeface="Times New Roman"/>
                <a:ea typeface="Times New Roman"/>
                <a:cs typeface="Times New Roman"/>
              </a:rPr>
              <a:t>Lịch hẹn. Lọc, phân công, đổi lịch và ghi kết quả cuộc gọi.</a:t>
            </a:r>
          </a:p>
          <a:p xmlns:a="http://schemas.openxmlformats.org/drawingml/2006/main">
            <a:pPr algn="l">
              <a:spcBef>
                <a:spcPts val="900"/>
              </a:spcBef>
              <a:buNone/>
            </a:pPr>
            <a:r>
              <a:rPr sz="1150" b="1" i="0">
                <a:solidFill>
                  <a:srgbClr val="C06A00"/>
                </a:solidFill>
                <a:latin typeface="Times New Roman"/>
                <a:ea typeface="Times New Roman"/>
                <a:cs typeface="Times New Roman"/>
              </a:rPr>
              <a:t>Danh mục đơn. Thêm, sửa, mở tuyển, tạm dừng, hết hạn hoặc đóng.</a:t>
            </a:r>
          </a:p>
          <a:p xmlns:a="http://schemas.openxmlformats.org/drawingml/2006/main">
            <a:pPr algn="l">
              <a:spcBef>
                <a:spcPts val="900"/>
              </a:spcBef>
              <a:buNone/>
            </a:pPr>
            <a:r>
              <a:rPr sz="1150" b="1" i="0">
                <a:solidFill>
                  <a:srgbClr val="C06A00"/>
                </a:solidFill>
                <a:latin typeface="Times New Roman"/>
                <a:ea typeface="Times New Roman"/>
                <a:cs typeface="Times New Roman"/>
              </a:rPr>
              <a:t>Nhân viên và hiệu suất. Tài khoản, khối lượng, thời gian phản hồi, điểm và lịch sử điều chỉnh.</a:t>
            </a:r>
          </a:p>
          <a:p xmlns:a="http://schemas.openxmlformats.org/drawingml/2006/main">
            <a:pPr algn="l">
              <a:spcBef>
                <a:spcPts val="900"/>
              </a:spcBef>
              <a:buNone/>
            </a:pPr>
            <a:r>
              <a:rPr sz="1150" b="1" i="0">
                <a:solidFill>
                  <a:srgbClr val="C06A00"/>
                </a:solidFill>
                <a:latin typeface="Times New Roman"/>
                <a:ea typeface="Times New Roman"/>
                <a:cs typeface="Times New Roman"/>
              </a:rPr>
              <a:t>Tri thức · Hội thoại. Quản lý tài liệu và xem lại cuộc trò chuyện.</a:t>
            </a:r>
          </a:p>
          <a:p xmlns:a="http://schemas.openxmlformats.org/drawingml/2006/main">
            <a:pPr algn="l">
              <a:spcBef>
                <a:spcPts val="900"/>
              </a:spcBef>
              <a:buNone/>
            </a:pPr>
            <a:r>
              <a:rPr sz="1150" b="1" i="0">
                <a:solidFill>
                  <a:srgbClr val="C06A00"/>
                </a:solidFill>
                <a:latin typeface="Times New Roman"/>
                <a:ea typeface="Times New Roman"/>
                <a:cs typeface="Times New Roman"/>
              </a:rPr>
              <a:t>Người dùng · Nhật ký. Phân quyền theo vai trò và lưu mọi thao tác quan trọng.</a:t>
            </a:r>
          </a:p>
        </p:txBody>
      </p:sp>
      <p:sp>
        <p:nvSpPr>
          <p:cNvPr id="10" name="Rounded Rectangle 9">
            <a:extLst xmlns:a="http://schemas.openxmlformats.org/drawingml/2006/main">
              <a:ext uri="{FF2B5EF4-FFF2-40B4-BE49-F238E27FC236}">
                <a16:creationId xmlns:a16="http://schemas.microsoft.com/office/drawing/2014/main" id="{9D58BA1E-A81D-41AC-9D5C-18074F69D2AF}"/>
              </a:ext>
            </a:extLst>
          </p:cNvPr>
          <p:cNvSpPr>
            <a:spLocks xmlns:a="http://schemas.openxmlformats.org/drawingml/2006/main" noGrp="1"/>
          </p:cNvSpPr>
          <p:nvPr/>
        </p:nvSpPr>
        <p:spPr>
          <a:xfrm xmlns:a="http://schemas.openxmlformats.org/drawingml/2006/main">
            <a:off x="731520" y="6340000"/>
            <a:ext cx="10698480" cy="46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0345ADFC-3840-4F2E-B137-9C99F46BA9DC}"/>
              </a:ext>
            </a:extLst>
          </p:cNvPr>
          <p:cNvSpPr>
            <a:spLocks xmlns:a="http://schemas.openxmlformats.org/drawingml/2006/main" noGrp="1"/>
          </p:cNvSpPr>
          <p:nvPr/>
        </p:nvSpPr>
        <p:spPr>
          <a:xfrm xmlns:a="http://schemas.openxmlformats.org/drawingml/2006/main">
            <a:off x="731520" y="6385000"/>
            <a:ext cx="10698480" cy="415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100" b="0" i="1">
                <a:solidFill>
                  <a:srgbClr val="505050"/>
                </a:solidFill>
                <a:latin typeface="Times New Roman"/>
                <a:ea typeface="Times New Roman"/>
                <a:cs typeface="Times New Roman"/>
              </a:rPr>
              <a:t>Quy tắc nghiệp vụ đã có. Hình thức website sẽ được thiết kế sau khi luồng tư vấn và bàn giao ổn định.</a:t>
            </a:r>
          </a:p>
        </p:txBody>
      </p:sp>
    </p:spTree>
    <p:extLst>
      <p:ext uri="{BB962C8B-B14F-4D97-AF65-F5344CB8AC3E}">
        <p14:creationId xmlns:p14="http://schemas.microsoft.com/office/powerpoint/2010/main" val="64888147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1970D86A-0F0A-45C6-8BC4-EA6D19ECF947}"/>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Tài liệu của doanh nghiệp được đưa vào hệ thống thế nào?</a:t>
            </a:r>
          </a:p>
        </p:txBody>
      </p:sp>
      <p:sp>
        <p:nvSpPr>
          <p:cNvPr id="3" name="TextBox 2">
            <a:extLst xmlns:a="http://schemas.openxmlformats.org/drawingml/2006/main">
              <a:ext uri="{FF2B5EF4-FFF2-40B4-BE49-F238E27FC236}">
                <a16:creationId xmlns:a16="http://schemas.microsoft.com/office/drawing/2014/main" id="{79DFBB02-F948-4FDB-92A9-2F55F685E1AA}"/>
              </a:ext>
            </a:extLst>
          </p:cNvPr>
          <p:cNvSpPr>
            <a:spLocks xmlns:a="http://schemas.openxmlformats.org/drawingml/2006/main" noGrp="1"/>
          </p:cNvSpPr>
          <p:nvPr/>
        </p:nvSpPr>
        <p:spPr>
          <a:xfrm xmlns:a="http://schemas.openxmlformats.org/drawingml/2006/main">
            <a:off x="731520" y="1120000"/>
            <a:ext cx="1069848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300" b="0" i="1">
                <a:solidFill>
                  <a:srgbClr val="0F4C81"/>
                </a:solidFill>
                <a:latin typeface="Times New Roman"/>
                <a:ea typeface="Times New Roman"/>
                <a:cs typeface="Times New Roman"/>
              </a:rPr>
              <a:t>Chất lượng câu trả lời phụ thuộc hoàn toàn vào kho tài liệu. Đây là quy trình đưa tài liệu giấy tờ của công ty thành thứ hệ thống tra cứu được.</a:t>
            </a:r>
          </a:p>
        </p:txBody>
      </p:sp>
      <p:sp>
        <p:nvSpPr>
          <p:cNvPr id="4" name="Rounded Rectangle 3">
            <a:extLst xmlns:a="http://schemas.openxmlformats.org/drawingml/2006/main">
              <a:ext uri="{FF2B5EF4-FFF2-40B4-BE49-F238E27FC236}">
                <a16:creationId xmlns:a16="http://schemas.microsoft.com/office/drawing/2014/main" id="{4E6FEB4C-F68F-4BDE-B25A-4F3513413487}"/>
              </a:ext>
            </a:extLst>
          </p:cNvPr>
          <p:cNvSpPr>
            <a:spLocks xmlns:a="http://schemas.openxmlformats.org/drawingml/2006/main" noGrp="1"/>
          </p:cNvSpPr>
          <p:nvPr/>
        </p:nvSpPr>
        <p:spPr>
          <a:xfrm xmlns:a="http://schemas.openxmlformats.org/drawingml/2006/main">
            <a:off x="731520" y="1640000"/>
            <a:ext cx="2011696"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2D3EF48-6D4F-4D66-9C83-62404EFF7A84}"/>
              </a:ext>
            </a:extLst>
          </p:cNvPr>
          <p:cNvSpPr>
            <a:spLocks xmlns:a="http://schemas.openxmlformats.org/drawingml/2006/main" noGrp="1"/>
          </p:cNvSpPr>
          <p:nvPr/>
        </p:nvSpPr>
        <p:spPr>
          <a:xfrm xmlns:a="http://schemas.openxmlformats.org/drawingml/2006/main">
            <a:off x="731520" y="1750000"/>
            <a:ext cx="2011696"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1. Thu thập</a:t>
            </a:r>
          </a:p>
          <a:p xmlns:a="http://schemas.openxmlformats.org/drawingml/2006/main">
            <a:pPr algn="ctr">
              <a:spcBef>
                <a:spcPts val="400"/>
              </a:spcBef>
              <a:buNone/>
            </a:pPr>
            <a:r>
              <a:rPr sz="1050" b="0" i="0">
                <a:solidFill>
                  <a:srgbClr val="505050"/>
                </a:solidFill>
                <a:latin typeface="Times New Roman"/>
                <a:ea typeface="Times New Roman"/>
                <a:cs typeface="Times New Roman"/>
              </a:rPr>
              <a:t>Cẩm nang tuyển dụng, quy định chi phí, hợp đồng phái cử, câu hỏi thường gặp</a:t>
            </a:r>
          </a:p>
        </p:txBody>
      </p:sp>
      <p:sp>
        <p:nvSpPr>
          <p:cNvPr id="6" name="Connector 5">
            <a:extLst xmlns:a="http://schemas.openxmlformats.org/drawingml/2006/main">
              <a:ext uri="{FF2B5EF4-FFF2-40B4-BE49-F238E27FC236}">
                <a16:creationId xmlns:a16="http://schemas.microsoft.com/office/drawing/2014/main" id="{050527C3-027E-44E2-915A-EDEB408B85E6}"/>
              </a:ext>
            </a:extLst>
          </p:cNvPr>
          <p:cNvSpPr>
            <a:spLocks xmlns:a="http://schemas.openxmlformats.org/drawingml/2006/main" noGrp="1"/>
          </p:cNvSpPr>
          <p:nvPr/>
        </p:nvSpPr>
        <p:spPr>
          <a:xfrm xmlns:a="http://schemas.openxmlformats.org/drawingml/2006/main">
            <a:off x="2743216" y="2365000"/>
            <a:ext cx="160000" cy="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7" name="Rounded Rectangle 6">
            <a:extLst xmlns:a="http://schemas.openxmlformats.org/drawingml/2006/main">
              <a:ext uri="{FF2B5EF4-FFF2-40B4-BE49-F238E27FC236}">
                <a16:creationId xmlns:a16="http://schemas.microsoft.com/office/drawing/2014/main" id="{B7D759F1-5F75-470E-A3C0-9030E0C3B665}"/>
              </a:ext>
            </a:extLst>
          </p:cNvPr>
          <p:cNvSpPr>
            <a:spLocks xmlns:a="http://schemas.openxmlformats.org/drawingml/2006/main" noGrp="1"/>
          </p:cNvSpPr>
          <p:nvPr/>
        </p:nvSpPr>
        <p:spPr>
          <a:xfrm xmlns:a="http://schemas.openxmlformats.org/drawingml/2006/main">
            <a:off x="2903216" y="1640000"/>
            <a:ext cx="2011696"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7DC2A829-6DAF-4B08-BB8D-07A3ADD2E11C}"/>
              </a:ext>
            </a:extLst>
          </p:cNvPr>
          <p:cNvSpPr>
            <a:spLocks xmlns:a="http://schemas.openxmlformats.org/drawingml/2006/main" noGrp="1"/>
          </p:cNvSpPr>
          <p:nvPr/>
        </p:nvSpPr>
        <p:spPr>
          <a:xfrm xmlns:a="http://schemas.openxmlformats.org/drawingml/2006/main">
            <a:off x="2903216" y="1750000"/>
            <a:ext cx="2011696"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2. Làm sạch</a:t>
            </a:r>
          </a:p>
          <a:p xmlns:a="http://schemas.openxmlformats.org/drawingml/2006/main">
            <a:pPr algn="ctr">
              <a:spcBef>
                <a:spcPts val="400"/>
              </a:spcBef>
              <a:buNone/>
            </a:pPr>
            <a:r>
              <a:rPr sz="1050" b="0" i="0">
                <a:solidFill>
                  <a:srgbClr val="505050"/>
                </a:solidFill>
                <a:latin typeface="Times New Roman"/>
                <a:ea typeface="Times New Roman"/>
                <a:cs typeface="Times New Roman"/>
              </a:rPr>
              <a:t>Bỏ phần thừa như đầu trang, chân trang, mục lục; chuẩn hoá bảng biểu</a:t>
            </a:r>
          </a:p>
        </p:txBody>
      </p:sp>
      <p:sp>
        <p:nvSpPr>
          <p:cNvPr id="9" name="Connector 8">
            <a:extLst xmlns:a="http://schemas.openxmlformats.org/drawingml/2006/main">
              <a:ext uri="{FF2B5EF4-FFF2-40B4-BE49-F238E27FC236}">
                <a16:creationId xmlns:a16="http://schemas.microsoft.com/office/drawing/2014/main" id="{C6129FDA-F5AE-44A2-9FA3-AF3758D2E116}"/>
              </a:ext>
            </a:extLst>
          </p:cNvPr>
          <p:cNvSpPr>
            <a:spLocks xmlns:a="http://schemas.openxmlformats.org/drawingml/2006/main" noGrp="1"/>
          </p:cNvSpPr>
          <p:nvPr/>
        </p:nvSpPr>
        <p:spPr>
          <a:xfrm xmlns:a="http://schemas.openxmlformats.org/drawingml/2006/main">
            <a:off x="4914912" y="2365000"/>
            <a:ext cx="160000" cy="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0" name="Rounded Rectangle 9">
            <a:extLst xmlns:a="http://schemas.openxmlformats.org/drawingml/2006/main">
              <a:ext uri="{FF2B5EF4-FFF2-40B4-BE49-F238E27FC236}">
                <a16:creationId xmlns:a16="http://schemas.microsoft.com/office/drawing/2014/main" id="{108D4B24-037B-4999-8C1E-D17C3DC478F7}"/>
              </a:ext>
            </a:extLst>
          </p:cNvPr>
          <p:cNvSpPr>
            <a:spLocks xmlns:a="http://schemas.openxmlformats.org/drawingml/2006/main" noGrp="1"/>
          </p:cNvSpPr>
          <p:nvPr/>
        </p:nvSpPr>
        <p:spPr>
          <a:xfrm xmlns:a="http://schemas.openxmlformats.org/drawingml/2006/main">
            <a:off x="5074912" y="1640000"/>
            <a:ext cx="2011696"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523CD280-5F40-406F-AEAE-EFE494FA2EED}"/>
              </a:ext>
            </a:extLst>
          </p:cNvPr>
          <p:cNvSpPr>
            <a:spLocks xmlns:a="http://schemas.openxmlformats.org/drawingml/2006/main" noGrp="1"/>
          </p:cNvSpPr>
          <p:nvPr/>
        </p:nvSpPr>
        <p:spPr>
          <a:xfrm xmlns:a="http://schemas.openxmlformats.org/drawingml/2006/main">
            <a:off x="5074912" y="1750000"/>
            <a:ext cx="2011696"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3. Cắt đoạn</a:t>
            </a:r>
          </a:p>
          <a:p xmlns:a="http://schemas.openxmlformats.org/drawingml/2006/main">
            <a:pPr algn="ctr">
              <a:spcBef>
                <a:spcPts val="400"/>
              </a:spcBef>
              <a:buNone/>
            </a:pPr>
            <a:r>
              <a:rPr sz="1050" b="0" i="0">
                <a:solidFill>
                  <a:srgbClr val="505050"/>
                </a:solidFill>
                <a:latin typeface="Times New Roman"/>
                <a:ea typeface="Times New Roman"/>
                <a:cs typeface="Times New Roman"/>
              </a:rPr>
              <a:t>Chia tài liệu dài thành từng đoạn ngắn theo chủ đề để tra đúng trọng tâm</a:t>
            </a:r>
          </a:p>
        </p:txBody>
      </p:sp>
      <p:sp>
        <p:nvSpPr>
          <p:cNvPr id="12" name="Connector 11">
            <a:extLst xmlns:a="http://schemas.openxmlformats.org/drawingml/2006/main">
              <a:ext uri="{FF2B5EF4-FFF2-40B4-BE49-F238E27FC236}">
                <a16:creationId xmlns:a16="http://schemas.microsoft.com/office/drawing/2014/main" id="{72DB9310-737D-4D2A-A053-7CBA1264560F}"/>
              </a:ext>
            </a:extLst>
          </p:cNvPr>
          <p:cNvSpPr>
            <a:spLocks xmlns:a="http://schemas.openxmlformats.org/drawingml/2006/main" noGrp="1"/>
          </p:cNvSpPr>
          <p:nvPr/>
        </p:nvSpPr>
        <p:spPr>
          <a:xfrm xmlns:a="http://schemas.openxmlformats.org/drawingml/2006/main">
            <a:off x="7086608" y="2365000"/>
            <a:ext cx="160000" cy="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3" name="Rounded Rectangle 12">
            <a:extLst xmlns:a="http://schemas.openxmlformats.org/drawingml/2006/main">
              <a:ext uri="{FF2B5EF4-FFF2-40B4-BE49-F238E27FC236}">
                <a16:creationId xmlns:a16="http://schemas.microsoft.com/office/drawing/2014/main" id="{1A4736FD-C30A-4DD7-9B74-5BB5B3130EAA}"/>
              </a:ext>
            </a:extLst>
          </p:cNvPr>
          <p:cNvSpPr>
            <a:spLocks xmlns:a="http://schemas.openxmlformats.org/drawingml/2006/main" noGrp="1"/>
          </p:cNvSpPr>
          <p:nvPr/>
        </p:nvSpPr>
        <p:spPr>
          <a:xfrm xmlns:a="http://schemas.openxmlformats.org/drawingml/2006/main">
            <a:off x="7246608" y="1640000"/>
            <a:ext cx="2011696"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A4FCAE6-88AA-4837-9ACF-4E99B3AC889E}"/>
              </a:ext>
            </a:extLst>
          </p:cNvPr>
          <p:cNvSpPr>
            <a:spLocks xmlns:a="http://schemas.openxmlformats.org/drawingml/2006/main" noGrp="1"/>
          </p:cNvSpPr>
          <p:nvPr/>
        </p:nvSpPr>
        <p:spPr>
          <a:xfrm xmlns:a="http://schemas.openxmlformats.org/drawingml/2006/main">
            <a:off x="7246608" y="1750000"/>
            <a:ext cx="2011696"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4. Gắn nhãn</a:t>
            </a:r>
          </a:p>
          <a:p xmlns:a="http://schemas.openxmlformats.org/drawingml/2006/main">
            <a:pPr algn="ctr">
              <a:spcBef>
                <a:spcPts val="400"/>
              </a:spcBef>
              <a:buNone/>
            </a:pPr>
            <a:r>
              <a:rPr sz="1050" b="0" i="0">
                <a:solidFill>
                  <a:srgbClr val="505050"/>
                </a:solidFill>
                <a:latin typeface="Times New Roman"/>
                <a:ea typeface="Times New Roman"/>
                <a:cs typeface="Times New Roman"/>
              </a:rPr>
              <a:t>Ghi rõ mỗi đoạn thuộc chủ đề nào, lấy từ tài liệu nào, trang bao nhiêu</a:t>
            </a:r>
          </a:p>
        </p:txBody>
      </p:sp>
      <p:sp>
        <p:nvSpPr>
          <p:cNvPr id="15" name="Connector 14">
            <a:extLst xmlns:a="http://schemas.openxmlformats.org/drawingml/2006/main">
              <a:ext uri="{FF2B5EF4-FFF2-40B4-BE49-F238E27FC236}">
                <a16:creationId xmlns:a16="http://schemas.microsoft.com/office/drawing/2014/main" id="{421D51D9-0C7F-436B-9B01-3420A44E8D14}"/>
              </a:ext>
            </a:extLst>
          </p:cNvPr>
          <p:cNvSpPr>
            <a:spLocks xmlns:a="http://schemas.openxmlformats.org/drawingml/2006/main" noGrp="1"/>
          </p:cNvSpPr>
          <p:nvPr/>
        </p:nvSpPr>
        <p:spPr>
          <a:xfrm xmlns:a="http://schemas.openxmlformats.org/drawingml/2006/main">
            <a:off x="9258304" y="2365000"/>
            <a:ext cx="160000" cy="0"/>
          </a:xfrm>
          <a:prstGeom xmlns:a="http://schemas.openxmlformats.org/drawingml/2006/main" prst="line">
            <a:avLst/>
          </a:prstGeom>
          <a:ln xmlns:a="http://schemas.openxmlformats.org/drawingml/2006/main" w="19050">
            <a:solidFill>
              <a:srgbClr val="0F4C81"/>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xmlns:a="http://schemas.openxmlformats.org/drawingml/2006/main">
          <a:bodyPr/>
          <a:p/>
        </p:txBody>
      </p:sp>
      <p:sp>
        <p:nvSpPr>
          <p:cNvPr id="16" name="Rounded Rectangle 15">
            <a:extLst xmlns:a="http://schemas.openxmlformats.org/drawingml/2006/main">
              <a:ext uri="{FF2B5EF4-FFF2-40B4-BE49-F238E27FC236}">
                <a16:creationId xmlns:a16="http://schemas.microsoft.com/office/drawing/2014/main" id="{4CCB68A2-A29A-4D46-9AFF-54B9B3FF0949}"/>
              </a:ext>
            </a:extLst>
          </p:cNvPr>
          <p:cNvSpPr>
            <a:spLocks xmlns:a="http://schemas.openxmlformats.org/drawingml/2006/main" noGrp="1"/>
          </p:cNvSpPr>
          <p:nvPr/>
        </p:nvSpPr>
        <p:spPr>
          <a:xfrm xmlns:a="http://schemas.openxmlformats.org/drawingml/2006/main">
            <a:off x="9418304" y="1640000"/>
            <a:ext cx="2011696"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FD72FFB4-01CD-4739-9AA0-219FCE0D5D0F}"/>
              </a:ext>
            </a:extLst>
          </p:cNvPr>
          <p:cNvSpPr>
            <a:spLocks xmlns:a="http://schemas.openxmlformats.org/drawingml/2006/main" noGrp="1"/>
          </p:cNvSpPr>
          <p:nvPr/>
        </p:nvSpPr>
        <p:spPr>
          <a:xfrm xmlns:a="http://schemas.openxmlformats.org/drawingml/2006/main">
            <a:off x="9418304" y="1750000"/>
            <a:ext cx="2011696"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0F4C81"/>
                </a:solidFill>
                <a:latin typeface="Times New Roman"/>
                <a:ea typeface="Times New Roman"/>
                <a:cs typeface="Times New Roman"/>
              </a:rPr>
              <a:t>5. Đưa vào kho</a:t>
            </a:r>
          </a:p>
          <a:p xmlns:a="http://schemas.openxmlformats.org/drawingml/2006/main">
            <a:pPr algn="ctr">
              <a:spcBef>
                <a:spcPts val="400"/>
              </a:spcBef>
              <a:buNone/>
            </a:pPr>
            <a:r>
              <a:rPr sz="1050" b="0" i="0">
                <a:solidFill>
                  <a:srgbClr val="505050"/>
                </a:solidFill>
                <a:latin typeface="Times New Roman"/>
                <a:ea typeface="Times New Roman"/>
                <a:cs typeface="Times New Roman"/>
              </a:rPr>
              <a:t>Lưu vào kho tra cứu của hệ thống, sẵn sàng phục vụ câu hỏi</a:t>
            </a:r>
          </a:p>
        </p:txBody>
      </p:sp>
      <p:sp>
        <p:nvSpPr>
          <p:cNvPr id="18" name="Rounded Rectangle 17">
            <a:extLst xmlns:a="http://schemas.openxmlformats.org/drawingml/2006/main">
              <a:ext uri="{FF2B5EF4-FFF2-40B4-BE49-F238E27FC236}">
                <a16:creationId xmlns:a16="http://schemas.microsoft.com/office/drawing/2014/main" id="{42CCBB2E-9435-40CB-A7CF-99878BA86861}"/>
              </a:ext>
            </a:extLst>
          </p:cNvPr>
          <p:cNvSpPr>
            <a:spLocks xmlns:a="http://schemas.openxmlformats.org/drawingml/2006/main" noGrp="1"/>
          </p:cNvSpPr>
          <p:nvPr/>
        </p:nvSpPr>
        <p:spPr>
          <a:xfrm xmlns:a="http://schemas.openxmlformats.org/drawingml/2006/main">
            <a:off x="731520" y="3350000"/>
            <a:ext cx="10698480" cy="42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Một đoạn tài liệu sau khi được đưa vào kho</a:t>
            </a:r>
          </a:p>
        </p:txBody>
      </p:sp>
      <p:sp>
        <p:nvSpPr>
          <p:cNvPr id="19" name="Rounded Rectangle 18">
            <a:extLst xmlns:a="http://schemas.openxmlformats.org/drawingml/2006/main">
              <a:ext uri="{FF2B5EF4-FFF2-40B4-BE49-F238E27FC236}">
                <a16:creationId xmlns:a16="http://schemas.microsoft.com/office/drawing/2014/main" id="{5369613A-3D19-4DB9-AF89-00ED4291C63B}"/>
              </a:ext>
            </a:extLst>
          </p:cNvPr>
          <p:cNvSpPr>
            <a:spLocks xmlns:a="http://schemas.openxmlformats.org/drawingml/2006/main" noGrp="1"/>
          </p:cNvSpPr>
          <p:nvPr/>
        </p:nvSpPr>
        <p:spPr>
          <a:xfrm xmlns:a="http://schemas.openxmlformats.org/drawingml/2006/main">
            <a:off x="731520" y="3850000"/>
            <a:ext cx="6250000" cy="1950000"/>
          </a:xfrm>
          <a:prstGeom xmlns:a="http://schemas.openxmlformats.org/drawingml/2006/main" prst="roundRect">
            <a:avLst/>
          </a:prstGeom>
          <a:solidFill xmlns:a="http://schemas.openxmlformats.org/drawingml/2006/main">
            <a:srgbClr val="F7F7F7"/>
          </a:solidFill>
          <a:ln xmlns:a="http://schemas.openxmlformats.org/drawingml/2006/main" w="12700">
            <a:solidFill>
              <a:srgbClr val="A0A0A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42EE79AF-B347-44CF-BDC3-79B74B553936}"/>
              </a:ext>
            </a:extLst>
          </p:cNvPr>
          <p:cNvSpPr>
            <a:spLocks xmlns:a="http://schemas.openxmlformats.org/drawingml/2006/main" noGrp="1"/>
          </p:cNvSpPr>
          <p:nvPr/>
        </p:nvSpPr>
        <p:spPr>
          <a:xfrm xmlns:a="http://schemas.openxmlformats.org/drawingml/2006/main">
            <a:off x="731520" y="3920000"/>
            <a:ext cx="6250000" cy="18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1" i="0">
                <a:solidFill>
                  <a:srgbClr val="0F4C81"/>
                </a:solidFill>
                <a:latin typeface="Times New Roman"/>
                <a:ea typeface="Times New Roman"/>
                <a:cs typeface="Times New Roman"/>
              </a:rPr>
              <a:t>Nội dung: </a:t>
            </a:r>
            <a:r>
              <a:rPr sz="1100" b="0" i="0">
                <a:solidFill>
                  <a:srgbClr val="505050"/>
                </a:solidFill>
                <a:latin typeface="Times New Roman"/>
                <a:ea typeface="Times New Roman"/>
                <a:cs typeface="Times New Roman"/>
              </a:rPr>
              <a:t>“Tổng chi phí tham gia chương trình điều dưỡng Nhật Bản bao gồm phí dịch vụ, phí đào tạo tiếng Nhật, khám sức khoẻ, visa và vé máy bay…”</a:t>
            </a:r>
          </a:p>
          <a:p xmlns:a="http://schemas.openxmlformats.org/drawingml/2006/main">
            <a:pPr algn="l">
              <a:spcBef>
                <a:spcPts val="1000"/>
              </a:spcBef>
              <a:buNone/>
            </a:pPr>
            <a:r>
              <a:rPr sz="1100" b="1" i="0">
                <a:solidFill>
                  <a:srgbClr val="0F4C81"/>
                </a:solidFill>
                <a:latin typeface="Times New Roman"/>
                <a:ea typeface="Times New Roman"/>
                <a:cs typeface="Times New Roman"/>
              </a:rPr>
              <a:t>Chủ đề: </a:t>
            </a:r>
            <a:r>
              <a:rPr sz="1100" b="0" i="0">
                <a:solidFill>
                  <a:srgbClr val="505050"/>
                </a:solidFill>
                <a:latin typeface="Times New Roman"/>
                <a:ea typeface="Times New Roman"/>
                <a:cs typeface="Times New Roman"/>
              </a:rPr>
              <a:t>chi phí</a:t>
            </a:r>
          </a:p>
          <a:p xmlns:a="http://schemas.openxmlformats.org/drawingml/2006/main">
            <a:pPr algn="l">
              <a:spcBef>
                <a:spcPts val="1000"/>
              </a:spcBef>
              <a:buNone/>
            </a:pPr>
            <a:r>
              <a:rPr sz="1100" b="1" i="0">
                <a:solidFill>
                  <a:srgbClr val="0F4C81"/>
                </a:solidFill>
                <a:latin typeface="Times New Roman"/>
                <a:ea typeface="Times New Roman"/>
                <a:cs typeface="Times New Roman"/>
              </a:rPr>
              <a:t>Nguồn: </a:t>
            </a:r>
            <a:r>
              <a:rPr sz="1100" b="0" i="0">
                <a:solidFill>
                  <a:srgbClr val="505050"/>
                </a:solidFill>
                <a:latin typeface="Times New Roman"/>
                <a:ea typeface="Times New Roman"/>
                <a:cs typeface="Times New Roman"/>
              </a:rPr>
              <a:t>Cẩm nang tuyển dụng của công ty, có ghi rõ số trang để đối chiếu lại</a:t>
            </a:r>
          </a:p>
        </p:txBody>
      </p:sp>
      <p:sp>
        <p:nvSpPr>
          <p:cNvPr id="21" name="Rounded Rectangle 20">
            <a:extLst xmlns:a="http://schemas.openxmlformats.org/drawingml/2006/main">
              <a:ext uri="{FF2B5EF4-FFF2-40B4-BE49-F238E27FC236}">
                <a16:creationId xmlns:a16="http://schemas.microsoft.com/office/drawing/2014/main" id="{E71D826F-8E7D-4174-9EA6-BEB70BC27CA8}"/>
              </a:ext>
            </a:extLst>
          </p:cNvPr>
          <p:cNvSpPr>
            <a:spLocks xmlns:a="http://schemas.openxmlformats.org/drawingml/2006/main" noGrp="1"/>
          </p:cNvSpPr>
          <p:nvPr/>
        </p:nvSpPr>
        <p:spPr>
          <a:xfrm xmlns:a="http://schemas.openxmlformats.org/drawingml/2006/main">
            <a:off x="7130000" y="3850000"/>
            <a:ext cx="4300000" cy="195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6F10FAB8-5FAE-4FFA-B7BB-392C2106FC69}"/>
              </a:ext>
            </a:extLst>
          </p:cNvPr>
          <p:cNvSpPr>
            <a:spLocks xmlns:a="http://schemas.openxmlformats.org/drawingml/2006/main" noGrp="1"/>
          </p:cNvSpPr>
          <p:nvPr/>
        </p:nvSpPr>
        <p:spPr>
          <a:xfrm xmlns:a="http://schemas.openxmlformats.org/drawingml/2006/main">
            <a:off x="7130000" y="3920000"/>
            <a:ext cx="4300000" cy="18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1E7A3C"/>
                </a:solidFill>
                <a:latin typeface="Times New Roman"/>
                <a:ea typeface="Times New Roman"/>
                <a:cs typeface="Times New Roman"/>
              </a:rPr>
              <a:t>Vì sao phải cắt đoạn và gắn nhãn?</a:t>
            </a:r>
          </a:p>
          <a:p xmlns:a="http://schemas.openxmlformats.org/drawingml/2006/main">
            <a:pPr algn="l">
              <a:spcBef>
                <a:spcPts val="700"/>
              </a:spcBef>
              <a:buNone/>
            </a:pPr>
            <a:r>
              <a:rPr sz="1100" b="0" i="0">
                <a:solidFill>
                  <a:srgbClr val="505050"/>
                </a:solidFill>
                <a:latin typeface="Times New Roman"/>
                <a:ea typeface="Times New Roman"/>
                <a:cs typeface="Times New Roman"/>
              </a:rPr>
              <a:t>• Cắt đoạn giúp lấy đúng phần liên quan, thay vì đọc cả tài liệu.</a:t>
            </a:r>
          </a:p>
          <a:p xmlns:a="http://schemas.openxmlformats.org/drawingml/2006/main">
            <a:pPr algn="l">
              <a:spcBef>
                <a:spcPts val="700"/>
              </a:spcBef>
              <a:buNone/>
            </a:pPr>
            <a:r>
              <a:rPr sz="1100" b="0" i="0">
                <a:solidFill>
                  <a:srgbClr val="505050"/>
                </a:solidFill>
                <a:latin typeface="Times New Roman"/>
                <a:ea typeface="Times New Roman"/>
                <a:cs typeface="Times New Roman"/>
              </a:rPr>
              <a:t>• Gắn nhãn giúp không lấy nhầm quy định của chương trình khác.</a:t>
            </a:r>
          </a:p>
          <a:p xmlns:a="http://schemas.openxmlformats.org/drawingml/2006/main">
            <a:pPr algn="l">
              <a:spcBef>
                <a:spcPts val="700"/>
              </a:spcBef>
              <a:buNone/>
            </a:pPr>
            <a:r>
              <a:rPr sz="1100" b="0" i="0">
                <a:solidFill>
                  <a:srgbClr val="505050"/>
                </a:solidFill>
                <a:latin typeface="Times New Roman"/>
                <a:ea typeface="Times New Roman"/>
                <a:cs typeface="Times New Roman"/>
              </a:rPr>
              <a:t>• Ghi nguồn và số trang để nhân viên đối chiếu lại khi cần kiểm chứng.</a:t>
            </a:r>
          </a:p>
          <a:p xmlns:a="http://schemas.openxmlformats.org/drawingml/2006/main">
            <a:pPr algn="l">
              <a:spcBef>
                <a:spcPts val="700"/>
              </a:spcBef>
              <a:buNone/>
            </a:pPr>
            <a:r>
              <a:rPr sz="1100" b="0" i="0">
                <a:solidFill>
                  <a:srgbClr val="505050"/>
                </a:solidFill>
                <a:latin typeface="Times New Roman"/>
                <a:ea typeface="Times New Roman"/>
                <a:cs typeface="Times New Roman"/>
              </a:rPr>
              <a:t>• Tài liệu thay đổi thì cập nhật một chỗ, cả hệ thống dùng chung.</a:t>
            </a:r>
          </a:p>
        </p:txBody>
      </p:sp>
    </p:spTree>
    <p:extLst>
      <p:ext uri="{BB962C8B-B14F-4D97-AF65-F5344CB8AC3E}">
        <p14:creationId xmlns:p14="http://schemas.microsoft.com/office/powerpoint/2010/main" val="792609561"/>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C25F7582-E4E1-4147-B6EE-FDBAF5744AF1}"/>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Một cuộc trò chuyện thực tế — hệ thống nhớ và bàn giao ra sao</a:t>
            </a:r>
          </a:p>
        </p:txBody>
      </p:sp>
      <p:sp>
        <p:nvSpPr>
          <p:cNvPr id="3" name="Rounded Rectangle 2">
            <a:extLst xmlns:a="http://schemas.openxmlformats.org/drawingml/2006/main">
              <a:ext uri="{FF2B5EF4-FFF2-40B4-BE49-F238E27FC236}">
                <a16:creationId xmlns:a16="http://schemas.microsoft.com/office/drawing/2014/main" id="{0876FA85-B211-49FA-B5A9-D7AD45E45633}"/>
              </a:ext>
            </a:extLst>
          </p:cNvPr>
          <p:cNvSpPr>
            <a:spLocks xmlns:a="http://schemas.openxmlformats.org/drawingml/2006/main" noGrp="1"/>
          </p:cNvSpPr>
          <p:nvPr/>
        </p:nvSpPr>
        <p:spPr>
          <a:xfrm xmlns:a="http://schemas.openxmlformats.org/drawingml/2006/main">
            <a:off x="731520" y="1150000"/>
            <a:ext cx="560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Diễn biến cuộc trò chuyện</a:t>
            </a:r>
          </a:p>
        </p:txBody>
      </p:sp>
      <p:sp>
        <p:nvSpPr>
          <p:cNvPr id="4" name="Rounded Rectangle 3">
            <a:extLst xmlns:a="http://schemas.openxmlformats.org/drawingml/2006/main">
              <a:ext uri="{FF2B5EF4-FFF2-40B4-BE49-F238E27FC236}">
                <a16:creationId xmlns:a16="http://schemas.microsoft.com/office/drawing/2014/main" id="{62E409FC-8339-4F41-B437-6668FF494B94}"/>
              </a:ext>
            </a:extLst>
          </p:cNvPr>
          <p:cNvSpPr>
            <a:spLocks xmlns:a="http://schemas.openxmlformats.org/drawingml/2006/main" noGrp="1"/>
          </p:cNvSpPr>
          <p:nvPr/>
        </p:nvSpPr>
        <p:spPr>
          <a:xfrm xmlns:a="http://schemas.openxmlformats.org/drawingml/2006/main">
            <a:off x="6560000" y="1150000"/>
            <a:ext cx="4870000" cy="400000"/>
          </a:xfrm>
          <a:prstGeom xmlns:a="http://schemas.openxmlformats.org/drawingml/2006/main" prst="roundRect">
            <a:avLst/>
          </a:prstGeom>
          <a:solidFill xmlns:a="http://schemas.openxmlformats.org/drawingml/2006/main">
            <a:srgbClr val="0F4C8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Hệ thống làm gì phía sau</a:t>
            </a:r>
          </a:p>
        </p:txBody>
      </p:sp>
      <p:sp>
        <p:nvSpPr>
          <p:cNvPr id="5" name="Rounded Rectangle 4">
            <a:extLst xmlns:a="http://schemas.openxmlformats.org/drawingml/2006/main">
              <a:ext uri="{FF2B5EF4-FFF2-40B4-BE49-F238E27FC236}">
                <a16:creationId xmlns:a16="http://schemas.microsoft.com/office/drawing/2014/main" id="{B5AFC5B0-73C4-4DE6-BB20-380E403AFCD5}"/>
              </a:ext>
            </a:extLst>
          </p:cNvPr>
          <p:cNvSpPr>
            <a:spLocks xmlns:a="http://schemas.openxmlformats.org/drawingml/2006/main" noGrp="1"/>
          </p:cNvSpPr>
          <p:nvPr/>
        </p:nvSpPr>
        <p:spPr>
          <a:xfrm xmlns:a="http://schemas.openxmlformats.org/drawingml/2006/main">
            <a:off x="731520" y="1650000"/>
            <a:ext cx="5600000" cy="108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8420C87-90D0-41FF-90FF-3BCABC595C44}"/>
              </a:ext>
            </a:extLst>
          </p:cNvPr>
          <p:cNvSpPr>
            <a:spLocks xmlns:a="http://schemas.openxmlformats.org/drawingml/2006/main" noGrp="1"/>
          </p:cNvSpPr>
          <p:nvPr/>
        </p:nvSpPr>
        <p:spPr>
          <a:xfrm xmlns:a="http://schemas.openxmlformats.org/drawingml/2006/main">
            <a:off x="731520" y="1720000"/>
            <a:ext cx="5600000" cy="10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1">
                <a:solidFill>
                  <a:srgbClr val="505050"/>
                </a:solidFill>
                <a:latin typeface="Times New Roman"/>
                <a:ea typeface="Times New Roman"/>
                <a:cs typeface="Times New Roman"/>
              </a:rPr>
              <a:t>Ứng viên gửi file CV: “Em muốn làm ở viện dưỡng lão khu vực Tokyo ạ.”</a:t>
            </a:r>
          </a:p>
        </p:txBody>
      </p:sp>
      <p:sp>
        <p:nvSpPr>
          <p:cNvPr id="7" name="Rounded Rectangle 6">
            <a:extLst xmlns:a="http://schemas.openxmlformats.org/drawingml/2006/main">
              <a:ext uri="{FF2B5EF4-FFF2-40B4-BE49-F238E27FC236}">
                <a16:creationId xmlns:a16="http://schemas.microsoft.com/office/drawing/2014/main" id="{A267B386-B21B-4EB0-A159-FAAB42990077}"/>
              </a:ext>
            </a:extLst>
          </p:cNvPr>
          <p:cNvSpPr>
            <a:spLocks xmlns:a="http://schemas.openxmlformats.org/drawingml/2006/main" noGrp="1"/>
          </p:cNvSpPr>
          <p:nvPr/>
        </p:nvSpPr>
        <p:spPr>
          <a:xfrm xmlns:a="http://schemas.openxmlformats.org/drawingml/2006/main">
            <a:off x="6560000" y="1650000"/>
            <a:ext cx="4870000" cy="108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11C0D679-402F-49E6-BA59-FC85214FE8FE}"/>
              </a:ext>
            </a:extLst>
          </p:cNvPr>
          <p:cNvSpPr>
            <a:spLocks xmlns:a="http://schemas.openxmlformats.org/drawingml/2006/main" noGrp="1"/>
          </p:cNvSpPr>
          <p:nvPr/>
        </p:nvSpPr>
        <p:spPr>
          <a:xfrm xmlns:a="http://schemas.openxmlformats.org/drawingml/2006/main">
            <a:off x="6560000" y="1720000"/>
            <a:ext cx="4870000" cy="10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Đọc CV, rút ra bằng cấp điều dưỡng và trình độ tiếng Nhật; ghi riêng nguyện vọng khu vực Tokyo và loại hình viện dưỡng lão.</a:t>
            </a:r>
          </a:p>
          <a:p xmlns:a="http://schemas.openxmlformats.org/drawingml/2006/main">
            <a:pPr algn="l">
              <a:spcBef>
                <a:spcPts val="400"/>
              </a:spcBef>
              <a:buNone/>
            </a:pPr>
            <a:r>
              <a:rPr sz="1050" b="1" i="0">
                <a:solidFill>
                  <a:srgbClr val="1E7A3C"/>
                </a:solidFill>
                <a:latin typeface="Times New Roman"/>
                <a:ea typeface="Times New Roman"/>
                <a:cs typeface="Times New Roman"/>
              </a:rPr>
              <a:t>▸ Hồ sơ: đã có bản nháp, chờ xác nhận</a:t>
            </a:r>
          </a:p>
        </p:txBody>
      </p:sp>
      <p:sp>
        <p:nvSpPr>
          <p:cNvPr id="9" name="Rounded Rectangle 8">
            <a:extLst xmlns:a="http://schemas.openxmlformats.org/drawingml/2006/main">
              <a:ext uri="{FF2B5EF4-FFF2-40B4-BE49-F238E27FC236}">
                <a16:creationId xmlns:a16="http://schemas.microsoft.com/office/drawing/2014/main" id="{649C59E8-490A-4C82-AAAD-28DAC45C1DCF}"/>
              </a:ext>
            </a:extLst>
          </p:cNvPr>
          <p:cNvSpPr>
            <a:spLocks xmlns:a="http://schemas.openxmlformats.org/drawingml/2006/main" noGrp="1"/>
          </p:cNvSpPr>
          <p:nvPr/>
        </p:nvSpPr>
        <p:spPr>
          <a:xfrm xmlns:a="http://schemas.openxmlformats.org/drawingml/2006/main">
            <a:off x="731520" y="2860000"/>
            <a:ext cx="5600000" cy="108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30F1388B-C140-4589-BB8E-D638098D7200}"/>
              </a:ext>
            </a:extLst>
          </p:cNvPr>
          <p:cNvSpPr>
            <a:spLocks xmlns:a="http://schemas.openxmlformats.org/drawingml/2006/main" noGrp="1"/>
          </p:cNvSpPr>
          <p:nvPr/>
        </p:nvSpPr>
        <p:spPr>
          <a:xfrm xmlns:a="http://schemas.openxmlformats.org/drawingml/2006/main">
            <a:off x="731520" y="2930000"/>
            <a:ext cx="5600000" cy="10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1">
                <a:solidFill>
                  <a:srgbClr val="505050"/>
                </a:solidFill>
                <a:latin typeface="Times New Roman"/>
                <a:ea typeface="Times New Roman"/>
                <a:cs typeface="Times New Roman"/>
              </a:rPr>
              <a:t>Ứng viên: “Đúng rồi ạ, nhưng em chưa có kinh nghiệm chăm sóc người già.”</a:t>
            </a:r>
          </a:p>
        </p:txBody>
      </p:sp>
      <p:sp>
        <p:nvSpPr>
          <p:cNvPr id="11" name="Rounded Rectangle 10">
            <a:extLst xmlns:a="http://schemas.openxmlformats.org/drawingml/2006/main">
              <a:ext uri="{FF2B5EF4-FFF2-40B4-BE49-F238E27FC236}">
                <a16:creationId xmlns:a16="http://schemas.microsoft.com/office/drawing/2014/main" id="{1FF94344-FEC8-4E4D-98A5-12990B7DF13D}"/>
              </a:ext>
            </a:extLst>
          </p:cNvPr>
          <p:cNvSpPr>
            <a:spLocks xmlns:a="http://schemas.openxmlformats.org/drawingml/2006/main" noGrp="1"/>
          </p:cNvSpPr>
          <p:nvPr/>
        </p:nvSpPr>
        <p:spPr>
          <a:xfrm xmlns:a="http://schemas.openxmlformats.org/drawingml/2006/main">
            <a:off x="6560000" y="2860000"/>
            <a:ext cx="4870000" cy="108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030778C5-C6D1-4D03-9159-BCA9093548D2}"/>
              </a:ext>
            </a:extLst>
          </p:cNvPr>
          <p:cNvSpPr>
            <a:spLocks xmlns:a="http://schemas.openxmlformats.org/drawingml/2006/main" noGrp="1"/>
          </p:cNvSpPr>
          <p:nvPr/>
        </p:nvSpPr>
        <p:spPr>
          <a:xfrm xmlns:a="http://schemas.openxmlformats.org/drawingml/2006/main">
            <a:off x="6560000" y="2930000"/>
            <a:ext cx="4870000" cy="10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Cập nhật lại hồ sơ theo đúng lời ứng viên. Đối chiếu danh mục đơn hàng, loại các đơn đòi hỏi kinh nghiệm, giới thiệu các đơn còn lại kèm lý do từng đơn.</a:t>
            </a:r>
          </a:p>
          <a:p xmlns:a="http://schemas.openxmlformats.org/drawingml/2006/main">
            <a:pPr algn="l">
              <a:spcBef>
                <a:spcPts val="400"/>
              </a:spcBef>
              <a:buNone/>
            </a:pPr>
            <a:r>
              <a:rPr sz="1050" b="1" i="0">
                <a:solidFill>
                  <a:srgbClr val="1E7A3C"/>
                </a:solidFill>
                <a:latin typeface="Times New Roman"/>
                <a:ea typeface="Times New Roman"/>
                <a:cs typeface="Times New Roman"/>
              </a:rPr>
              <a:t>▸ Hồ sơ: đã xác nhận · đã giới thiệu đơn hàng</a:t>
            </a:r>
          </a:p>
        </p:txBody>
      </p:sp>
      <p:sp>
        <p:nvSpPr>
          <p:cNvPr id="13" name="Rounded Rectangle 12">
            <a:extLst xmlns:a="http://schemas.openxmlformats.org/drawingml/2006/main">
              <a:ext uri="{FF2B5EF4-FFF2-40B4-BE49-F238E27FC236}">
                <a16:creationId xmlns:a16="http://schemas.microsoft.com/office/drawing/2014/main" id="{A0958609-9DB4-4306-BC10-1F2CB4D66276}"/>
              </a:ext>
            </a:extLst>
          </p:cNvPr>
          <p:cNvSpPr>
            <a:spLocks xmlns:a="http://schemas.openxmlformats.org/drawingml/2006/main" noGrp="1"/>
          </p:cNvSpPr>
          <p:nvPr/>
        </p:nvSpPr>
        <p:spPr>
          <a:xfrm xmlns:a="http://schemas.openxmlformats.org/drawingml/2006/main">
            <a:off x="731520" y="4070000"/>
            <a:ext cx="5600000" cy="108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A6626FD8-2FBF-4580-B0A1-F51D6C33B082}"/>
              </a:ext>
            </a:extLst>
          </p:cNvPr>
          <p:cNvSpPr>
            <a:spLocks xmlns:a="http://schemas.openxmlformats.org/drawingml/2006/main" noGrp="1"/>
          </p:cNvSpPr>
          <p:nvPr/>
        </p:nvSpPr>
        <p:spPr>
          <a:xfrm xmlns:a="http://schemas.openxmlformats.org/drawingml/2006/main">
            <a:off x="731520" y="4140000"/>
            <a:ext cx="5600000" cy="10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1">
                <a:solidFill>
                  <a:srgbClr val="505050"/>
                </a:solidFill>
                <a:latin typeface="Times New Roman"/>
                <a:ea typeface="Times New Roman"/>
                <a:cs typeface="Times New Roman"/>
              </a:rPr>
              <a:t>Ứng viên: “Thế cái đơn đầu tiên đó chi phí hết bao nhiêu ạ?”</a:t>
            </a:r>
          </a:p>
        </p:txBody>
      </p:sp>
      <p:sp>
        <p:nvSpPr>
          <p:cNvPr id="15" name="Rounded Rectangle 14">
            <a:extLst xmlns:a="http://schemas.openxmlformats.org/drawingml/2006/main">
              <a:ext uri="{FF2B5EF4-FFF2-40B4-BE49-F238E27FC236}">
                <a16:creationId xmlns:a16="http://schemas.microsoft.com/office/drawing/2014/main" id="{477EDF7F-9B3E-4C80-902F-E8D09B52DBD1}"/>
              </a:ext>
            </a:extLst>
          </p:cNvPr>
          <p:cNvSpPr>
            <a:spLocks xmlns:a="http://schemas.openxmlformats.org/drawingml/2006/main" noGrp="1"/>
          </p:cNvSpPr>
          <p:nvPr/>
        </p:nvSpPr>
        <p:spPr>
          <a:xfrm xmlns:a="http://schemas.openxmlformats.org/drawingml/2006/main">
            <a:off x="6560000" y="4070000"/>
            <a:ext cx="4870000" cy="108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4A8F7919-46E1-48D0-AF26-23B69FFCA446}"/>
              </a:ext>
            </a:extLst>
          </p:cNvPr>
          <p:cNvSpPr>
            <a:spLocks xmlns:a="http://schemas.openxmlformats.org/drawingml/2006/main" noGrp="1"/>
          </p:cNvSpPr>
          <p:nvPr/>
        </p:nvSpPr>
        <p:spPr>
          <a:xfrm xmlns:a="http://schemas.openxmlformats.org/drawingml/2006/main">
            <a:off x="6560000" y="4140000"/>
            <a:ext cx="4870000" cy="10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Hiểu “cái đơn đầu tiên đó” là đơn vừa giới thiệu ở lượt trước, không bắt hỏi lại từ đầu. Tra tài liệu chi phí chính thức để trả lời.</a:t>
            </a:r>
          </a:p>
          <a:p xmlns:a="http://schemas.openxmlformats.org/drawingml/2006/main">
            <a:pPr algn="l">
              <a:spcBef>
                <a:spcPts val="400"/>
              </a:spcBef>
              <a:buNone/>
            </a:pPr>
            <a:r>
              <a:rPr sz="1050" b="1" i="0">
                <a:solidFill>
                  <a:srgbClr val="1E7A3C"/>
                </a:solidFill>
                <a:latin typeface="Times New Roman"/>
                <a:ea typeface="Times New Roman"/>
                <a:cs typeface="Times New Roman"/>
              </a:rPr>
              <a:t>▸ Ngữ cảnh: giữ nguyên trong cùng cuộc trò chuyện</a:t>
            </a:r>
          </a:p>
        </p:txBody>
      </p:sp>
      <p:sp>
        <p:nvSpPr>
          <p:cNvPr id="17" name="Rounded Rectangle 16">
            <a:extLst xmlns:a="http://schemas.openxmlformats.org/drawingml/2006/main">
              <a:ext uri="{FF2B5EF4-FFF2-40B4-BE49-F238E27FC236}">
                <a16:creationId xmlns:a16="http://schemas.microsoft.com/office/drawing/2014/main" id="{D5D9F963-F63F-45BD-B682-28FBF01A51BA}"/>
              </a:ext>
            </a:extLst>
          </p:cNvPr>
          <p:cNvSpPr>
            <a:spLocks xmlns:a="http://schemas.openxmlformats.org/drawingml/2006/main" noGrp="1"/>
          </p:cNvSpPr>
          <p:nvPr/>
        </p:nvSpPr>
        <p:spPr>
          <a:xfrm xmlns:a="http://schemas.openxmlformats.org/drawingml/2006/main">
            <a:off x="731520" y="5280000"/>
            <a:ext cx="5600000" cy="108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554FF809-C5F4-46C9-BDE2-95EA50D58BD5}"/>
              </a:ext>
            </a:extLst>
          </p:cNvPr>
          <p:cNvSpPr>
            <a:spLocks xmlns:a="http://schemas.openxmlformats.org/drawingml/2006/main" noGrp="1"/>
          </p:cNvSpPr>
          <p:nvPr/>
        </p:nvSpPr>
        <p:spPr>
          <a:xfrm xmlns:a="http://schemas.openxmlformats.org/drawingml/2006/main">
            <a:off x="731520" y="5350000"/>
            <a:ext cx="5600000" cy="10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1">
                <a:solidFill>
                  <a:srgbClr val="505050"/>
                </a:solidFill>
                <a:latin typeface="Times New Roman"/>
                <a:ea typeface="Times New Roman"/>
                <a:cs typeface="Times New Roman"/>
              </a:rPr>
              <a:t>Ứng viên: “Em muốn nói chuyện trực tiếp với nhân viên tư vấn ạ.”</a:t>
            </a:r>
          </a:p>
        </p:txBody>
      </p:sp>
      <p:sp>
        <p:nvSpPr>
          <p:cNvPr id="19" name="Rounded Rectangle 18">
            <a:extLst xmlns:a="http://schemas.openxmlformats.org/drawingml/2006/main">
              <a:ext uri="{FF2B5EF4-FFF2-40B4-BE49-F238E27FC236}">
                <a16:creationId xmlns:a16="http://schemas.microsoft.com/office/drawing/2014/main" id="{20E70E3F-7A62-44C4-8347-FA249403A7C8}"/>
              </a:ext>
            </a:extLst>
          </p:cNvPr>
          <p:cNvSpPr>
            <a:spLocks xmlns:a="http://schemas.openxmlformats.org/drawingml/2006/main" noGrp="1"/>
          </p:cNvSpPr>
          <p:nvPr/>
        </p:nvSpPr>
        <p:spPr>
          <a:xfrm xmlns:a="http://schemas.openxmlformats.org/drawingml/2006/main">
            <a:off x="6560000" y="5280000"/>
            <a:ext cx="4870000" cy="108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C6E13F7D-94E5-4710-815B-88759B24ACF0}"/>
              </a:ext>
            </a:extLst>
          </p:cNvPr>
          <p:cNvSpPr>
            <a:spLocks xmlns:a="http://schemas.openxmlformats.org/drawingml/2006/main" noGrp="1"/>
          </p:cNvSpPr>
          <p:nvPr/>
        </p:nvSpPr>
        <p:spPr>
          <a:xfrm xmlns:a="http://schemas.openxmlformats.org/drawingml/2006/main">
            <a:off x="6560000" y="5350000"/>
            <a:ext cx="4870000" cy="10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0" i="0">
                <a:solidFill>
                  <a:srgbClr val="505050"/>
                </a:solidFill>
                <a:latin typeface="Times New Roman"/>
                <a:ea typeface="Times New Roman"/>
                <a:cs typeface="Times New Roman"/>
              </a:rPr>
              <a:t>Hỏi xác nhận đơn ứng viên lựa chọn, tạo đăng ký sơ bộ và phiếu tóm tắt gồm hồ sơ, CV, hội thoại, tiêu chí còn thiếu và lịch hẹn; sau đó đưa vào hàng đợi nhân viên.</a:t>
            </a:r>
          </a:p>
          <a:p xmlns:a="http://schemas.openxmlformats.org/drawingml/2006/main">
            <a:pPr algn="l">
              <a:spcBef>
                <a:spcPts val="400"/>
              </a:spcBef>
              <a:buNone/>
            </a:pPr>
            <a:r>
              <a:rPr sz="1050" b="1" i="0">
                <a:solidFill>
                  <a:srgbClr val="C06A00"/>
                </a:solidFill>
                <a:latin typeface="Times New Roman"/>
                <a:ea typeface="Times New Roman"/>
                <a:cs typeface="Times New Roman"/>
              </a:rPr>
              <a:t>▸ Bàn giao: Chờ nhân viên tiếp nhận</a:t>
            </a:r>
          </a:p>
        </p:txBody>
      </p:sp>
    </p:spTree>
    <p:extLst>
      <p:ext uri="{BB962C8B-B14F-4D97-AF65-F5344CB8AC3E}">
        <p14:creationId xmlns:p14="http://schemas.microsoft.com/office/powerpoint/2010/main" val="1423875513"/>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F409007-FD42-4A4C-A725-BC7EAD3CE2D0}"/>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Vì sao không dùng thẳng một trợ lý trò chuyện có sẵn?</a:t>
            </a:r>
          </a:p>
        </p:txBody>
      </p:sp>
      <p:sp>
        <p:nvSpPr>
          <p:cNvPr id="3" name="TextBox 2">
            <a:extLst xmlns:a="http://schemas.openxmlformats.org/drawingml/2006/main">
              <a:ext uri="{FF2B5EF4-FFF2-40B4-BE49-F238E27FC236}">
                <a16:creationId xmlns:a16="http://schemas.microsoft.com/office/drawing/2014/main" id="{A9BD4FD9-6719-4CDB-9FE0-369CF82989CC}"/>
              </a:ext>
            </a:extLst>
          </p:cNvPr>
          <p:cNvSpPr>
            <a:spLocks xmlns:a="http://schemas.openxmlformats.org/drawingml/2006/main" noGrp="1"/>
          </p:cNvSpPr>
          <p:nvPr/>
        </p:nvSpPr>
        <p:spPr>
          <a:xfrm xmlns:a="http://schemas.openxmlformats.org/drawingml/2006/main">
            <a:off x="731520" y="1120000"/>
            <a:ext cx="10698480" cy="42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300" b="0" i="1">
                <a:solidFill>
                  <a:srgbClr val="0F4C81"/>
                </a:solidFill>
                <a:latin typeface="Times New Roman"/>
                <a:ea typeface="Times New Roman"/>
                <a:cs typeface="Times New Roman"/>
              </a:rPr>
              <a:t>Phần trí tuệ nhân tạo chịu trách nhiệm diễn đạt câu trả lời cho dễ hiểu. Phần quyết định nghiệp vụ do quy tắc rõ ràng đảm nhiệm và ghi lại được.</a:t>
            </a:r>
          </a:p>
        </p:txBody>
      </p:sp>
      <p:sp>
        <p:nvSpPr>
          <p:cNvPr id="4" name="Rounded Rectangle 3">
            <a:extLst xmlns:a="http://schemas.openxmlformats.org/drawingml/2006/main">
              <a:ext uri="{FF2B5EF4-FFF2-40B4-BE49-F238E27FC236}">
                <a16:creationId xmlns:a16="http://schemas.microsoft.com/office/drawing/2014/main" id="{0C435F22-5FF6-441D-86CC-C90CE0053DA0}"/>
              </a:ext>
            </a:extLst>
          </p:cNvPr>
          <p:cNvSpPr>
            <a:spLocks xmlns:a="http://schemas.openxmlformats.org/drawingml/2006/main" noGrp="1"/>
          </p:cNvSpPr>
          <p:nvPr/>
        </p:nvSpPr>
        <p:spPr>
          <a:xfrm xmlns:a="http://schemas.openxmlformats.org/drawingml/2006/main">
            <a:off x="731520" y="1700000"/>
            <a:ext cx="5274240"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0B85224-5D8E-45D8-9DDA-4217414D2549}"/>
              </a:ext>
            </a:extLst>
          </p:cNvPr>
          <p:cNvSpPr>
            <a:spLocks xmlns:a="http://schemas.openxmlformats.org/drawingml/2006/main" noGrp="1"/>
          </p:cNvSpPr>
          <p:nvPr/>
        </p:nvSpPr>
        <p:spPr>
          <a:xfrm xmlns:a="http://schemas.openxmlformats.org/drawingml/2006/main">
            <a:off x="731520" y="1800000"/>
            <a:ext cx="5274240"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  Chỉ nói điều có trong tài liệu công ty</a:t>
            </a:r>
          </a:p>
          <a:p xmlns:a="http://schemas.openxmlformats.org/drawingml/2006/main">
            <a:pPr algn="l">
              <a:spcBef>
                <a:spcPts val="600"/>
              </a:spcBef>
              <a:buNone/>
            </a:pPr>
            <a:r>
              <a:rPr sz="1100" b="0" i="0">
                <a:solidFill>
                  <a:srgbClr val="505050"/>
                </a:solidFill>
                <a:latin typeface="Times New Roman"/>
                <a:ea typeface="Times New Roman"/>
                <a:cs typeface="Times New Roman"/>
              </a:rPr>
              <a:t>Hệ thống không trả lời theo hiểu biết chung chung ngoài đời. Không tìm được căn cứ thì nói rõ là chưa có thông tin và mời gặp nhân viên.</a:t>
            </a:r>
          </a:p>
        </p:txBody>
      </p:sp>
      <p:sp>
        <p:nvSpPr>
          <p:cNvPr id="6" name="Rounded Rectangle 5">
            <a:extLst xmlns:a="http://schemas.openxmlformats.org/drawingml/2006/main">
              <a:ext uri="{FF2B5EF4-FFF2-40B4-BE49-F238E27FC236}">
                <a16:creationId xmlns:a16="http://schemas.microsoft.com/office/drawing/2014/main" id="{27B0B828-4C71-4D12-9D07-5D24E7F4603A}"/>
              </a:ext>
            </a:extLst>
          </p:cNvPr>
          <p:cNvSpPr>
            <a:spLocks xmlns:a="http://schemas.openxmlformats.org/drawingml/2006/main" noGrp="1"/>
          </p:cNvSpPr>
          <p:nvPr/>
        </p:nvSpPr>
        <p:spPr>
          <a:xfrm xmlns:a="http://schemas.openxmlformats.org/drawingml/2006/main">
            <a:off x="6155760" y="1700000"/>
            <a:ext cx="5274240"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FAAFDA2-21ED-478C-95F5-2ACA9CA6DAD5}"/>
              </a:ext>
            </a:extLst>
          </p:cNvPr>
          <p:cNvSpPr>
            <a:spLocks xmlns:a="http://schemas.openxmlformats.org/drawingml/2006/main" noGrp="1"/>
          </p:cNvSpPr>
          <p:nvPr/>
        </p:nvSpPr>
        <p:spPr>
          <a:xfrm xmlns:a="http://schemas.openxmlformats.org/drawingml/2006/main">
            <a:off x="6155760" y="1800000"/>
            <a:ext cx="5274240"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  Điều kiện đơn hàng do quy tắc quyết định</a:t>
            </a:r>
          </a:p>
          <a:p xmlns:a="http://schemas.openxmlformats.org/drawingml/2006/main">
            <a:pPr algn="l">
              <a:spcBef>
                <a:spcPts val="600"/>
              </a:spcBef>
              <a:buNone/>
            </a:pPr>
            <a:r>
              <a:rPr sz="1100" b="0" i="0">
                <a:solidFill>
                  <a:srgbClr val="505050"/>
                </a:solidFill>
                <a:latin typeface="Times New Roman"/>
                <a:ea typeface="Times New Roman"/>
                <a:cs typeface="Times New Roman"/>
              </a:rPr>
              <a:t>Trình độ tiếng, bằng cấp, độ tuổi được đối chiếu bằng quy tắc rõ ràng, không phải do máy phán đoán. Cùng hồ sơ luôn cho cùng kết quả.</a:t>
            </a:r>
          </a:p>
        </p:txBody>
      </p:sp>
      <p:sp>
        <p:nvSpPr>
          <p:cNvPr id="8" name="Rounded Rectangle 7">
            <a:extLst xmlns:a="http://schemas.openxmlformats.org/drawingml/2006/main">
              <a:ext uri="{FF2B5EF4-FFF2-40B4-BE49-F238E27FC236}">
                <a16:creationId xmlns:a16="http://schemas.microsoft.com/office/drawing/2014/main" id="{6716E8EB-199A-409E-9FF8-D90005D3E285}"/>
              </a:ext>
            </a:extLst>
          </p:cNvPr>
          <p:cNvSpPr>
            <a:spLocks xmlns:a="http://schemas.openxmlformats.org/drawingml/2006/main" noGrp="1"/>
          </p:cNvSpPr>
          <p:nvPr/>
        </p:nvSpPr>
        <p:spPr>
          <a:xfrm xmlns:a="http://schemas.openxmlformats.org/drawingml/2006/main">
            <a:off x="731520" y="3310000"/>
            <a:ext cx="5274240"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2D73B9F-C8F3-428C-9DAB-E6AA654480F5}"/>
              </a:ext>
            </a:extLst>
          </p:cNvPr>
          <p:cNvSpPr>
            <a:spLocks xmlns:a="http://schemas.openxmlformats.org/drawingml/2006/main" noGrp="1"/>
          </p:cNvSpPr>
          <p:nvPr/>
        </p:nvSpPr>
        <p:spPr>
          <a:xfrm xmlns:a="http://schemas.openxmlformats.org/drawingml/2006/main">
            <a:off x="731520" y="3410000"/>
            <a:ext cx="5274240"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  Mọi giới thiệu đều giải thích được</a:t>
            </a:r>
          </a:p>
          <a:p xmlns:a="http://schemas.openxmlformats.org/drawingml/2006/main">
            <a:pPr algn="l">
              <a:spcBef>
                <a:spcPts val="600"/>
              </a:spcBef>
              <a:buNone/>
            </a:pPr>
            <a:r>
              <a:rPr sz="1100" b="0" i="0">
                <a:solidFill>
                  <a:srgbClr val="505050"/>
                </a:solidFill>
                <a:latin typeface="Times New Roman"/>
                <a:ea typeface="Times New Roman"/>
                <a:cs typeface="Times New Roman"/>
              </a:rPr>
              <a:t>Từng tiêu chí đạt hay không đều được ghi lại và xem lại được bất cứ lúc nào trên màn hình nhật ký giới thiệu.</a:t>
            </a:r>
          </a:p>
        </p:txBody>
      </p:sp>
      <p:sp>
        <p:nvSpPr>
          <p:cNvPr id="10" name="Rounded Rectangle 9">
            <a:extLst xmlns:a="http://schemas.openxmlformats.org/drawingml/2006/main">
              <a:ext uri="{FF2B5EF4-FFF2-40B4-BE49-F238E27FC236}">
                <a16:creationId xmlns:a16="http://schemas.microsoft.com/office/drawing/2014/main" id="{840BFCC7-1578-4276-9003-2311E8A1C177}"/>
              </a:ext>
            </a:extLst>
          </p:cNvPr>
          <p:cNvSpPr>
            <a:spLocks xmlns:a="http://schemas.openxmlformats.org/drawingml/2006/main" noGrp="1"/>
          </p:cNvSpPr>
          <p:nvPr/>
        </p:nvSpPr>
        <p:spPr>
          <a:xfrm xmlns:a="http://schemas.openxmlformats.org/drawingml/2006/main">
            <a:off x="6155760" y="3310000"/>
            <a:ext cx="5274240"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D93708FE-ACD4-4917-A25F-7C519AE9C440}"/>
              </a:ext>
            </a:extLst>
          </p:cNvPr>
          <p:cNvSpPr>
            <a:spLocks xmlns:a="http://schemas.openxmlformats.org/drawingml/2006/main" noGrp="1"/>
          </p:cNvSpPr>
          <p:nvPr/>
        </p:nvSpPr>
        <p:spPr>
          <a:xfrm xmlns:a="http://schemas.openxmlformats.org/drawingml/2006/main">
            <a:off x="6155760" y="3410000"/>
            <a:ext cx="5274240"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  Không suy diễn về con người</a:t>
            </a:r>
          </a:p>
          <a:p xmlns:a="http://schemas.openxmlformats.org/drawingml/2006/main">
            <a:pPr algn="l">
              <a:spcBef>
                <a:spcPts val="600"/>
              </a:spcBef>
              <a:buNone/>
            </a:pPr>
            <a:r>
              <a:rPr sz="1100" b="0" i="0">
                <a:solidFill>
                  <a:srgbClr val="505050"/>
                </a:solidFill>
                <a:latin typeface="Times New Roman"/>
                <a:ea typeface="Times New Roman"/>
                <a:cs typeface="Times New Roman"/>
              </a:rPr>
              <a:t>Hệ thống chỉ ghi lại điều có trên giấy tờ hoặc do ứng viên nói. Không nhận xét tính cách, thái độ hay tiềm năng.</a:t>
            </a:r>
          </a:p>
        </p:txBody>
      </p:sp>
      <p:sp>
        <p:nvSpPr>
          <p:cNvPr id="12" name="Rounded Rectangle 11">
            <a:extLst xmlns:a="http://schemas.openxmlformats.org/drawingml/2006/main">
              <a:ext uri="{FF2B5EF4-FFF2-40B4-BE49-F238E27FC236}">
                <a16:creationId xmlns:a16="http://schemas.microsoft.com/office/drawing/2014/main" id="{FAA4F494-1E37-44F8-A874-7B8E5A09052D}"/>
              </a:ext>
            </a:extLst>
          </p:cNvPr>
          <p:cNvSpPr>
            <a:spLocks xmlns:a="http://schemas.openxmlformats.org/drawingml/2006/main" noGrp="1"/>
          </p:cNvSpPr>
          <p:nvPr/>
        </p:nvSpPr>
        <p:spPr>
          <a:xfrm xmlns:a="http://schemas.openxmlformats.org/drawingml/2006/main">
            <a:off x="731520" y="4920000"/>
            <a:ext cx="5274240"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66C58D1-FD50-4D6C-98DF-2EACD97E9B3C}"/>
              </a:ext>
            </a:extLst>
          </p:cNvPr>
          <p:cNvSpPr>
            <a:spLocks xmlns:a="http://schemas.openxmlformats.org/drawingml/2006/main" noGrp="1"/>
          </p:cNvSpPr>
          <p:nvPr/>
        </p:nvSpPr>
        <p:spPr>
          <a:xfrm xmlns:a="http://schemas.openxmlformats.org/drawingml/2006/main">
            <a:off x="731520" y="5020000"/>
            <a:ext cx="5274240"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  Người quyết định cuối là nhân viên</a:t>
            </a:r>
          </a:p>
          <a:p xmlns:a="http://schemas.openxmlformats.org/drawingml/2006/main">
            <a:pPr algn="l">
              <a:spcBef>
                <a:spcPts val="600"/>
              </a:spcBef>
              <a:buNone/>
            </a:pPr>
            <a:r>
              <a:rPr sz="1100" b="0" i="0">
                <a:solidFill>
                  <a:srgbClr val="505050"/>
                </a:solidFill>
                <a:latin typeface="Times New Roman"/>
                <a:ea typeface="Times New Roman"/>
                <a:cs typeface="Times New Roman"/>
              </a:rPr>
              <a:t>Hệ thống sơ tuyển và đề xuất. Nhận hay loại ứng viên là quyền của con người.</a:t>
            </a:r>
          </a:p>
        </p:txBody>
      </p:sp>
      <p:sp>
        <p:nvSpPr>
          <p:cNvPr id="14" name="Rounded Rectangle 13">
            <a:extLst xmlns:a="http://schemas.openxmlformats.org/drawingml/2006/main">
              <a:ext uri="{FF2B5EF4-FFF2-40B4-BE49-F238E27FC236}">
                <a16:creationId xmlns:a16="http://schemas.microsoft.com/office/drawing/2014/main" id="{52BBA081-9809-4913-A962-AC7C8D4630D9}"/>
              </a:ext>
            </a:extLst>
          </p:cNvPr>
          <p:cNvSpPr>
            <a:spLocks xmlns:a="http://schemas.openxmlformats.org/drawingml/2006/main" noGrp="1"/>
          </p:cNvSpPr>
          <p:nvPr/>
        </p:nvSpPr>
        <p:spPr>
          <a:xfrm xmlns:a="http://schemas.openxmlformats.org/drawingml/2006/main">
            <a:off x="6155760" y="4920000"/>
            <a:ext cx="5274240" cy="1450000"/>
          </a:xfrm>
          <a:prstGeom xmlns:a="http://schemas.openxmlformats.org/drawingml/2006/main" prst="roundRect">
            <a:avLst/>
          </a:prstGeom>
          <a:solidFill xmlns:a="http://schemas.openxmlformats.org/drawingml/2006/main">
            <a:srgbClr val="F0F4F8"/>
          </a:solidFill>
          <a:ln xmlns:a="http://schemas.openxmlformats.org/drawingml/2006/main" w="12700">
            <a:solidFill>
              <a:srgbClr val="0F4C8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DD589EDF-3BB3-44B7-AA6D-5A0FB821558B}"/>
              </a:ext>
            </a:extLst>
          </p:cNvPr>
          <p:cNvSpPr>
            <a:spLocks xmlns:a="http://schemas.openxmlformats.org/drawingml/2006/main" noGrp="1"/>
          </p:cNvSpPr>
          <p:nvPr/>
        </p:nvSpPr>
        <p:spPr>
          <a:xfrm xmlns:a="http://schemas.openxmlformats.org/drawingml/2006/main">
            <a:off x="6155760" y="5020000"/>
            <a:ext cx="5274240" cy="145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1" i="0">
                <a:solidFill>
                  <a:srgbClr val="0F4C81"/>
                </a:solidFill>
                <a:latin typeface="Times New Roman"/>
                <a:ea typeface="Times New Roman"/>
                <a:cs typeface="Times New Roman"/>
              </a:rPr>
              <a:t>✓  Tách bạch công khai và nội bộ</a:t>
            </a:r>
          </a:p>
          <a:p xmlns:a="http://schemas.openxmlformats.org/drawingml/2006/main">
            <a:pPr algn="l">
              <a:spcBef>
                <a:spcPts val="600"/>
              </a:spcBef>
              <a:buNone/>
            </a:pPr>
            <a:r>
              <a:rPr sz="1100" b="0" i="0">
                <a:solidFill>
                  <a:srgbClr val="505050"/>
                </a:solidFill>
                <a:latin typeface="Times New Roman"/>
                <a:ea typeface="Times New Roman"/>
                <a:cs typeface="Times New Roman"/>
              </a:rPr>
              <a:t>Khung chat công khai không có đường truy cập tới dữ liệu nội bộ của công ty.</a:t>
            </a:r>
          </a:p>
        </p:txBody>
      </p:sp>
    </p:spTree>
    <p:extLst>
      <p:ext uri="{BB962C8B-B14F-4D97-AF65-F5344CB8AC3E}">
        <p14:creationId xmlns:p14="http://schemas.microsoft.com/office/powerpoint/2010/main" val="54962998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601E965-620F-41D0-98BB-AB07FE7CBD8D}"/>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400" b="1">
                <a:solidFill>
                  <a:srgbClr val="0F4C81"/>
                </a:solidFill>
                <a:latin typeface="Times New Roman"/>
                <a:ea typeface="Times New Roman"/>
                <a:cs typeface="Times New Roman"/>
              </a:rPr>
              <a:t>Trạng thái hiện tại và phần việc còn lại</a:t>
            </a:r>
          </a:p>
        </p:txBody>
      </p:sp>
      <p:sp>
        <p:nvSpPr>
          <p:cNvPr id="3" name="TextBox 2">
            <a:extLst xmlns:a="http://schemas.openxmlformats.org/drawingml/2006/main">
              <a:ext uri="{FF2B5EF4-FFF2-40B4-BE49-F238E27FC236}">
                <a16:creationId xmlns:a16="http://schemas.microsoft.com/office/drawing/2014/main" id="{CA10081A-69D6-45D6-A16F-E075122415CE}"/>
              </a:ext>
            </a:extLst>
          </p:cNvPr>
          <p:cNvSpPr>
            <a:spLocks xmlns:a="http://schemas.openxmlformats.org/drawingml/2006/main" noGrp="1"/>
          </p:cNvSpPr>
          <p:nvPr/>
        </p:nvSpPr>
        <p:spPr>
          <a:xfrm xmlns:a="http://schemas.openxmlformats.org/drawingml/2006/main">
            <a:off x="731520" y="1120000"/>
            <a:ext cx="10698480" cy="38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300" b="0" i="1">
                <a:solidFill>
                  <a:srgbClr val="0F4C81"/>
                </a:solidFill>
                <a:latin typeface="Times New Roman"/>
                <a:ea typeface="Times New Roman"/>
                <a:cs typeface="Times New Roman"/>
              </a:rPr>
              <a:t>Phần đã xong là nền móng. Phần còn thiếu chính là chuỗi giá trị trọng tâm của đề tài.</a:t>
            </a:r>
          </a:p>
        </p:txBody>
      </p:sp>
      <p:sp>
        <p:nvSpPr>
          <p:cNvPr id="4" name="Rounded Rectangle 3">
            <a:extLst xmlns:a="http://schemas.openxmlformats.org/drawingml/2006/main">
              <a:ext uri="{FF2B5EF4-FFF2-40B4-BE49-F238E27FC236}">
                <a16:creationId xmlns:a16="http://schemas.microsoft.com/office/drawing/2014/main" id="{F7B1F281-9818-450A-AB3D-89155C934F72}"/>
              </a:ext>
            </a:extLst>
          </p:cNvPr>
          <p:cNvSpPr>
            <a:spLocks xmlns:a="http://schemas.openxmlformats.org/drawingml/2006/main" noGrp="1"/>
          </p:cNvSpPr>
          <p:nvPr/>
        </p:nvSpPr>
        <p:spPr>
          <a:xfrm xmlns:a="http://schemas.openxmlformats.org/drawingml/2006/main">
            <a:off x="731520" y="1600000"/>
            <a:ext cx="5150000" cy="420000"/>
          </a:xfrm>
          <a:prstGeom xmlns:a="http://schemas.openxmlformats.org/drawingml/2006/main" prst="roundRect">
            <a:avLst/>
          </a:prstGeom>
          <a:solidFill xmlns:a="http://schemas.openxmlformats.org/drawingml/2006/main">
            <a:srgbClr val="1E7A3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ĐÃ HOÀN THÀNH VÀ CHẠY ĐƯỢC</a:t>
            </a:r>
          </a:p>
        </p:txBody>
      </p:sp>
      <p:sp>
        <p:nvSpPr>
          <p:cNvPr id="5" name="Rounded Rectangle 4">
            <a:extLst xmlns:a="http://schemas.openxmlformats.org/drawingml/2006/main">
              <a:ext uri="{FF2B5EF4-FFF2-40B4-BE49-F238E27FC236}">
                <a16:creationId xmlns:a16="http://schemas.microsoft.com/office/drawing/2014/main" id="{C39EAD01-C865-464F-A676-954D9301EB12}"/>
              </a:ext>
            </a:extLst>
          </p:cNvPr>
          <p:cNvSpPr>
            <a:spLocks xmlns:a="http://schemas.openxmlformats.org/drawingml/2006/main" noGrp="1"/>
          </p:cNvSpPr>
          <p:nvPr/>
        </p:nvSpPr>
        <p:spPr>
          <a:xfrm xmlns:a="http://schemas.openxmlformats.org/drawingml/2006/main">
            <a:off x="731520" y="2100000"/>
            <a:ext cx="5150000" cy="3350000"/>
          </a:xfrm>
          <a:prstGeom xmlns:a="http://schemas.openxmlformats.org/drawingml/2006/main" prst="roundRect">
            <a:avLst/>
          </a:prstGeom>
          <a:solidFill xmlns:a="http://schemas.openxmlformats.org/drawingml/2006/main">
            <a:srgbClr val="ECF7F0"/>
          </a:solidFill>
          <a:ln xmlns:a="http://schemas.openxmlformats.org/drawingml/2006/main" w="12700">
            <a:solidFill>
              <a:srgbClr val="1E7A3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4B7D8BCD-48C9-4EE7-806D-E06AC6EB95F9}"/>
              </a:ext>
            </a:extLst>
          </p:cNvPr>
          <p:cNvSpPr>
            <a:spLocks xmlns:a="http://schemas.openxmlformats.org/drawingml/2006/main" noGrp="1"/>
          </p:cNvSpPr>
          <p:nvPr/>
        </p:nvSpPr>
        <p:spPr>
          <a:xfrm xmlns:a="http://schemas.openxmlformats.org/drawingml/2006/main">
            <a:off x="731520" y="2180000"/>
            <a:ext cx="5150000" cy="327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0" i="0">
                <a:solidFill>
                  <a:srgbClr val="505050"/>
                </a:solidFill>
                <a:latin typeface="Times New Roman"/>
                <a:ea typeface="Times New Roman"/>
                <a:cs typeface="Times New Roman"/>
              </a:rPr>
              <a:t>✓  Tư vấn tự động theo tài liệu công ty, hiểu câu hỏi nối tiếp, từ chối khi thiếu căn cứ.</a:t>
            </a:r>
          </a:p>
          <a:p xmlns:a="http://schemas.openxmlformats.org/drawingml/2006/main">
            <a:pPr algn="l">
              <a:spcBef>
                <a:spcPts val="1100"/>
              </a:spcBef>
              <a:buNone/>
            </a:pPr>
            <a:r>
              <a:rPr sz="1150" b="0" i="0">
                <a:solidFill>
                  <a:srgbClr val="505050"/>
                </a:solidFill>
                <a:latin typeface="Times New Roman"/>
                <a:ea typeface="Times New Roman"/>
                <a:cs typeface="Times New Roman"/>
              </a:rPr>
              <a:t>✓  Đặt lịch tư vấn: thu thông tin theo bước, xác nhận lại, lưu lịch và thông báo.</a:t>
            </a:r>
          </a:p>
          <a:p xmlns:a="http://schemas.openxmlformats.org/drawingml/2006/main">
            <a:pPr algn="l">
              <a:spcBef>
                <a:spcPts val="1100"/>
              </a:spcBef>
              <a:buNone/>
            </a:pPr>
            <a:r>
              <a:rPr sz="1150" b="0" i="0">
                <a:solidFill>
                  <a:srgbClr val="505050"/>
                </a:solidFill>
                <a:latin typeface="Times New Roman"/>
                <a:ea typeface="Times New Roman"/>
                <a:cs typeface="Times New Roman"/>
              </a:rPr>
              <a:t>✓  Quản lý lịch hẹn: lọc, phân công, đổi lịch có lịch sử, ghi kết quả gọi, chặn trùng.</a:t>
            </a:r>
          </a:p>
          <a:p xmlns:a="http://schemas.openxmlformats.org/drawingml/2006/main">
            <a:pPr algn="l">
              <a:spcBef>
                <a:spcPts val="1100"/>
              </a:spcBef>
              <a:buNone/>
            </a:pPr>
            <a:r>
              <a:rPr sz="1150" b="0" i="0">
                <a:solidFill>
                  <a:srgbClr val="505050"/>
                </a:solidFill>
                <a:latin typeface="Times New Roman"/>
                <a:ea typeface="Times New Roman"/>
                <a:cs typeface="Times New Roman"/>
              </a:rPr>
              <a:t>✓  Quản lý khách hàng và hành trình khách, chống trùng theo số điện thoại.</a:t>
            </a:r>
          </a:p>
          <a:p xmlns:a="http://schemas.openxmlformats.org/drawingml/2006/main">
            <a:pPr algn="l">
              <a:spcBef>
                <a:spcPts val="1100"/>
              </a:spcBef>
              <a:buNone/>
            </a:pPr>
            <a:r>
              <a:rPr sz="1150" b="0" i="0">
                <a:solidFill>
                  <a:srgbClr val="505050"/>
                </a:solidFill>
                <a:latin typeface="Times New Roman"/>
                <a:ea typeface="Times New Roman"/>
                <a:cs typeface="Times New Roman"/>
              </a:rPr>
              <a:t>✓  Đăng nhập, ba vai trò, phân quyền và nhật ký thao tác.</a:t>
            </a:r>
          </a:p>
          <a:p xmlns:a="http://schemas.openxmlformats.org/drawingml/2006/main">
            <a:pPr algn="l">
              <a:spcBef>
                <a:spcPts val="1100"/>
              </a:spcBef>
              <a:buNone/>
            </a:pPr>
            <a:r>
              <a:rPr sz="1150" b="0" i="0">
                <a:solidFill>
                  <a:srgbClr val="505050"/>
                </a:solidFill>
                <a:latin typeface="Times New Roman"/>
                <a:ea typeface="Times New Roman"/>
                <a:cs typeface="Times New Roman"/>
              </a:rPr>
              <a:t>✓  Các màn hình quản trị: tổng quan, khách, lịch hẹn, hội thoại, tri thức, người dùng.</a:t>
            </a:r>
          </a:p>
          <a:p xmlns:a="http://schemas.openxmlformats.org/drawingml/2006/main">
            <a:pPr algn="l">
              <a:spcBef>
                <a:spcPts val="1100"/>
              </a:spcBef>
              <a:buNone/>
            </a:pPr>
            <a:r>
              <a:rPr sz="1150" b="0" i="0">
                <a:solidFill>
                  <a:srgbClr val="505050"/>
                </a:solidFill>
                <a:latin typeface="Times New Roman"/>
                <a:ea typeface="Times New Roman"/>
                <a:cs typeface="Times New Roman"/>
              </a:rPr>
              <a:t>✓  Quy trình đưa tài liệu doanh nghiệp vào kho tra cứu.</a:t>
            </a:r>
          </a:p>
        </p:txBody>
      </p:sp>
      <p:sp>
        <p:nvSpPr>
          <p:cNvPr id="7" name="Rounded Rectangle 6">
            <a:extLst xmlns:a="http://schemas.openxmlformats.org/drawingml/2006/main">
              <a:ext uri="{FF2B5EF4-FFF2-40B4-BE49-F238E27FC236}">
                <a16:creationId xmlns:a16="http://schemas.microsoft.com/office/drawing/2014/main" id="{A6BC63AC-0179-4DD6-AC53-B55E21153A91}"/>
              </a:ext>
            </a:extLst>
          </p:cNvPr>
          <p:cNvSpPr>
            <a:spLocks xmlns:a="http://schemas.openxmlformats.org/drawingml/2006/main" noGrp="1"/>
          </p:cNvSpPr>
          <p:nvPr/>
        </p:nvSpPr>
        <p:spPr>
          <a:xfrm xmlns:a="http://schemas.openxmlformats.org/drawingml/2006/main">
            <a:off x="6280000" y="1600000"/>
            <a:ext cx="5150000" cy="420000"/>
          </a:xfrm>
          <a:prstGeom xmlns:a="http://schemas.openxmlformats.org/drawingml/2006/main" prst="roundRect">
            <a:avLst/>
          </a:prstGeom>
          <a:solidFill xmlns:a="http://schemas.openxmlformats.org/drawingml/2006/main">
            <a:srgbClr val="B32D2D"/>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anchor="ctr"/>
          <a:lstStyle xmlns:a="http://schemas.openxmlformats.org/drawingml/2006/main"/>
          <a:p xmlns:a="http://schemas.openxmlformats.org/drawingml/2006/main">
            <a:pPr algn="ctr">
              <a:buNone/>
            </a:pPr>
            <a:r>
              <a:rPr sz="1300" b="1">
                <a:solidFill>
                  <a:srgbClr val="FFFFFF"/>
                </a:solidFill>
                <a:latin typeface="Times New Roman"/>
                <a:ea typeface="Times New Roman"/>
                <a:cs typeface="Times New Roman"/>
              </a:rPr>
              <a:t>CÒN THIẾU — TRỌNG TÂM CÔNG VIỆC TIẾP THEO</a:t>
            </a:r>
          </a:p>
        </p:txBody>
      </p:sp>
      <p:sp>
        <p:nvSpPr>
          <p:cNvPr id="8" name="Rounded Rectangle 7">
            <a:extLst xmlns:a="http://schemas.openxmlformats.org/drawingml/2006/main">
              <a:ext uri="{FF2B5EF4-FFF2-40B4-BE49-F238E27FC236}">
                <a16:creationId xmlns:a16="http://schemas.microsoft.com/office/drawing/2014/main" id="{B7149990-1A8F-43BD-BAB2-0FF9D1D82F15}"/>
              </a:ext>
            </a:extLst>
          </p:cNvPr>
          <p:cNvSpPr>
            <a:spLocks xmlns:a="http://schemas.openxmlformats.org/drawingml/2006/main" noGrp="1"/>
          </p:cNvSpPr>
          <p:nvPr/>
        </p:nvSpPr>
        <p:spPr>
          <a:xfrm xmlns:a="http://schemas.openxmlformats.org/drawingml/2006/main">
            <a:off x="6280000" y="2100000"/>
            <a:ext cx="5150000" cy="3350000"/>
          </a:xfrm>
          <a:prstGeom xmlns:a="http://schemas.openxmlformats.org/drawingml/2006/main" prst="roundRect">
            <a:avLst/>
          </a:prstGeom>
          <a:solidFill xmlns:a="http://schemas.openxmlformats.org/drawingml/2006/main">
            <a:srgbClr val="FDECEC"/>
          </a:solidFill>
          <a:ln xmlns:a="http://schemas.openxmlformats.org/drawingml/2006/main" w="12700">
            <a:solidFill>
              <a:srgbClr val="B32D2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DAAE74C-10DF-48FB-B334-452153C92789}"/>
              </a:ext>
            </a:extLst>
          </p:cNvPr>
          <p:cNvSpPr>
            <a:spLocks xmlns:a="http://schemas.openxmlformats.org/drawingml/2006/main" noGrp="1"/>
          </p:cNvSpPr>
          <p:nvPr/>
        </p:nvSpPr>
        <p:spPr>
          <a:xfrm xmlns:a="http://schemas.openxmlformats.org/drawingml/2006/main">
            <a:off x="6280000" y="2180000"/>
            <a:ext cx="5150000" cy="327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0" i="0">
                <a:solidFill>
                  <a:srgbClr val="505050"/>
                </a:solidFill>
                <a:latin typeface="Times New Roman"/>
                <a:ea typeface="Times New Roman"/>
                <a:cs typeface="Times New Roman"/>
              </a:rPr>
              <a:t>✕  Danh mục và trạng thái đơn tuyển dụng.</a:t>
            </a:r>
          </a:p>
          <a:p xmlns:a="http://schemas.openxmlformats.org/drawingml/2006/main">
            <a:pPr algn="l">
              <a:spcBef>
                <a:spcPts val="1100"/>
              </a:spcBef>
              <a:buNone/>
            </a:pPr>
            <a:r>
              <a:rPr sz="1150" b="0" i="0">
                <a:solidFill>
                  <a:srgbClr val="505050"/>
                </a:solidFill>
                <a:latin typeface="Times New Roman"/>
                <a:ea typeface="Times New Roman"/>
                <a:cs typeface="Times New Roman"/>
              </a:rPr>
              <a:t>✕  Nhận CV PDF/DOCX và hồ sơ ứng viên có nguồn.</a:t>
            </a:r>
          </a:p>
          <a:p xmlns:a="http://schemas.openxmlformats.org/drawingml/2006/main">
            <a:pPr algn="l">
              <a:spcBef>
                <a:spcPts val="1100"/>
              </a:spcBef>
              <a:buNone/>
            </a:pPr>
            <a:r>
              <a:rPr sz="1150" b="0" i="0">
                <a:solidFill>
                  <a:srgbClr val="505050"/>
                </a:solidFill>
                <a:latin typeface="Times New Roman"/>
                <a:ea typeface="Times New Roman"/>
                <a:cs typeface="Times New Roman"/>
              </a:rPr>
              <a:t>✕  Đối chiếu đơn phù hợp kèm lý do.</a:t>
            </a:r>
          </a:p>
          <a:p xmlns:a="http://schemas.openxmlformats.org/drawingml/2006/main">
            <a:pPr algn="l">
              <a:spcBef>
                <a:spcPts val="1100"/>
              </a:spcBef>
              <a:buNone/>
            </a:pPr>
            <a:r>
              <a:rPr sz="1150" b="0" i="0">
                <a:solidFill>
                  <a:srgbClr val="505050"/>
                </a:solidFill>
                <a:latin typeface="Times New Roman"/>
                <a:ea typeface="Times New Roman"/>
                <a:cs typeface="Times New Roman"/>
              </a:rPr>
              <a:t>✕  Xác nhận đơn khách chọn và đăng ký sơ bộ.</a:t>
            </a:r>
          </a:p>
          <a:p xmlns:a="http://schemas.openxmlformats.org/drawingml/2006/main">
            <a:pPr algn="l">
              <a:spcBef>
                <a:spcPts val="1100"/>
              </a:spcBef>
              <a:buNone/>
            </a:pPr>
            <a:r>
              <a:rPr sz="1150" b="0" i="0">
                <a:solidFill>
                  <a:srgbClr val="505050"/>
                </a:solidFill>
                <a:latin typeface="Times New Roman"/>
                <a:ea typeface="Times New Roman"/>
                <a:cs typeface="Times New Roman"/>
              </a:rPr>
              <a:t>✕  Phiếu tóm tắt, hàng đợi nhân viên và phân công sở hữu.</a:t>
            </a:r>
          </a:p>
          <a:p xmlns:a="http://schemas.openxmlformats.org/drawingml/2006/main">
            <a:pPr algn="l">
              <a:spcBef>
                <a:spcPts val="1100"/>
              </a:spcBef>
              <a:buNone/>
            </a:pPr>
            <a:r>
              <a:rPr sz="1150" b="0" i="0">
                <a:solidFill>
                  <a:srgbClr val="505050"/>
                </a:solidFill>
                <a:latin typeface="Times New Roman"/>
                <a:ea typeface="Times New Roman"/>
                <a:cs typeface="Times New Roman"/>
              </a:rPr>
              <a:t>✕  Vòng đời trạng thái hồ sơ và điểm nhân viên.</a:t>
            </a:r>
          </a:p>
          <a:p xmlns:a="http://schemas.openxmlformats.org/drawingml/2006/main">
            <a:pPr algn="l">
              <a:spcBef>
                <a:spcPts val="1100"/>
              </a:spcBef>
              <a:buNone/>
            </a:pPr>
            <a:r>
              <a:rPr sz="1150" b="0" i="0">
                <a:solidFill>
                  <a:srgbClr val="505050"/>
                </a:solidFill>
                <a:latin typeface="Times New Roman"/>
                <a:ea typeface="Times New Roman"/>
                <a:cs typeface="Times New Roman"/>
              </a:rPr>
              <a:t>✕  Thiết kế UI/UX cho kênh khách hàng, kiểm thử tổng thể và triển khai thực tế.</a:t>
            </a:r>
          </a:p>
        </p:txBody>
      </p:sp>
      <p:sp>
        <p:nvSpPr>
          <p:cNvPr id="10" name="Rounded Rectangle 9">
            <a:extLst xmlns:a="http://schemas.openxmlformats.org/drawingml/2006/main">
              <a:ext uri="{FF2B5EF4-FFF2-40B4-BE49-F238E27FC236}">
                <a16:creationId xmlns:a16="http://schemas.microsoft.com/office/drawing/2014/main" id="{68FF915A-BB20-46E3-89CE-96C41D7FFC85}"/>
              </a:ext>
            </a:extLst>
          </p:cNvPr>
          <p:cNvSpPr>
            <a:spLocks xmlns:a="http://schemas.openxmlformats.org/drawingml/2006/main" noGrp="1"/>
          </p:cNvSpPr>
          <p:nvPr/>
        </p:nvSpPr>
        <p:spPr>
          <a:xfrm xmlns:a="http://schemas.openxmlformats.org/drawingml/2006/main">
            <a:off x="731520" y="5570000"/>
            <a:ext cx="10698480" cy="980000"/>
          </a:xfrm>
          <a:prstGeom xmlns:a="http://schemas.openxmlformats.org/drawingml/2006/main" prst="roundRect">
            <a:avLst/>
          </a:prstGeom>
          <a:solidFill xmlns:a="http://schemas.openxmlformats.org/drawingml/2006/main">
            <a:srgbClr val="FDF3E3"/>
          </a:solidFill>
          <a:ln xmlns:a="http://schemas.openxmlformats.org/drawingml/2006/main" w="12700">
            <a:solidFill>
              <a:srgbClr val="C06A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87E7501A-C633-4FD0-90D1-15438CB97881}"/>
              </a:ext>
            </a:extLst>
          </p:cNvPr>
          <p:cNvSpPr>
            <a:spLocks xmlns:a="http://schemas.openxmlformats.org/drawingml/2006/main" noGrp="1"/>
          </p:cNvSpPr>
          <p:nvPr/>
        </p:nvSpPr>
        <p:spPr>
          <a:xfrm xmlns:a="http://schemas.openxmlformats.org/drawingml/2006/main">
            <a:off x="731520" y="5650000"/>
            <a:ext cx="10698480" cy="900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pPr>
            <a:r>
              <a:rPr sz="1200" b="1" i="0">
                <a:solidFill>
                  <a:srgbClr val="C06A00"/>
                </a:solidFill>
                <a:latin typeface="Times New Roman"/>
                <a:ea typeface="Times New Roman"/>
                <a:cs typeface="Times New Roman"/>
              </a:rPr>
              <a:t>Chuỗi giá trị còn lại, thực hiện theo đúng thứ tự</a:t>
            </a:r>
          </a:p>
          <a:p xmlns:a="http://schemas.openxmlformats.org/drawingml/2006/main">
            <a:pPr algn="ctr">
              <a:spcBef>
                <a:spcPts val="500"/>
              </a:spcBef>
              <a:buNone/>
            </a:pPr>
            <a:r>
              <a:rPr sz="1200" b="1" i="0">
                <a:solidFill>
                  <a:srgbClr val="505050"/>
                </a:solidFill>
                <a:latin typeface="Times New Roman"/>
                <a:ea typeface="Times New Roman"/>
                <a:cs typeface="Times New Roman"/>
              </a:rPr>
              <a:t>Đơn tuyển dụng → CV và hồ sơ → xác nhận đơn khách chọn → đối chiếu → đăng ký sơ bộ → phiếu tóm tắt và hàng đợi → trạng thái và điểm → kiểm thử tổng thể</a:t>
            </a:r>
          </a:p>
          <a:p xmlns:a="http://schemas.openxmlformats.org/drawingml/2006/main">
            <a:pPr algn="ctr">
              <a:spcBef>
                <a:spcPts val="500"/>
              </a:spcBef>
              <a:buNone/>
            </a:pPr>
            <a:r>
              <a:rPr sz="1100" b="0" i="1">
                <a:solidFill>
                  <a:srgbClr val="505050"/>
                </a:solidFill>
                <a:latin typeface="Times New Roman"/>
                <a:ea typeface="Times New Roman"/>
                <a:cs typeface="Times New Roman"/>
              </a:rPr>
              <a:t>Toàn bộ nội dung trên hiện thuộc thiết kế sắp triển khai.</a:t>
            </a:r>
          </a:p>
        </p:txBody>
      </p:sp>
    </p:spTree>
    <p:extLst>
      <p:ext uri="{BB962C8B-B14F-4D97-AF65-F5344CB8AC3E}">
        <p14:creationId xmlns:p14="http://schemas.microsoft.com/office/powerpoint/2010/main" val="2087735498"/>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90C34F9-B703-4E15-BC3D-5CF44113DDAD}"/>
              </a:ext>
            </a:extLst>
          </p:cNvPr>
          <p:cNvSpPr>
            <a:spLocks xmlns:a="http://schemas.openxmlformats.org/drawingml/2006/main" noGrp="1"/>
          </p:cNvSpPr>
          <p:nvPr/>
        </p:nvSpPr>
        <p:spPr>
          <a:xfrm xmlns:a="http://schemas.openxmlformats.org/drawingml/2006/main">
            <a:off x="731520" y="365760"/>
            <a:ext cx="10698480" cy="7315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0F4C81"/>
                </a:solidFill>
                <a:latin typeface="Times New Roman"/>
                <a:ea typeface="Times New Roman"/>
                <a:cs typeface="Times New Roman"/>
              </a:defRPr>
            </a:pPr>
            <a:r>
              <a:rPr>
                <a:latin typeface="Times New Roman"/>
                <a:ea typeface="Times New Roman"/>
                <a:cs typeface="Times New Roman"/>
              </a:rPr>
              <a:t>Kế hoạch công việc tiếp theo (Bám sát tiến độ đề cương)</a:t>
            </a:r>
          </a:p>
        </p:txBody>
      </p:sp>
      <p:graphicFrame>
        <p:nvGraphicFramePr>
          <p:cNvPr id="5" name="Table 2"/>
          <p:cNvGraphicFramePr/>
          <p:nvPr/>
        </p:nvGraphicFramePr>
        <p:xfrm>
          <a:off xmlns:a="http://schemas.openxmlformats.org/drawingml/2006/main" x="731520" y="1463040"/>
          <a:ext xmlns:a="http://schemas.openxmlformats.org/drawingml/2006/main" cx="10698480" cy="4114800"/>
        </p:xfrm>
        <a:graphic xmlns:a="http://schemas.openxmlformats.org/drawingml/2006/main">
          <a:graphicData uri="http://schemas.openxmlformats.org/drawingml/2006/table">
            <a:tbl>
              <a:tblPr firstRow="1" bandRow="1">
                <a:tableStyleId>{5C22544A-7EE6-4342-B048-85BDC9FD1C3A}</a:tableStyleId>
              </a:tblPr>
              <a:tblGrid>
                <a:gridCol w="2011680"/>
                <a:gridCol w="1645920"/>
                <a:gridCol w="4297680"/>
                <a:gridCol w="2743200"/>
              </a:tblGrid>
              <a:tr h="822960">
                <a:tc>
                  <a:txBody>
                    <a:bodyPr/>
                    <a:lstStyle/>
                    <a:p>
                      <a:pPr>
                        <a:buNone/>
                      </a:pPr>
                      <a:r>
                        <a:rPr sz="1200" b="1">
                          <a:solidFill>
                            <a:srgbClr val="FFFFFF"/>
                          </a:solidFill>
                          <a:latin typeface="Times New Roman"/>
                          <a:ea typeface="Times New Roman"/>
                          <a:cs typeface="Times New Roman"/>
                        </a:rPr>
                        <a:t>Giai đoạn</a:t>
                      </a:r>
                    </a:p>
                  </a:txBody>
                  <a:tcPr marL="91440" marR="91440" marT="45720" marB="45720">
                    <a:solidFill>
                      <a:srgbClr val="0F4C81"/>
                    </a:solidFill>
                  </a:tcPr>
                </a:tc>
                <a:tc>
                  <a:txBody>
                    <a:bodyPr/>
                    <a:lstStyle/>
                    <a:p>
                      <a:pPr>
                        <a:buNone/>
                      </a:pPr>
                      <a:r>
                        <a:rPr sz="1200" b="1">
                          <a:solidFill>
                            <a:srgbClr val="FFFFFF"/>
                          </a:solidFill>
                          <a:latin typeface="Times New Roman"/>
                          <a:ea typeface="Times New Roman"/>
                          <a:cs typeface="Times New Roman"/>
                        </a:rPr>
                        <a:t>Thời gian</a:t>
                      </a:r>
                    </a:p>
                  </a:txBody>
                  <a:tcPr marL="91440" marR="91440" marT="45720" marB="45720">
                    <a:solidFill>
                      <a:srgbClr val="0F4C81"/>
                    </a:solidFill>
                  </a:tcPr>
                </a:tc>
                <a:tc>
                  <a:txBody>
                    <a:bodyPr/>
                    <a:lstStyle/>
                    <a:p>
                      <a:pPr>
                        <a:buNone/>
                      </a:pPr>
                      <a:r>
                        <a:rPr sz="1200" b="1">
                          <a:solidFill>
                            <a:srgbClr val="FFFFFF"/>
                          </a:solidFill>
                          <a:latin typeface="Times New Roman"/>
                          <a:ea typeface="Times New Roman"/>
                          <a:cs typeface="Times New Roman"/>
                        </a:rPr>
                        <a:t>Nội dung công việc thực hiện</a:t>
                      </a:r>
                    </a:p>
                  </a:txBody>
                  <a:tcPr marL="91440" marR="91440" marT="45720" marB="45720">
                    <a:solidFill>
                      <a:srgbClr val="0F4C81"/>
                    </a:solidFill>
                  </a:tcPr>
                </a:tc>
                <a:tc>
                  <a:txBody>
                    <a:bodyPr/>
                    <a:lstStyle/>
                    <a:p>
                      <a:pPr>
                        <a:buNone/>
                      </a:pPr>
                      <a:r>
                        <a:rPr sz="1200" b="1">
                          <a:solidFill>
                            <a:srgbClr val="FFFFFF"/>
                          </a:solidFill>
                          <a:latin typeface="Times New Roman"/>
                          <a:ea typeface="Times New Roman"/>
                          <a:cs typeface="Times New Roman"/>
                        </a:rPr>
                        <a:t>Kết quả dự kiến đạt được</a:t>
                      </a:r>
                    </a:p>
                  </a:txBody>
                  <a:tcPr marL="91440" marR="91440" marT="45720" marB="45720">
                    <a:solidFill>
                      <a:srgbClr val="0F4C81"/>
                    </a:solidFill>
                  </a:tcPr>
                </a:tc>
              </a:tr>
              <a:tr h="822960">
                <a:tc>
                  <a:txBody>
                    <a:bodyPr/>
                    <a:lstStyle/>
                    <a:p>
                      <a:pPr>
                        <a:buNone/>
                      </a:pPr>
                      <a:r>
                        <a:rPr sz="1200" b="1">
                          <a:latin typeface="Times New Roman"/>
                          <a:ea typeface="Times New Roman"/>
                          <a:cs typeface="Times New Roman"/>
                        </a:rPr>
                        <a:t>Trọng tâm 2 tuần tới</a:t>
                      </a:r>
                    </a:p>
                  </a:txBody>
                  <a:tcPr marL="91440" marR="91440" marT="45720" marB="45720">
                    <a:solidFill>
                      <a:srgbClr val="EBF3FA"/>
                    </a:solidFill>
                  </a:tcPr>
                </a:tc>
                <a:tc>
                  <a:txBody>
                    <a:bodyPr/>
                    <a:lstStyle/>
                    <a:p>
                      <a:pPr>
                        <a:buNone/>
                      </a:pPr>
                      <a:r>
                        <a:rPr sz="1200" b="1">
                          <a:latin typeface="Times New Roman"/>
                          <a:ea typeface="Times New Roman"/>
                          <a:cs typeface="Times New Roman"/>
                        </a:rPr>
                        <a:t>01/09 - 12/09/2026</a:t>
                      </a:r>
                    </a:p>
                  </a:txBody>
                  <a:tcPr marL="91440" marR="91440" marT="45720" marB="45720">
                    <a:solidFill>
                      <a:srgbClr val="EBF3FA"/>
                    </a:solidFill>
                  </a:tcPr>
                </a:tc>
                <a:tc>
                  <a:txBody>
                    <a:bodyPr/>
                    <a:lstStyle/>
                    <a:p>
                      <a:pPr>
                        <a:buNone/>
                      </a:pPr>
                      <a:r>
                        <a:rPr sz="1200" b="1">
                          <a:latin typeface="Times New Roman"/>
                          <a:ea typeface="Times New Roman"/>
                          <a:cs typeface="Times New Roman"/>
                        </a:rPr>
                        <a:t>Dựng danh mục đơn tuyển dụng, trạng thái đơn và màn hình quản lý; chuẩn bị dữ liệu mẫu.</a:t>
                      </a:r>
                    </a:p>
                  </a:txBody>
                  <a:tcPr marL="91440" marR="91440" marT="45720" marB="45720">
                    <a:solidFill>
                      <a:srgbClr val="EBF3FA"/>
                    </a:solidFill>
                  </a:tcPr>
                </a:tc>
                <a:tc>
                  <a:txBody>
                    <a:bodyPr/>
                    <a:lstStyle/>
                    <a:p>
                      <a:pPr>
                        <a:buNone/>
                      </a:pPr>
                      <a:r>
                        <a:rPr sz="1200" b="1">
                          <a:latin typeface="Times New Roman"/>
                          <a:ea typeface="Times New Roman"/>
                          <a:cs typeface="Times New Roman"/>
                        </a:rPr>
                        <a:t>Có nguồn đơn chuẩn để công khai và đối chiếu.</a:t>
                      </a:r>
                    </a:p>
                  </a:txBody>
                  <a:tcPr marL="91440" marR="91440" marT="45720" marB="45720">
                    <a:solidFill>
                      <a:srgbClr val="EBF3FA"/>
                    </a:solidFill>
                  </a:tcPr>
                </a:tc>
              </a:tr>
              <a:tr h="822960">
                <a:tc>
                  <a:txBody>
                    <a:bodyPr/>
                    <a:lstStyle/>
                    <a:p>
                      <a:pPr>
                        <a:buNone/>
                      </a:pPr>
                      <a:r>
                        <a:rPr sz="1200">
                          <a:latin typeface="Times New Roman"/>
                          <a:ea typeface="Times New Roman"/>
                          <a:cs typeface="Times New Roman"/>
                        </a:rPr>
                        <a:t>Giai đoạn tiếp theo</a:t>
                      </a:r>
                    </a:p>
                  </a:txBody>
                  <a:tcPr marL="91440" marR="91440" marT="45720" marB="45720"/>
                </a:tc>
                <a:tc>
                  <a:txBody>
                    <a:bodyPr/>
                    <a:lstStyle/>
                    <a:p>
                      <a:pPr>
                        <a:buNone/>
                      </a:pPr>
                      <a:r>
                        <a:rPr sz="1200">
                          <a:latin typeface="Times New Roman"/>
                          <a:ea typeface="Times New Roman"/>
                          <a:cs typeface="Times New Roman"/>
                        </a:rPr>
                        <a:t>13/09 - 22/09/2026</a:t>
                      </a:r>
                    </a:p>
                  </a:txBody>
                  <a:tcPr marL="91440" marR="91440" marT="45720" marB="45720"/>
                </a:tc>
                <a:tc>
                  <a:txBody>
                    <a:bodyPr/>
                    <a:lstStyle/>
                    <a:p>
                      <a:pPr>
                        <a:buNone/>
                      </a:pPr>
                      <a:r>
                        <a:rPr sz="1200">
                          <a:latin typeface="Times New Roman"/>
                          <a:ea typeface="Times New Roman"/>
                          <a:cs typeface="Times New Roman"/>
                        </a:rPr>
                        <a:t>Nhận CV PDF/DOCX; lập hồ sơ có cấu trúc, lưu nguồn và cho ứng viên xác nhận.</a:t>
                      </a:r>
                    </a:p>
                  </a:txBody>
                  <a:tcPr marL="91440" marR="91440" marT="45720" marB="45720"/>
                </a:tc>
                <a:tc>
                  <a:txBody>
                    <a:bodyPr/>
                    <a:lstStyle/>
                    <a:p>
                      <a:pPr>
                        <a:buNone/>
                      </a:pPr>
                      <a:r>
                        <a:rPr sz="1200">
                          <a:latin typeface="Times New Roman"/>
                          <a:ea typeface="Times New Roman"/>
                          <a:cs typeface="Times New Roman"/>
                        </a:rPr>
                        <a:t>CV tạo được hồ sơ có thể kiểm tra lại với bản gốc.</a:t>
                      </a:r>
                    </a:p>
                  </a:txBody>
                  <a:tcPr marL="91440" marR="91440" marT="45720" marB="45720"/>
                </a:tc>
              </a:tr>
              <a:tr h="822960">
                <a:tc>
                  <a:txBody>
                    <a:bodyPr/>
                    <a:lstStyle/>
                    <a:p>
                      <a:pPr>
                        <a:buNone/>
                      </a:pPr>
                      <a:r>
                        <a:rPr sz="1200">
                          <a:latin typeface="Times New Roman"/>
                          <a:ea typeface="Times New Roman"/>
                          <a:cs typeface="Times New Roman"/>
                        </a:rPr>
                        <a:t>Hoàn thiện nghiệp vụ</a:t>
                      </a:r>
                    </a:p>
                  </a:txBody>
                  <a:tcPr marL="91440" marR="91440" marT="45720" marB="45720"/>
                </a:tc>
                <a:tc>
                  <a:txBody>
                    <a:bodyPr/>
                    <a:lstStyle/>
                    <a:p>
                      <a:pPr>
                        <a:buNone/>
                      </a:pPr>
                      <a:r>
                        <a:rPr sz="1200">
                          <a:latin typeface="Times New Roman"/>
                          <a:ea typeface="Times New Roman"/>
                          <a:cs typeface="Times New Roman"/>
                        </a:rPr>
                        <a:t>23/09 - 12/10/2026</a:t>
                      </a:r>
                    </a:p>
                  </a:txBody>
                  <a:tcPr marL="91440" marR="91440" marT="45720" marB="45720"/>
                </a:tc>
                <a:tc>
                  <a:txBody>
                    <a:bodyPr/>
                    <a:lstStyle/>
                    <a:p>
                      <a:pPr>
                        <a:buNone/>
                      </a:pPr>
                      <a:r>
                        <a:rPr sz="1200">
                          <a:latin typeface="Times New Roman"/>
                          <a:ea typeface="Times New Roman"/>
                          <a:cs typeface="Times New Roman"/>
                        </a:rPr>
                        <a:t>Đối chiếu đơn, hỏi xác nhận đơn khách chọn, tạo đăng ký sơ bộ, phiếu tóm tắt, hàng đợi và trạng thái xử lý.</a:t>
                      </a:r>
                    </a:p>
                  </a:txBody>
                  <a:tcPr marL="91440" marR="91440" marT="45720" marB="45720"/>
                </a:tc>
                <a:tc>
                  <a:txBody>
                    <a:bodyPr/>
                    <a:lstStyle/>
                    <a:p>
                      <a:pPr>
                        <a:buNone/>
                      </a:pPr>
                      <a:r>
                        <a:rPr sz="1200">
                          <a:latin typeface="Times New Roman"/>
                          <a:ea typeface="Times New Roman"/>
                          <a:cs typeface="Times New Roman"/>
                        </a:rPr>
                        <a:t>Nhân viên nhận đủ bối cảnh và tiếp tục xử lý trên hệ thống nội bộ.</a:t>
                      </a:r>
                    </a:p>
                  </a:txBody>
                  <a:tcPr marL="91440" marR="91440" marT="45720" marB="45720"/>
                </a:tc>
              </a:tr>
              <a:tr h="822960">
                <a:tc>
                  <a:txBody>
                    <a:bodyPr/>
                    <a:lstStyle/>
                    <a:p>
                      <a:pPr>
                        <a:buNone/>
                      </a:pPr>
                      <a:r>
                        <a:rPr sz="1200">
                          <a:latin typeface="Times New Roman"/>
                          <a:ea typeface="Times New Roman"/>
                          <a:cs typeface="Times New Roman"/>
                        </a:rPr>
                        <a:t>Kiểm thử và báo cáo</a:t>
                      </a:r>
                    </a:p>
                  </a:txBody>
                  <a:tcPr marL="91440" marR="91440" marT="45720" marB="45720"/>
                </a:tc>
                <a:tc>
                  <a:txBody>
                    <a:bodyPr/>
                    <a:lstStyle/>
                    <a:p>
                      <a:pPr>
                        <a:buNone/>
                      </a:pPr>
                      <a:r>
                        <a:rPr sz="1200">
                          <a:latin typeface="Times New Roman"/>
                          <a:ea typeface="Times New Roman"/>
                          <a:cs typeface="Times New Roman"/>
                        </a:rPr>
                        <a:t>13/10 - 25/10/2026</a:t>
                      </a:r>
                    </a:p>
                  </a:txBody>
                  <a:tcPr marL="91440" marR="91440" marT="45720" marB="45720"/>
                </a:tc>
                <a:tc>
                  <a:txBody>
                    <a:bodyPr/>
                    <a:lstStyle/>
                    <a:p>
                      <a:pPr>
                        <a:buNone/>
                      </a:pPr>
                      <a:r>
                        <a:rPr sz="1200">
                          <a:latin typeface="Times New Roman"/>
                          <a:ea typeface="Times New Roman"/>
                          <a:cs typeface="Times New Roman"/>
                        </a:rPr>
                        <a:t>Bổ sung quản lý nhân viên và điểm; thiết kế UI/UX cho kênh khách hàng; sau đó kiểm thử toàn tuyến và triển khai thực tế.</a:t>
                      </a:r>
                    </a:p>
                  </a:txBody>
                  <a:tcPr marL="91440" marR="91440" marT="45720" marB="45720"/>
                </a:tc>
                <a:tc>
                  <a:txBody>
                    <a:bodyPr/>
                    <a:lstStyle/>
                    <a:p>
                      <a:pPr>
                        <a:buNone/>
                      </a:pPr>
                      <a:r>
                        <a:rPr sz="1200">
                          <a:latin typeface="Times New Roman"/>
                          <a:ea typeface="Times New Roman"/>
                          <a:cs typeface="Times New Roman"/>
                        </a:rPr>
                        <a:t>Hệ thống hoàn chỉnh mới bắt đầu đo kiểm tổng thể.</a:t>
                      </a:r>
                    </a:p>
                  </a:txBody>
                  <a:tcPr marL="91440" marR="91440" marT="45720" marB="45720"/>
                </a:tc>
              </a:tr>
            </a:tbl>
          </a:graphicData>
        </a:graphic>
      </p:graphicFrame>
    </p:spTree>
    <p:extLst>
      <p:ext uri="{BB962C8B-B14F-4D97-AF65-F5344CB8AC3E}">
        <p14:creationId xmlns:p14="http://schemas.microsoft.com/office/powerpoint/2010/main" val="89553147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Times New Roman"/>
        <a:cs typeface="Times New Roman"/>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Times New Roman"/>
        <a:cs typeface="Times New Roman"/>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2026-09-11T08:40:19.4570000Z</dcterms:created>
  <dcterms:modified xsi:type="dcterms:W3CDTF">2026-09-11T08:40:19.4570000Z</dcterms:modified>
</coreProperties>
</file>